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2D44"/>
        </a:solidFill>
      </p:bgPr>
    </p:bg>
    <p:spTree>
      <p:nvGrpSpPr>
        <p:cNvPr id="1" name=""/>
        <p:cNvGrpSpPr/>
        <p:nvPr/>
      </p:nvGrpSpPr>
      <p:grpSpPr>
        <a:xfrm>
          <a:off x="0" y="0"/>
          <a:ext cx="0" cy="0"/>
          <a:chOff x="0" y="0"/>
          <a:chExt cx="0" cy="0"/>
        </a:xfrm>
      </p:grpSpPr>
      <p:sp>
        <p:nvSpPr>
          <p:cNvPr id="2" name="Shape 0"/>
          <p:cNvSpPr/>
          <p:nvPr/>
        </p:nvSpPr>
        <p:spPr>
          <a:xfrm>
            <a:off x="0" y="6245352"/>
            <a:ext cx="12191695" cy="612648"/>
          </a:xfrm>
          <a:prstGeom prst="rect">
            <a:avLst/>
          </a:prstGeom>
          <a:solidFill>
            <a:srgbClr val="E9846D"/>
          </a:solidFill>
          <a:ln w="12700">
            <a:solidFill>
              <a:srgbClr val="E9846D">
                <a:alpha val="0"/>
              </a:srgbClr>
            </a:solidFill>
            <a:prstDash val="solid"/>
          </a:ln>
        </p:spPr>
      </p:sp>
      <p:sp>
        <p:nvSpPr>
          <p:cNvPr id="3" name="Shape 1"/>
          <p:cNvSpPr/>
          <p:nvPr/>
        </p:nvSpPr>
        <p:spPr>
          <a:xfrm>
            <a:off x="9555480" y="502920"/>
            <a:ext cx="868680" cy="868680"/>
          </a:xfrm>
          <a:prstGeom prst="ellipse">
            <a:avLst/>
          </a:prstGeom>
          <a:solidFill>
            <a:srgbClr val="2E7D74"/>
          </a:solidFill>
          <a:ln w="12700">
            <a:solidFill>
              <a:srgbClr val="2E7D74">
                <a:alpha val="0"/>
              </a:srgbClr>
            </a:solidFill>
            <a:prstDash val="solid"/>
          </a:ln>
        </p:spPr>
      </p:sp>
      <p:sp>
        <p:nvSpPr>
          <p:cNvPr id="4" name="Shape 2"/>
          <p:cNvSpPr/>
          <p:nvPr/>
        </p:nvSpPr>
        <p:spPr>
          <a:xfrm>
            <a:off x="10652760" y="1508760"/>
            <a:ext cx="411480" cy="411480"/>
          </a:xfrm>
          <a:prstGeom prst="ellipse">
            <a:avLst/>
          </a:prstGeom>
          <a:solidFill>
            <a:srgbClr val="F1AE72"/>
          </a:solidFill>
          <a:ln w="12700">
            <a:solidFill>
              <a:srgbClr val="F1AE72">
                <a:alpha val="0"/>
              </a:srgbClr>
            </a:solidFill>
            <a:prstDash val="solid"/>
          </a:ln>
        </p:spPr>
      </p:sp>
      <p:sp>
        <p:nvSpPr>
          <p:cNvPr id="5" name="Shape 3"/>
          <p:cNvSpPr/>
          <p:nvPr/>
        </p:nvSpPr>
        <p:spPr>
          <a:xfrm>
            <a:off x="11155680" y="548640"/>
            <a:ext cx="228600" cy="228600"/>
          </a:xfrm>
          <a:prstGeom prst="ellipse">
            <a:avLst/>
          </a:prstGeom>
          <a:solidFill>
            <a:srgbClr val="F8F3E9"/>
          </a:solidFill>
          <a:ln w="12700">
            <a:solidFill>
              <a:srgbClr val="F8F3E9">
                <a:alpha val="0"/>
              </a:srgbClr>
            </a:solidFill>
            <a:prstDash val="solid"/>
          </a:ln>
        </p:spPr>
      </p:sp>
      <p:sp>
        <p:nvSpPr>
          <p:cNvPr id="6" name="Text 4"/>
          <p:cNvSpPr/>
          <p:nvPr/>
        </p:nvSpPr>
        <p:spPr>
          <a:xfrm>
            <a:off x="685800" y="1280160"/>
            <a:ext cx="7040880" cy="640080"/>
          </a:xfrm>
          <a:prstGeom prst="rect">
            <a:avLst/>
          </a:prstGeom>
          <a:noFill/>
          <a:ln/>
        </p:spPr>
        <p:txBody>
          <a:bodyPr wrap="square" lIns="0" tIns="0" rIns="0" bIns="0" rtlCol="0" anchor="ctr">
            <a:normAutofit/>
          </a:bodyPr>
          <a:lstStyle/>
          <a:p>
            <a:pPr algn="l" indent="0" marL="0">
              <a:buNone/>
            </a:pPr>
            <a:r>
              <a:rPr lang="en-US" sz="3700" b="1" dirty="0">
                <a:solidFill>
                  <a:srgbClr val="FFFFFF"/>
                </a:solidFill>
                <a:latin typeface="Noto Sans CJK JP" pitchFamily="34" charset="0"/>
                <a:ea typeface="Noto Sans CJK JP" pitchFamily="34" charset="-122"/>
                <a:cs typeface="Noto Sans CJK JP" pitchFamily="34" charset="-120"/>
              </a:rPr>
              <a:t>ごろにゃんプレミアム</a:t>
            </a:r>
            <a:endParaRPr lang="en-US" sz="3700" dirty="0"/>
          </a:p>
        </p:txBody>
      </p:sp>
      <p:sp>
        <p:nvSpPr>
          <p:cNvPr id="7" name="Text 5"/>
          <p:cNvSpPr/>
          <p:nvPr/>
        </p:nvSpPr>
        <p:spPr>
          <a:xfrm>
            <a:off x="685800" y="1965960"/>
            <a:ext cx="4937760" cy="502920"/>
          </a:xfrm>
          <a:prstGeom prst="rect">
            <a:avLst/>
          </a:prstGeom>
          <a:noFill/>
          <a:ln/>
        </p:spPr>
        <p:txBody>
          <a:bodyPr wrap="square" lIns="0" tIns="0" rIns="0" bIns="0" rtlCol="0" anchor="ctr">
            <a:normAutofit/>
          </a:bodyPr>
          <a:lstStyle/>
          <a:p>
            <a:pPr algn="l" indent="0" marL="0">
              <a:buNone/>
            </a:pPr>
            <a:r>
              <a:rPr lang="en-US" sz="2600" b="1" dirty="0">
                <a:solidFill>
                  <a:srgbClr val="CFEDE7"/>
                </a:solidFill>
                <a:latin typeface="Noto Sans CJK JP" pitchFamily="34" charset="0"/>
                <a:ea typeface="Noto Sans CJK JP" pitchFamily="34" charset="-122"/>
                <a:cs typeface="Noto Sans CJK JP" pitchFamily="34" charset="-120"/>
              </a:rPr>
              <a:t>事業承認提案</a:t>
            </a:r>
            <a:endParaRPr lang="en-US" sz="2600" dirty="0"/>
          </a:p>
        </p:txBody>
      </p:sp>
      <p:sp>
        <p:nvSpPr>
          <p:cNvPr id="8" name="Text 6"/>
          <p:cNvSpPr/>
          <p:nvPr/>
        </p:nvSpPr>
        <p:spPr>
          <a:xfrm>
            <a:off x="713232" y="2880360"/>
            <a:ext cx="6400800" cy="347472"/>
          </a:xfrm>
          <a:prstGeom prst="rect">
            <a:avLst/>
          </a:prstGeom>
          <a:noFill/>
          <a:ln/>
        </p:spPr>
        <p:txBody>
          <a:bodyPr wrap="square" lIns="0" tIns="0" rIns="0" bIns="0" rtlCol="0" anchor="ctr">
            <a:normAutofit/>
          </a:bodyPr>
          <a:lstStyle/>
          <a:p>
            <a:pPr algn="l" indent="0" marL="0">
              <a:buNone/>
            </a:pPr>
            <a:r>
              <a:rPr lang="en-US" sz="1700" dirty="0">
                <a:solidFill>
                  <a:srgbClr val="F8F3E9"/>
                </a:solidFill>
                <a:latin typeface="Noto Sans CJK JP" pitchFamily="34" charset="0"/>
                <a:ea typeface="Noto Sans CJK JP" pitchFamily="34" charset="-122"/>
                <a:cs typeface="Noto Sans CJK JP" pitchFamily="34" charset="-120"/>
              </a:rPr>
              <a:t>体験型プレミアムによるD2C先行発売計画</a:t>
            </a:r>
            <a:endParaRPr lang="en-US" sz="1700" dirty="0"/>
          </a:p>
        </p:txBody>
      </p:sp>
      <p:sp>
        <p:nvSpPr>
          <p:cNvPr id="9" name="Shape 7"/>
          <p:cNvSpPr/>
          <p:nvPr/>
        </p:nvSpPr>
        <p:spPr>
          <a:xfrm>
            <a:off x="713232" y="3474720"/>
            <a:ext cx="4407408" cy="0"/>
          </a:xfrm>
          <a:prstGeom prst="line">
            <a:avLst/>
          </a:prstGeom>
          <a:noFill/>
          <a:ln w="25400">
            <a:solidFill>
              <a:srgbClr val="E9846D"/>
            </a:solidFill>
            <a:prstDash val="solid"/>
            <a:headEnd type="none"/>
            <a:tailEnd type="none"/>
          </a:ln>
        </p:spPr>
      </p:sp>
      <p:sp>
        <p:nvSpPr>
          <p:cNvPr id="10" name="Text 8"/>
          <p:cNvSpPr/>
          <p:nvPr/>
        </p:nvSpPr>
        <p:spPr>
          <a:xfrm>
            <a:off x="713232" y="3822192"/>
            <a:ext cx="5852160" cy="274320"/>
          </a:xfrm>
          <a:prstGeom prst="rect">
            <a:avLst/>
          </a:prstGeom>
          <a:noFill/>
          <a:ln/>
        </p:spPr>
        <p:txBody>
          <a:bodyPr wrap="square" lIns="0" tIns="0" rIns="0" bIns="0" rtlCol="0" anchor="ctr">
            <a:normAutofit/>
          </a:bodyPr>
          <a:lstStyle/>
          <a:p>
            <a:pPr algn="l" indent="0" marL="0">
              <a:buNone/>
            </a:pPr>
            <a:r>
              <a:rPr lang="en-US" sz="1250" dirty="0">
                <a:solidFill>
                  <a:srgbClr val="F8F3E9"/>
                </a:solidFill>
                <a:latin typeface="Noto Sans CJK JP" pitchFamily="34" charset="0"/>
                <a:ea typeface="Noto Sans CJK JP" pitchFamily="34" charset="-122"/>
                <a:cs typeface="Noto Sans CJK JP" pitchFamily="34" charset="-120"/>
              </a:rPr>
              <a:t>本編15分＋質疑10分 / 事業部会議向け</a:t>
            </a:r>
            <a:endParaRPr lang="en-US" sz="1250" dirty="0"/>
          </a:p>
        </p:txBody>
      </p:sp>
      <p:sp>
        <p:nvSpPr>
          <p:cNvPr id="11" name="Text 9"/>
          <p:cNvSpPr/>
          <p:nvPr/>
        </p:nvSpPr>
        <p:spPr>
          <a:xfrm>
            <a:off x="713232" y="5715000"/>
            <a:ext cx="2377440" cy="274320"/>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Noto Sans CJK JP" pitchFamily="34" charset="0"/>
                <a:ea typeface="Noto Sans CJK JP" pitchFamily="34" charset="-122"/>
                <a:cs typeface="Noto Sans CJK JP" pitchFamily="34" charset="-120"/>
              </a:rPr>
              <a:t>2026年5月3日</a:t>
            </a:r>
            <a:endParaRPr lang="en-US" sz="1300" dirty="0"/>
          </a:p>
        </p:txBody>
      </p:sp>
      <p:sp>
        <p:nvSpPr>
          <p:cNvPr id="12" name="Text 10"/>
          <p:cNvSpPr/>
          <p:nvPr/>
        </p:nvSpPr>
        <p:spPr>
          <a:xfrm>
            <a:off x="8321040" y="5687568"/>
            <a:ext cx="3200400" cy="274320"/>
          </a:xfrm>
          <a:prstGeom prst="rect">
            <a:avLst/>
          </a:prstGeom>
          <a:noFill/>
          <a:ln/>
        </p:spPr>
        <p:txBody>
          <a:bodyPr wrap="square" lIns="0" tIns="0" rIns="0" bIns="0" rtlCol="0" anchor="ctr">
            <a:normAutofit/>
          </a:bodyPr>
          <a:lstStyle/>
          <a:p>
            <a:pPr algn="r" indent="0" marL="0">
              <a:buNone/>
            </a:pPr>
            <a:r>
              <a:rPr lang="en-US" sz="1200" dirty="0">
                <a:solidFill>
                  <a:srgbClr val="FFFFFF"/>
                </a:solidFill>
                <a:latin typeface="Noto Sans CJK JP" pitchFamily="34" charset="0"/>
                <a:ea typeface="Noto Sans CJK JP" pitchFamily="34" charset="-122"/>
                <a:cs typeface="Noto Sans CJK JP" pitchFamily="34" charset="-120"/>
              </a:rPr>
              <a:t>Goro-nyan Premium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3E9"/>
        </a:solidFill>
      </p:bgPr>
    </p:bg>
    <p:spTree>
      <p:nvGrpSpPr>
        <p:cNvPr id="1" name=""/>
        <p:cNvGrpSpPr/>
        <p:nvPr/>
      </p:nvGrpSpPr>
      <p:grpSpPr>
        <a:xfrm>
          <a:off x="0" y="0"/>
          <a:ext cx="0" cy="0"/>
          <a:chOff x="0" y="0"/>
          <a:chExt cx="0" cy="0"/>
        </a:xfrm>
      </p:grpSpPr>
      <p:sp>
        <p:nvSpPr>
          <p:cNvPr id="2" name="Text 0"/>
          <p:cNvSpPr/>
          <p:nvPr/>
        </p:nvSpPr>
        <p:spPr>
          <a:xfrm>
            <a:off x="411480" y="310896"/>
            <a:ext cx="548640" cy="274320"/>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02</a:t>
            </a:r>
            <a:endParaRPr lang="en-US" sz="1000" dirty="0"/>
          </a:p>
        </p:txBody>
      </p:sp>
      <p:sp>
        <p:nvSpPr>
          <p:cNvPr id="3" name="Text 1"/>
          <p:cNvSpPr/>
          <p:nvPr/>
        </p:nvSpPr>
        <p:spPr>
          <a:xfrm>
            <a:off x="960120" y="164592"/>
            <a:ext cx="6035040" cy="438912"/>
          </a:xfrm>
          <a:prstGeom prst="rect">
            <a:avLst/>
          </a:prstGeom>
          <a:noFill/>
          <a:ln/>
        </p:spPr>
        <p:txBody>
          <a:bodyPr wrap="square" lIns="0" tIns="0" rIns="0" bIns="0" rtlCol="0" anchor="ctr">
            <a:normAutofit/>
          </a:bodyPr>
          <a:lstStyle/>
          <a:p>
            <a:pPr algn="l" indent="0" marL="0">
              <a:buNone/>
            </a:pPr>
            <a:r>
              <a:rPr lang="en-US" sz="2600" b="1" dirty="0">
                <a:solidFill>
                  <a:srgbClr val="1D2D44"/>
                </a:solidFill>
                <a:latin typeface="Noto Sans CJK JP" pitchFamily="34" charset="0"/>
                <a:ea typeface="Noto Sans CJK JP" pitchFamily="34" charset="-122"/>
                <a:cs typeface="Noto Sans CJK JP" pitchFamily="34" charset="-120"/>
              </a:rPr>
              <a:t>本日の承認論点</a:t>
            </a:r>
            <a:endParaRPr lang="en-US" sz="2600" dirty="0"/>
          </a:p>
        </p:txBody>
      </p:sp>
      <p:sp>
        <p:nvSpPr>
          <p:cNvPr id="4" name="Text 2"/>
          <p:cNvSpPr/>
          <p:nvPr/>
        </p:nvSpPr>
        <p:spPr>
          <a:xfrm>
            <a:off x="960120" y="685800"/>
            <a:ext cx="9738360" cy="512064"/>
          </a:xfrm>
          <a:prstGeom prst="rect">
            <a:avLst/>
          </a:prstGeom>
          <a:noFill/>
          <a:ln/>
        </p:spPr>
        <p:txBody>
          <a:bodyPr wrap="square" lIns="0" tIns="0" rIns="0" bIns="0" rtlCol="0" anchor="ctr">
            <a:normAutofit/>
          </a:bodyPr>
          <a:lstStyle/>
          <a:p>
            <a:pPr algn="l" indent="0" marL="0">
              <a:buNone/>
            </a:pPr>
            <a:r>
              <a:rPr lang="en-US" sz="1700" b="1" dirty="0">
                <a:solidFill>
                  <a:srgbClr val="17202A"/>
                </a:solidFill>
                <a:latin typeface="Noto Sans CJK JP" pitchFamily="34" charset="0"/>
                <a:ea typeface="Noto Sans CJK JP" pitchFamily="34" charset="-122"/>
                <a:cs typeface="Noto Sans CJK JP" pitchFamily="34" charset="-120"/>
              </a:rPr>
              <a:t>本件は「D2C先行」「調達ヘッジ」「CPA/LTV管理」を条件に、初回30万袋の事業化を承認すべきと判断する。</a:t>
            </a:r>
            <a:endParaRPr lang="en-US" sz="1700" dirty="0"/>
          </a:p>
        </p:txBody>
      </p:sp>
      <p:sp>
        <p:nvSpPr>
          <p:cNvPr id="5" name="Shape 3"/>
          <p:cNvSpPr/>
          <p:nvPr/>
        </p:nvSpPr>
        <p:spPr>
          <a:xfrm>
            <a:off x="960120" y="1298448"/>
            <a:ext cx="10789920" cy="0"/>
          </a:xfrm>
          <a:prstGeom prst="line">
            <a:avLst/>
          </a:prstGeom>
          <a:noFill/>
          <a:ln w="12700">
            <a:solidFill>
              <a:srgbClr val="D9DEE5"/>
            </a:solidFill>
            <a:prstDash val="solid"/>
          </a:ln>
        </p:spPr>
      </p:sp>
      <p:sp>
        <p:nvSpPr>
          <p:cNvPr id="6" name="Text 4"/>
          <p:cNvSpPr/>
          <p:nvPr/>
        </p:nvSpPr>
        <p:spPr>
          <a:xfrm>
            <a:off x="685800" y="1600200"/>
            <a:ext cx="201168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承認判断の3条件</a:t>
            </a:r>
            <a:endParaRPr lang="en-US" sz="1000" dirty="0"/>
          </a:p>
        </p:txBody>
      </p:sp>
      <p:sp>
        <p:nvSpPr>
          <p:cNvPr id="7" name="Shape 5"/>
          <p:cNvSpPr/>
          <p:nvPr/>
        </p:nvSpPr>
        <p:spPr>
          <a:xfrm>
            <a:off x="685800" y="1883664"/>
            <a:ext cx="2011680" cy="0"/>
          </a:xfrm>
          <a:prstGeom prst="line">
            <a:avLst/>
          </a:prstGeom>
          <a:noFill/>
          <a:ln w="16510">
            <a:solidFill>
              <a:srgbClr val="E9846D"/>
            </a:solidFill>
            <a:prstDash val="solid"/>
          </a:ln>
        </p:spPr>
      </p:sp>
      <p:sp>
        <p:nvSpPr>
          <p:cNvPr id="8" name="Shape 6"/>
          <p:cNvSpPr/>
          <p:nvPr/>
        </p:nvSpPr>
        <p:spPr>
          <a:xfrm>
            <a:off x="822960" y="2240280"/>
            <a:ext cx="749808" cy="749808"/>
          </a:xfrm>
          <a:prstGeom prst="ellipse">
            <a:avLst/>
          </a:prstGeom>
          <a:solidFill>
            <a:srgbClr val="2E7D74"/>
          </a:solidFill>
          <a:ln w="12700">
            <a:solidFill>
              <a:srgbClr val="2E7D74">
                <a:alpha val="0"/>
              </a:srgbClr>
            </a:solidFill>
            <a:prstDash val="solid"/>
          </a:ln>
        </p:spPr>
      </p:sp>
      <p:sp>
        <p:nvSpPr>
          <p:cNvPr id="9" name="Text 7"/>
          <p:cNvSpPr/>
          <p:nvPr/>
        </p:nvSpPr>
        <p:spPr>
          <a:xfrm>
            <a:off x="1700784" y="2286000"/>
            <a:ext cx="320040" cy="228600"/>
          </a:xfrm>
          <a:prstGeom prst="rect">
            <a:avLst/>
          </a:prstGeom>
          <a:noFill/>
          <a:ln/>
        </p:spPr>
        <p:txBody>
          <a:bodyPr wrap="square" lIns="0" tIns="0" rIns="0" bIns="0" rtlCol="0" anchor="ctr">
            <a:normAutofit/>
          </a:bodyPr>
          <a:lstStyle/>
          <a:p>
            <a:pPr algn="ctr" indent="0" marL="0">
              <a:buNone/>
            </a:pPr>
            <a:r>
              <a:rPr lang="en-US" sz="1600" b="1" dirty="0">
                <a:solidFill>
                  <a:srgbClr val="2E7D74"/>
                </a:solidFill>
                <a:latin typeface="Noto Sans CJK JP" pitchFamily="34" charset="0"/>
                <a:ea typeface="Noto Sans CJK JP" pitchFamily="34" charset="-122"/>
                <a:cs typeface="Noto Sans CJK JP" pitchFamily="34" charset="-120"/>
              </a:rPr>
              <a:t>1</a:t>
            </a:r>
            <a:endParaRPr lang="en-US" sz="1600" dirty="0"/>
          </a:p>
        </p:txBody>
      </p:sp>
      <p:sp>
        <p:nvSpPr>
          <p:cNvPr id="10" name="Text 8"/>
          <p:cNvSpPr/>
          <p:nvPr/>
        </p:nvSpPr>
        <p:spPr>
          <a:xfrm>
            <a:off x="2057400" y="2112264"/>
            <a:ext cx="2057400" cy="320040"/>
          </a:xfrm>
          <a:prstGeom prst="rect">
            <a:avLst/>
          </a:prstGeom>
          <a:noFill/>
          <a:ln/>
        </p:spPr>
        <p:txBody>
          <a:bodyPr wrap="square" lIns="0" tIns="0" rIns="0" bIns="0" rtlCol="0" anchor="ctr">
            <a:normAutofit/>
          </a:bodyPr>
          <a:lstStyle/>
          <a:p>
            <a:pPr algn="l" indent="0" marL="0">
              <a:buNone/>
            </a:pPr>
            <a:r>
              <a:rPr lang="en-US" sz="2000" b="1" dirty="0">
                <a:solidFill>
                  <a:srgbClr val="1D2D44"/>
                </a:solidFill>
                <a:latin typeface="Noto Sans CJK JP" pitchFamily="34" charset="0"/>
                <a:ea typeface="Noto Sans CJK JP" pitchFamily="34" charset="-122"/>
                <a:cs typeface="Noto Sans CJK JP" pitchFamily="34" charset="-120"/>
              </a:rPr>
              <a:t>D2C先行</a:t>
            </a:r>
            <a:endParaRPr lang="en-US" sz="2000" dirty="0"/>
          </a:p>
        </p:txBody>
      </p:sp>
      <p:sp>
        <p:nvSpPr>
          <p:cNvPr id="11" name="Text 9"/>
          <p:cNvSpPr/>
          <p:nvPr/>
        </p:nvSpPr>
        <p:spPr>
          <a:xfrm>
            <a:off x="2057400" y="2542032"/>
            <a:ext cx="2057400" cy="457200"/>
          </a:xfrm>
          <a:prstGeom prst="rect">
            <a:avLst/>
          </a:prstGeom>
          <a:noFill/>
          <a:ln/>
        </p:spPr>
        <p:txBody>
          <a:bodyPr wrap="square" lIns="0" tIns="0" rIns="0" bIns="0" rtlCol="0" anchor="ctr">
            <a:normAutofit/>
          </a:bodyPr>
          <a:lstStyle/>
          <a:p>
            <a:pPr algn="l" indent="0" marL="0">
              <a:buNone/>
            </a:pPr>
            <a:r>
              <a:rPr lang="en-US" sz="1230" dirty="0">
                <a:solidFill>
                  <a:srgbClr val="17202A"/>
                </a:solidFill>
                <a:latin typeface="Noto Sans CJK JP" pitchFamily="34" charset="0"/>
                <a:ea typeface="Noto Sans CJK JP" pitchFamily="34" charset="-122"/>
                <a:cs typeface="Noto Sans CJK JP" pitchFamily="34" charset="-120"/>
              </a:rPr>
              <a:t>EC比率70%を目標に設計</a:t>
            </a:r>
            <a:endParaRPr lang="en-US" sz="1230" dirty="0"/>
          </a:p>
        </p:txBody>
      </p:sp>
      <p:sp>
        <p:nvSpPr>
          <p:cNvPr id="12" name="Shape 10"/>
          <p:cNvSpPr/>
          <p:nvPr/>
        </p:nvSpPr>
        <p:spPr>
          <a:xfrm>
            <a:off x="4251960" y="2240280"/>
            <a:ext cx="749808" cy="749808"/>
          </a:xfrm>
          <a:prstGeom prst="ellipse">
            <a:avLst/>
          </a:prstGeom>
          <a:solidFill>
            <a:srgbClr val="E9846D"/>
          </a:solidFill>
          <a:ln w="12700">
            <a:solidFill>
              <a:srgbClr val="E9846D">
                <a:alpha val="0"/>
              </a:srgbClr>
            </a:solidFill>
            <a:prstDash val="solid"/>
          </a:ln>
        </p:spPr>
      </p:sp>
      <p:sp>
        <p:nvSpPr>
          <p:cNvPr id="13" name="Text 11"/>
          <p:cNvSpPr/>
          <p:nvPr/>
        </p:nvSpPr>
        <p:spPr>
          <a:xfrm>
            <a:off x="5129784" y="2286000"/>
            <a:ext cx="320040" cy="228600"/>
          </a:xfrm>
          <a:prstGeom prst="rect">
            <a:avLst/>
          </a:prstGeom>
          <a:noFill/>
          <a:ln/>
        </p:spPr>
        <p:txBody>
          <a:bodyPr wrap="square" lIns="0" tIns="0" rIns="0" bIns="0" rtlCol="0" anchor="ctr">
            <a:normAutofit/>
          </a:bodyPr>
          <a:lstStyle/>
          <a:p>
            <a:pPr algn="ctr" indent="0" marL="0">
              <a:buNone/>
            </a:pPr>
            <a:r>
              <a:rPr lang="en-US" sz="1600" b="1" dirty="0">
                <a:solidFill>
                  <a:srgbClr val="E9846D"/>
                </a:solidFill>
                <a:latin typeface="Noto Sans CJK JP" pitchFamily="34" charset="0"/>
                <a:ea typeface="Noto Sans CJK JP" pitchFamily="34" charset="-122"/>
                <a:cs typeface="Noto Sans CJK JP" pitchFamily="34" charset="-120"/>
              </a:rPr>
              <a:t>2</a:t>
            </a:r>
            <a:endParaRPr lang="en-US" sz="1600" dirty="0"/>
          </a:p>
        </p:txBody>
      </p:sp>
      <p:sp>
        <p:nvSpPr>
          <p:cNvPr id="14" name="Text 12"/>
          <p:cNvSpPr/>
          <p:nvPr/>
        </p:nvSpPr>
        <p:spPr>
          <a:xfrm>
            <a:off x="5486400" y="2112264"/>
            <a:ext cx="2057400" cy="320040"/>
          </a:xfrm>
          <a:prstGeom prst="rect">
            <a:avLst/>
          </a:prstGeom>
          <a:noFill/>
          <a:ln/>
        </p:spPr>
        <p:txBody>
          <a:bodyPr wrap="square" lIns="0" tIns="0" rIns="0" bIns="0" rtlCol="0" anchor="ctr">
            <a:normAutofit/>
          </a:bodyPr>
          <a:lstStyle/>
          <a:p>
            <a:pPr algn="l" indent="0" marL="0">
              <a:buNone/>
            </a:pPr>
            <a:r>
              <a:rPr lang="en-US" sz="2000" b="1" dirty="0">
                <a:solidFill>
                  <a:srgbClr val="1D2D44"/>
                </a:solidFill>
                <a:latin typeface="Noto Sans CJK JP" pitchFamily="34" charset="0"/>
                <a:ea typeface="Noto Sans CJK JP" pitchFamily="34" charset="-122"/>
                <a:cs typeface="Noto Sans CJK JP" pitchFamily="34" charset="-120"/>
              </a:rPr>
              <a:t>調達ヘッジ</a:t>
            </a:r>
            <a:endParaRPr lang="en-US" sz="2000" dirty="0"/>
          </a:p>
        </p:txBody>
      </p:sp>
      <p:sp>
        <p:nvSpPr>
          <p:cNvPr id="15" name="Text 13"/>
          <p:cNvSpPr/>
          <p:nvPr/>
        </p:nvSpPr>
        <p:spPr>
          <a:xfrm>
            <a:off x="5486400" y="2542032"/>
            <a:ext cx="2057400" cy="457200"/>
          </a:xfrm>
          <a:prstGeom prst="rect">
            <a:avLst/>
          </a:prstGeom>
          <a:noFill/>
          <a:ln/>
        </p:spPr>
        <p:txBody>
          <a:bodyPr wrap="square" lIns="0" tIns="0" rIns="0" bIns="0" rtlCol="0" anchor="ctr">
            <a:normAutofit/>
          </a:bodyPr>
          <a:lstStyle/>
          <a:p>
            <a:pPr algn="l" indent="0" marL="0">
              <a:buNone/>
            </a:pPr>
            <a:r>
              <a:rPr lang="en-US" sz="1230" dirty="0">
                <a:solidFill>
                  <a:srgbClr val="17202A"/>
                </a:solidFill>
                <a:latin typeface="Noto Sans CJK JP" pitchFamily="34" charset="0"/>
                <a:ea typeface="Noto Sans CJK JP" pitchFamily="34" charset="-122"/>
                <a:cs typeface="Noto Sans CJK JP" pitchFamily="34" charset="-120"/>
              </a:rPr>
              <a:t>複数調達先＋為替予約を前提化</a:t>
            </a:r>
            <a:endParaRPr lang="en-US" sz="1230" dirty="0"/>
          </a:p>
        </p:txBody>
      </p:sp>
      <p:sp>
        <p:nvSpPr>
          <p:cNvPr id="16" name="Shape 14"/>
          <p:cNvSpPr/>
          <p:nvPr/>
        </p:nvSpPr>
        <p:spPr>
          <a:xfrm>
            <a:off x="7680960" y="2240280"/>
            <a:ext cx="749808" cy="749808"/>
          </a:xfrm>
          <a:prstGeom prst="ellipse">
            <a:avLst/>
          </a:prstGeom>
          <a:solidFill>
            <a:srgbClr val="2A5D7C"/>
          </a:solidFill>
          <a:ln w="12700">
            <a:solidFill>
              <a:srgbClr val="2A5D7C">
                <a:alpha val="0"/>
              </a:srgbClr>
            </a:solidFill>
            <a:prstDash val="solid"/>
          </a:ln>
        </p:spPr>
      </p:sp>
      <p:sp>
        <p:nvSpPr>
          <p:cNvPr id="17" name="Text 15"/>
          <p:cNvSpPr/>
          <p:nvPr/>
        </p:nvSpPr>
        <p:spPr>
          <a:xfrm>
            <a:off x="8558784" y="2286000"/>
            <a:ext cx="320040" cy="228600"/>
          </a:xfrm>
          <a:prstGeom prst="rect">
            <a:avLst/>
          </a:prstGeom>
          <a:noFill/>
          <a:ln/>
        </p:spPr>
        <p:txBody>
          <a:bodyPr wrap="square" lIns="0" tIns="0" rIns="0" bIns="0" rtlCol="0" anchor="ctr">
            <a:normAutofit/>
          </a:bodyPr>
          <a:lstStyle/>
          <a:p>
            <a:pPr algn="ctr" indent="0" marL="0">
              <a:buNone/>
            </a:pPr>
            <a:r>
              <a:rPr lang="en-US" sz="1600" b="1" dirty="0">
                <a:solidFill>
                  <a:srgbClr val="2A5D7C"/>
                </a:solidFill>
                <a:latin typeface="Noto Sans CJK JP" pitchFamily="34" charset="0"/>
                <a:ea typeface="Noto Sans CJK JP" pitchFamily="34" charset="-122"/>
                <a:cs typeface="Noto Sans CJK JP" pitchFamily="34" charset="-120"/>
              </a:rPr>
              <a:t>3</a:t>
            </a:r>
            <a:endParaRPr lang="en-US" sz="1600" dirty="0"/>
          </a:p>
        </p:txBody>
      </p:sp>
      <p:sp>
        <p:nvSpPr>
          <p:cNvPr id="18" name="Text 16"/>
          <p:cNvSpPr/>
          <p:nvPr/>
        </p:nvSpPr>
        <p:spPr>
          <a:xfrm>
            <a:off x="8915400" y="2112264"/>
            <a:ext cx="2057400" cy="320040"/>
          </a:xfrm>
          <a:prstGeom prst="rect">
            <a:avLst/>
          </a:prstGeom>
          <a:noFill/>
          <a:ln/>
        </p:spPr>
        <p:txBody>
          <a:bodyPr wrap="square" lIns="0" tIns="0" rIns="0" bIns="0" rtlCol="0" anchor="ctr">
            <a:normAutofit/>
          </a:bodyPr>
          <a:lstStyle/>
          <a:p>
            <a:pPr algn="l" indent="0" marL="0">
              <a:buNone/>
            </a:pPr>
            <a:r>
              <a:rPr lang="en-US" sz="2000" b="1" dirty="0">
                <a:solidFill>
                  <a:srgbClr val="1D2D44"/>
                </a:solidFill>
                <a:latin typeface="Noto Sans CJK JP" pitchFamily="34" charset="0"/>
                <a:ea typeface="Noto Sans CJK JP" pitchFamily="34" charset="-122"/>
                <a:cs typeface="Noto Sans CJK JP" pitchFamily="34" charset="-120"/>
              </a:rPr>
              <a:t>CPA/LTV管理</a:t>
            </a:r>
            <a:endParaRPr lang="en-US" sz="2000" dirty="0"/>
          </a:p>
        </p:txBody>
      </p:sp>
      <p:sp>
        <p:nvSpPr>
          <p:cNvPr id="19" name="Text 17"/>
          <p:cNvSpPr/>
          <p:nvPr/>
        </p:nvSpPr>
        <p:spPr>
          <a:xfrm>
            <a:off x="8915400" y="2542032"/>
            <a:ext cx="2057400" cy="457200"/>
          </a:xfrm>
          <a:prstGeom prst="rect">
            <a:avLst/>
          </a:prstGeom>
          <a:noFill/>
          <a:ln/>
        </p:spPr>
        <p:txBody>
          <a:bodyPr wrap="square" lIns="0" tIns="0" rIns="0" bIns="0" rtlCol="0" anchor="ctr">
            <a:normAutofit/>
          </a:bodyPr>
          <a:lstStyle/>
          <a:p>
            <a:pPr algn="l" indent="0" marL="0">
              <a:buNone/>
            </a:pPr>
            <a:r>
              <a:rPr lang="en-US" sz="1230" dirty="0">
                <a:solidFill>
                  <a:srgbClr val="17202A"/>
                </a:solidFill>
                <a:latin typeface="Noto Sans CJK JP" pitchFamily="34" charset="0"/>
                <a:ea typeface="Noto Sans CJK JP" pitchFamily="34" charset="-122"/>
                <a:cs typeface="Noto Sans CJK JP" pitchFamily="34" charset="-120"/>
              </a:rPr>
              <a:t>定期購入化でLTV黒字化を管理</a:t>
            </a:r>
            <a:endParaRPr lang="en-US" sz="1230" dirty="0"/>
          </a:p>
        </p:txBody>
      </p:sp>
      <p:sp>
        <p:nvSpPr>
          <p:cNvPr id="20" name="Text 18"/>
          <p:cNvSpPr/>
          <p:nvPr/>
        </p:nvSpPr>
        <p:spPr>
          <a:xfrm>
            <a:off x="685800" y="3703320"/>
            <a:ext cx="201168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本編15分の進め方</a:t>
            </a:r>
            <a:endParaRPr lang="en-US" sz="1000" dirty="0"/>
          </a:p>
        </p:txBody>
      </p:sp>
      <p:sp>
        <p:nvSpPr>
          <p:cNvPr id="21" name="Shape 19"/>
          <p:cNvSpPr/>
          <p:nvPr/>
        </p:nvSpPr>
        <p:spPr>
          <a:xfrm>
            <a:off x="685800" y="3986784"/>
            <a:ext cx="2011680" cy="0"/>
          </a:xfrm>
          <a:prstGeom prst="line">
            <a:avLst/>
          </a:prstGeom>
          <a:noFill/>
          <a:ln w="16510">
            <a:solidFill>
              <a:srgbClr val="E9846D"/>
            </a:solidFill>
            <a:prstDash val="solid"/>
          </a:ln>
        </p:spPr>
      </p:sp>
      <p:sp>
        <p:nvSpPr>
          <p:cNvPr id="22" name="Shape 20"/>
          <p:cNvSpPr/>
          <p:nvPr/>
        </p:nvSpPr>
        <p:spPr>
          <a:xfrm>
            <a:off x="914400" y="4572000"/>
            <a:ext cx="9875520" cy="0"/>
          </a:xfrm>
          <a:prstGeom prst="line">
            <a:avLst/>
          </a:prstGeom>
          <a:noFill/>
          <a:ln w="38100">
            <a:solidFill>
              <a:srgbClr val="D9DEE5"/>
            </a:solidFill>
            <a:prstDash val="solid"/>
            <a:headEnd type="none"/>
            <a:tailEnd type="none"/>
          </a:ln>
        </p:spPr>
      </p:sp>
      <p:sp>
        <p:nvSpPr>
          <p:cNvPr id="23" name="Shape 21"/>
          <p:cNvSpPr/>
          <p:nvPr/>
        </p:nvSpPr>
        <p:spPr>
          <a:xfrm>
            <a:off x="841248" y="4498848"/>
            <a:ext cx="146304" cy="146304"/>
          </a:xfrm>
          <a:prstGeom prst="ellipse">
            <a:avLst/>
          </a:prstGeom>
          <a:solidFill>
            <a:srgbClr val="2E7D74"/>
          </a:solidFill>
          <a:ln w="12700">
            <a:solidFill>
              <a:srgbClr val="2E7D74">
                <a:alpha val="0"/>
              </a:srgbClr>
            </a:solidFill>
            <a:prstDash val="solid"/>
          </a:ln>
        </p:spPr>
      </p:sp>
      <p:sp>
        <p:nvSpPr>
          <p:cNvPr id="24" name="Text 22"/>
          <p:cNvSpPr/>
          <p:nvPr/>
        </p:nvSpPr>
        <p:spPr>
          <a:xfrm>
            <a:off x="502920" y="4059936"/>
            <a:ext cx="822960" cy="219456"/>
          </a:xfrm>
          <a:prstGeom prst="rect">
            <a:avLst/>
          </a:prstGeom>
          <a:noFill/>
          <a:ln/>
        </p:spPr>
        <p:txBody>
          <a:bodyPr wrap="square" lIns="0" tIns="0" rIns="0" bIns="0" rtlCol="0" anchor="ctr">
            <a:normAutofit/>
          </a:bodyPr>
          <a:lstStyle/>
          <a:p>
            <a:pPr algn="ctr" indent="0" marL="0">
              <a:buNone/>
            </a:pPr>
            <a:r>
              <a:rPr lang="en-US" sz="1050" b="1" dirty="0">
                <a:solidFill>
                  <a:srgbClr val="1D2D44"/>
                </a:solidFill>
                <a:latin typeface="Noto Sans CJK JP" pitchFamily="34" charset="0"/>
                <a:ea typeface="Noto Sans CJK JP" pitchFamily="34" charset="-122"/>
                <a:cs typeface="Noto Sans CJK JP" pitchFamily="34" charset="-120"/>
              </a:rPr>
              <a:t>市場</a:t>
            </a:r>
            <a:endParaRPr lang="en-US" sz="1050" dirty="0"/>
          </a:p>
        </p:txBody>
      </p:sp>
      <p:sp>
        <p:nvSpPr>
          <p:cNvPr id="25" name="Text 23"/>
          <p:cNvSpPr/>
          <p:nvPr/>
        </p:nvSpPr>
        <p:spPr>
          <a:xfrm>
            <a:off x="594360" y="4773168"/>
            <a:ext cx="640080" cy="164592"/>
          </a:xfrm>
          <a:prstGeom prst="rect">
            <a:avLst/>
          </a:prstGeom>
          <a:noFill/>
          <a:ln/>
        </p:spPr>
        <p:txBody>
          <a:bodyPr wrap="square" lIns="0" tIns="0" rIns="0" bIns="0" rtlCol="0" anchor="ctr">
            <a:normAutofit/>
          </a:bodyPr>
          <a:lstStyle/>
          <a:p>
            <a:pPr algn="ctr" indent="0" marL="0">
              <a:buNone/>
            </a:pPr>
            <a:r>
              <a:rPr lang="en-US" sz="950" dirty="0">
                <a:solidFill>
                  <a:srgbClr val="5E6673"/>
                </a:solidFill>
                <a:latin typeface="Noto Sans CJK JP" pitchFamily="34" charset="0"/>
                <a:ea typeface="Noto Sans CJK JP" pitchFamily="34" charset="-122"/>
                <a:cs typeface="Noto Sans CJK JP" pitchFamily="34" charset="-120"/>
              </a:rPr>
              <a:t>3分</a:t>
            </a:r>
            <a:endParaRPr lang="en-US" sz="950" dirty="0"/>
          </a:p>
        </p:txBody>
      </p:sp>
      <p:sp>
        <p:nvSpPr>
          <p:cNvPr id="26" name="Shape 24"/>
          <p:cNvSpPr/>
          <p:nvPr/>
        </p:nvSpPr>
        <p:spPr>
          <a:xfrm>
            <a:off x="2816352" y="4498848"/>
            <a:ext cx="146304" cy="146304"/>
          </a:xfrm>
          <a:prstGeom prst="ellipse">
            <a:avLst/>
          </a:prstGeom>
          <a:solidFill>
            <a:srgbClr val="2E7D74"/>
          </a:solidFill>
          <a:ln w="12700">
            <a:solidFill>
              <a:srgbClr val="2E7D74">
                <a:alpha val="0"/>
              </a:srgbClr>
            </a:solidFill>
            <a:prstDash val="solid"/>
          </a:ln>
        </p:spPr>
      </p:sp>
      <p:sp>
        <p:nvSpPr>
          <p:cNvPr id="27" name="Text 25"/>
          <p:cNvSpPr/>
          <p:nvPr/>
        </p:nvSpPr>
        <p:spPr>
          <a:xfrm>
            <a:off x="2478024" y="4059936"/>
            <a:ext cx="822960" cy="219456"/>
          </a:xfrm>
          <a:prstGeom prst="rect">
            <a:avLst/>
          </a:prstGeom>
          <a:noFill/>
          <a:ln/>
        </p:spPr>
        <p:txBody>
          <a:bodyPr wrap="square" lIns="0" tIns="0" rIns="0" bIns="0" rtlCol="0" anchor="ctr">
            <a:normAutofit/>
          </a:bodyPr>
          <a:lstStyle/>
          <a:p>
            <a:pPr algn="ctr" indent="0" marL="0">
              <a:buNone/>
            </a:pPr>
            <a:r>
              <a:rPr lang="en-US" sz="1050" b="1" dirty="0">
                <a:solidFill>
                  <a:srgbClr val="1D2D44"/>
                </a:solidFill>
                <a:latin typeface="Noto Sans CJK JP" pitchFamily="34" charset="0"/>
                <a:ea typeface="Noto Sans CJK JP" pitchFamily="34" charset="-122"/>
                <a:cs typeface="Noto Sans CJK JP" pitchFamily="34" charset="-120"/>
              </a:rPr>
              <a:t>競合</a:t>
            </a:r>
            <a:endParaRPr lang="en-US" sz="1050" dirty="0"/>
          </a:p>
        </p:txBody>
      </p:sp>
      <p:sp>
        <p:nvSpPr>
          <p:cNvPr id="28" name="Text 26"/>
          <p:cNvSpPr/>
          <p:nvPr/>
        </p:nvSpPr>
        <p:spPr>
          <a:xfrm>
            <a:off x="2569464" y="4773168"/>
            <a:ext cx="640080" cy="164592"/>
          </a:xfrm>
          <a:prstGeom prst="rect">
            <a:avLst/>
          </a:prstGeom>
          <a:noFill/>
          <a:ln/>
        </p:spPr>
        <p:txBody>
          <a:bodyPr wrap="square" lIns="0" tIns="0" rIns="0" bIns="0" rtlCol="0" anchor="ctr">
            <a:normAutofit/>
          </a:bodyPr>
          <a:lstStyle/>
          <a:p>
            <a:pPr algn="ctr" indent="0" marL="0">
              <a:buNone/>
            </a:pPr>
            <a:r>
              <a:rPr lang="en-US" sz="950" dirty="0">
                <a:solidFill>
                  <a:srgbClr val="5E6673"/>
                </a:solidFill>
                <a:latin typeface="Noto Sans CJK JP" pitchFamily="34" charset="0"/>
                <a:ea typeface="Noto Sans CJK JP" pitchFamily="34" charset="-122"/>
                <a:cs typeface="Noto Sans CJK JP" pitchFamily="34" charset="-120"/>
              </a:rPr>
              <a:t>2分</a:t>
            </a:r>
            <a:endParaRPr lang="en-US" sz="950" dirty="0"/>
          </a:p>
        </p:txBody>
      </p:sp>
      <p:sp>
        <p:nvSpPr>
          <p:cNvPr id="29" name="Shape 27"/>
          <p:cNvSpPr/>
          <p:nvPr/>
        </p:nvSpPr>
        <p:spPr>
          <a:xfrm>
            <a:off x="4791456" y="4498848"/>
            <a:ext cx="146304" cy="146304"/>
          </a:xfrm>
          <a:prstGeom prst="ellipse">
            <a:avLst/>
          </a:prstGeom>
          <a:solidFill>
            <a:srgbClr val="2E7D74"/>
          </a:solidFill>
          <a:ln w="12700">
            <a:solidFill>
              <a:srgbClr val="2E7D74">
                <a:alpha val="0"/>
              </a:srgbClr>
            </a:solidFill>
            <a:prstDash val="solid"/>
          </a:ln>
        </p:spPr>
      </p:sp>
      <p:sp>
        <p:nvSpPr>
          <p:cNvPr id="30" name="Text 28"/>
          <p:cNvSpPr/>
          <p:nvPr/>
        </p:nvSpPr>
        <p:spPr>
          <a:xfrm>
            <a:off x="4453128" y="4059936"/>
            <a:ext cx="822960" cy="219456"/>
          </a:xfrm>
          <a:prstGeom prst="rect">
            <a:avLst/>
          </a:prstGeom>
          <a:noFill/>
          <a:ln/>
        </p:spPr>
        <p:txBody>
          <a:bodyPr wrap="square" lIns="0" tIns="0" rIns="0" bIns="0" rtlCol="0" anchor="ctr">
            <a:normAutofit/>
          </a:bodyPr>
          <a:lstStyle/>
          <a:p>
            <a:pPr algn="ctr" indent="0" marL="0">
              <a:buNone/>
            </a:pPr>
            <a:r>
              <a:rPr lang="en-US" sz="1050" b="1" dirty="0">
                <a:solidFill>
                  <a:srgbClr val="1D2D44"/>
                </a:solidFill>
                <a:latin typeface="Noto Sans CJK JP" pitchFamily="34" charset="0"/>
                <a:ea typeface="Noto Sans CJK JP" pitchFamily="34" charset="-122"/>
                <a:cs typeface="Noto Sans CJK JP" pitchFamily="34" charset="-120"/>
              </a:rPr>
              <a:t>商品</a:t>
            </a:r>
            <a:endParaRPr lang="en-US" sz="1050" dirty="0"/>
          </a:p>
        </p:txBody>
      </p:sp>
      <p:sp>
        <p:nvSpPr>
          <p:cNvPr id="31" name="Text 29"/>
          <p:cNvSpPr/>
          <p:nvPr/>
        </p:nvSpPr>
        <p:spPr>
          <a:xfrm>
            <a:off x="4544568" y="4773168"/>
            <a:ext cx="640080" cy="164592"/>
          </a:xfrm>
          <a:prstGeom prst="rect">
            <a:avLst/>
          </a:prstGeom>
          <a:noFill/>
          <a:ln/>
        </p:spPr>
        <p:txBody>
          <a:bodyPr wrap="square" lIns="0" tIns="0" rIns="0" bIns="0" rtlCol="0" anchor="ctr">
            <a:normAutofit/>
          </a:bodyPr>
          <a:lstStyle/>
          <a:p>
            <a:pPr algn="ctr" indent="0" marL="0">
              <a:buNone/>
            </a:pPr>
            <a:r>
              <a:rPr lang="en-US" sz="950" dirty="0">
                <a:solidFill>
                  <a:srgbClr val="5E6673"/>
                </a:solidFill>
                <a:latin typeface="Noto Sans CJK JP" pitchFamily="34" charset="0"/>
                <a:ea typeface="Noto Sans CJK JP" pitchFamily="34" charset="-122"/>
                <a:cs typeface="Noto Sans CJK JP" pitchFamily="34" charset="-120"/>
              </a:rPr>
              <a:t>2分</a:t>
            </a:r>
            <a:endParaRPr lang="en-US" sz="950" dirty="0"/>
          </a:p>
        </p:txBody>
      </p:sp>
      <p:sp>
        <p:nvSpPr>
          <p:cNvPr id="32" name="Shape 30"/>
          <p:cNvSpPr/>
          <p:nvPr/>
        </p:nvSpPr>
        <p:spPr>
          <a:xfrm>
            <a:off x="6766560" y="4498848"/>
            <a:ext cx="146304" cy="146304"/>
          </a:xfrm>
          <a:prstGeom prst="ellipse">
            <a:avLst/>
          </a:prstGeom>
          <a:solidFill>
            <a:srgbClr val="E9846D"/>
          </a:solidFill>
          <a:ln w="12700">
            <a:solidFill>
              <a:srgbClr val="E9846D">
                <a:alpha val="0"/>
              </a:srgbClr>
            </a:solidFill>
            <a:prstDash val="solid"/>
          </a:ln>
        </p:spPr>
      </p:sp>
      <p:sp>
        <p:nvSpPr>
          <p:cNvPr id="33" name="Text 31"/>
          <p:cNvSpPr/>
          <p:nvPr/>
        </p:nvSpPr>
        <p:spPr>
          <a:xfrm>
            <a:off x="6428232" y="4059936"/>
            <a:ext cx="822960" cy="219456"/>
          </a:xfrm>
          <a:prstGeom prst="rect">
            <a:avLst/>
          </a:prstGeom>
          <a:noFill/>
          <a:ln/>
        </p:spPr>
        <p:txBody>
          <a:bodyPr wrap="square" lIns="0" tIns="0" rIns="0" bIns="0" rtlCol="0" anchor="ctr">
            <a:normAutofit/>
          </a:bodyPr>
          <a:lstStyle/>
          <a:p>
            <a:pPr algn="ctr" indent="0" marL="0">
              <a:buNone/>
            </a:pPr>
            <a:r>
              <a:rPr lang="en-US" sz="1050" b="1" dirty="0">
                <a:solidFill>
                  <a:srgbClr val="1D2D44"/>
                </a:solidFill>
                <a:latin typeface="Noto Sans CJK JP" pitchFamily="34" charset="0"/>
                <a:ea typeface="Noto Sans CJK JP" pitchFamily="34" charset="-122"/>
                <a:cs typeface="Noto Sans CJK JP" pitchFamily="34" charset="-120"/>
              </a:rPr>
              <a:t>販売</a:t>
            </a:r>
            <a:endParaRPr lang="en-US" sz="1050" dirty="0"/>
          </a:p>
        </p:txBody>
      </p:sp>
      <p:sp>
        <p:nvSpPr>
          <p:cNvPr id="34" name="Text 32"/>
          <p:cNvSpPr/>
          <p:nvPr/>
        </p:nvSpPr>
        <p:spPr>
          <a:xfrm>
            <a:off x="6519672" y="4773168"/>
            <a:ext cx="640080" cy="164592"/>
          </a:xfrm>
          <a:prstGeom prst="rect">
            <a:avLst/>
          </a:prstGeom>
          <a:noFill/>
          <a:ln/>
        </p:spPr>
        <p:txBody>
          <a:bodyPr wrap="square" lIns="0" tIns="0" rIns="0" bIns="0" rtlCol="0" anchor="ctr">
            <a:normAutofit/>
          </a:bodyPr>
          <a:lstStyle/>
          <a:p>
            <a:pPr algn="ctr" indent="0" marL="0">
              <a:buNone/>
            </a:pPr>
            <a:r>
              <a:rPr lang="en-US" sz="950" dirty="0">
                <a:solidFill>
                  <a:srgbClr val="5E6673"/>
                </a:solidFill>
                <a:latin typeface="Noto Sans CJK JP" pitchFamily="34" charset="0"/>
                <a:ea typeface="Noto Sans CJK JP" pitchFamily="34" charset="-122"/>
                <a:cs typeface="Noto Sans CJK JP" pitchFamily="34" charset="-120"/>
              </a:rPr>
              <a:t>3分</a:t>
            </a:r>
            <a:endParaRPr lang="en-US" sz="950" dirty="0"/>
          </a:p>
        </p:txBody>
      </p:sp>
      <p:sp>
        <p:nvSpPr>
          <p:cNvPr id="35" name="Shape 33"/>
          <p:cNvSpPr/>
          <p:nvPr/>
        </p:nvSpPr>
        <p:spPr>
          <a:xfrm>
            <a:off x="8741664" y="4498848"/>
            <a:ext cx="146304" cy="146304"/>
          </a:xfrm>
          <a:prstGeom prst="ellipse">
            <a:avLst/>
          </a:prstGeom>
          <a:solidFill>
            <a:srgbClr val="E9846D"/>
          </a:solidFill>
          <a:ln w="12700">
            <a:solidFill>
              <a:srgbClr val="E9846D">
                <a:alpha val="0"/>
              </a:srgbClr>
            </a:solidFill>
            <a:prstDash val="solid"/>
          </a:ln>
        </p:spPr>
      </p:sp>
      <p:sp>
        <p:nvSpPr>
          <p:cNvPr id="36" name="Text 34"/>
          <p:cNvSpPr/>
          <p:nvPr/>
        </p:nvSpPr>
        <p:spPr>
          <a:xfrm>
            <a:off x="8403336" y="4059936"/>
            <a:ext cx="822960" cy="219456"/>
          </a:xfrm>
          <a:prstGeom prst="rect">
            <a:avLst/>
          </a:prstGeom>
          <a:noFill/>
          <a:ln/>
        </p:spPr>
        <p:txBody>
          <a:bodyPr wrap="square" lIns="0" tIns="0" rIns="0" bIns="0" rtlCol="0" anchor="ctr">
            <a:normAutofit/>
          </a:bodyPr>
          <a:lstStyle/>
          <a:p>
            <a:pPr algn="ctr" indent="0" marL="0">
              <a:buNone/>
            </a:pPr>
            <a:r>
              <a:rPr lang="en-US" sz="1050" b="1" dirty="0">
                <a:solidFill>
                  <a:srgbClr val="1D2D44"/>
                </a:solidFill>
                <a:latin typeface="Noto Sans CJK JP" pitchFamily="34" charset="0"/>
                <a:ea typeface="Noto Sans CJK JP" pitchFamily="34" charset="-122"/>
                <a:cs typeface="Noto Sans CJK JP" pitchFamily="34" charset="-120"/>
              </a:rPr>
              <a:t>収益</a:t>
            </a:r>
            <a:endParaRPr lang="en-US" sz="1050" dirty="0"/>
          </a:p>
        </p:txBody>
      </p:sp>
      <p:sp>
        <p:nvSpPr>
          <p:cNvPr id="37" name="Text 35"/>
          <p:cNvSpPr/>
          <p:nvPr/>
        </p:nvSpPr>
        <p:spPr>
          <a:xfrm>
            <a:off x="8494776" y="4773168"/>
            <a:ext cx="640080" cy="164592"/>
          </a:xfrm>
          <a:prstGeom prst="rect">
            <a:avLst/>
          </a:prstGeom>
          <a:noFill/>
          <a:ln/>
        </p:spPr>
        <p:txBody>
          <a:bodyPr wrap="square" lIns="0" tIns="0" rIns="0" bIns="0" rtlCol="0" anchor="ctr">
            <a:normAutofit/>
          </a:bodyPr>
          <a:lstStyle/>
          <a:p>
            <a:pPr algn="ctr" indent="0" marL="0">
              <a:buNone/>
            </a:pPr>
            <a:r>
              <a:rPr lang="en-US" sz="950" dirty="0">
                <a:solidFill>
                  <a:srgbClr val="5E6673"/>
                </a:solidFill>
                <a:latin typeface="Noto Sans CJK JP" pitchFamily="34" charset="0"/>
                <a:ea typeface="Noto Sans CJK JP" pitchFamily="34" charset="-122"/>
                <a:cs typeface="Noto Sans CJK JP" pitchFamily="34" charset="-120"/>
              </a:rPr>
              <a:t>2分</a:t>
            </a:r>
            <a:endParaRPr lang="en-US" sz="950" dirty="0"/>
          </a:p>
        </p:txBody>
      </p:sp>
      <p:sp>
        <p:nvSpPr>
          <p:cNvPr id="38" name="Shape 36"/>
          <p:cNvSpPr/>
          <p:nvPr/>
        </p:nvSpPr>
        <p:spPr>
          <a:xfrm>
            <a:off x="10716768" y="4498848"/>
            <a:ext cx="146304" cy="146304"/>
          </a:xfrm>
          <a:prstGeom prst="ellipse">
            <a:avLst/>
          </a:prstGeom>
          <a:solidFill>
            <a:srgbClr val="E9846D"/>
          </a:solidFill>
          <a:ln w="12700">
            <a:solidFill>
              <a:srgbClr val="E9846D">
                <a:alpha val="0"/>
              </a:srgbClr>
            </a:solidFill>
            <a:prstDash val="solid"/>
          </a:ln>
        </p:spPr>
      </p:sp>
      <p:sp>
        <p:nvSpPr>
          <p:cNvPr id="39" name="Text 37"/>
          <p:cNvSpPr/>
          <p:nvPr/>
        </p:nvSpPr>
        <p:spPr>
          <a:xfrm>
            <a:off x="10378440" y="4059936"/>
            <a:ext cx="822960" cy="219456"/>
          </a:xfrm>
          <a:prstGeom prst="rect">
            <a:avLst/>
          </a:prstGeom>
          <a:noFill/>
          <a:ln/>
        </p:spPr>
        <p:txBody>
          <a:bodyPr wrap="square" lIns="0" tIns="0" rIns="0" bIns="0" rtlCol="0" anchor="ctr">
            <a:normAutofit/>
          </a:bodyPr>
          <a:lstStyle/>
          <a:p>
            <a:pPr algn="ctr" indent="0" marL="0">
              <a:buNone/>
            </a:pPr>
            <a:r>
              <a:rPr lang="en-US" sz="1050" b="1" dirty="0">
                <a:solidFill>
                  <a:srgbClr val="1D2D44"/>
                </a:solidFill>
                <a:latin typeface="Noto Sans CJK JP" pitchFamily="34" charset="0"/>
                <a:ea typeface="Noto Sans CJK JP" pitchFamily="34" charset="-122"/>
                <a:cs typeface="Noto Sans CJK JP" pitchFamily="34" charset="-120"/>
              </a:rPr>
              <a:t>リスク/承認</a:t>
            </a:r>
            <a:endParaRPr lang="en-US" sz="1050" dirty="0"/>
          </a:p>
        </p:txBody>
      </p:sp>
      <p:sp>
        <p:nvSpPr>
          <p:cNvPr id="40" name="Text 38"/>
          <p:cNvSpPr/>
          <p:nvPr/>
        </p:nvSpPr>
        <p:spPr>
          <a:xfrm>
            <a:off x="10469880" y="4773168"/>
            <a:ext cx="640080" cy="164592"/>
          </a:xfrm>
          <a:prstGeom prst="rect">
            <a:avLst/>
          </a:prstGeom>
          <a:noFill/>
          <a:ln/>
        </p:spPr>
        <p:txBody>
          <a:bodyPr wrap="square" lIns="0" tIns="0" rIns="0" bIns="0" rtlCol="0" anchor="ctr">
            <a:normAutofit/>
          </a:bodyPr>
          <a:lstStyle/>
          <a:p>
            <a:pPr algn="ctr" indent="0" marL="0">
              <a:buNone/>
            </a:pPr>
            <a:r>
              <a:rPr lang="en-US" sz="950" dirty="0">
                <a:solidFill>
                  <a:srgbClr val="5E6673"/>
                </a:solidFill>
                <a:latin typeface="Noto Sans CJK JP" pitchFamily="34" charset="0"/>
                <a:ea typeface="Noto Sans CJK JP" pitchFamily="34" charset="-122"/>
                <a:cs typeface="Noto Sans CJK JP" pitchFamily="34" charset="-120"/>
              </a:rPr>
              <a:t>3分</a:t>
            </a:r>
            <a:endParaRPr lang="en-US" sz="950" dirty="0"/>
          </a:p>
        </p:txBody>
      </p:sp>
      <p:sp>
        <p:nvSpPr>
          <p:cNvPr id="41" name="Text 39"/>
          <p:cNvSpPr/>
          <p:nvPr/>
        </p:nvSpPr>
        <p:spPr>
          <a:xfrm>
            <a:off x="685800" y="5669280"/>
            <a:ext cx="2240280" cy="228600"/>
          </a:xfrm>
          <a:prstGeom prst="rect">
            <a:avLst/>
          </a:prstGeom>
          <a:noFill/>
          <a:ln/>
        </p:spPr>
        <p:txBody>
          <a:bodyPr wrap="square" lIns="0" tIns="0" rIns="0" bIns="0" rtlCol="0" anchor="ctr">
            <a:normAutofit/>
          </a:bodyPr>
          <a:lstStyle/>
          <a:p>
            <a:pPr algn="l" indent="0" marL="0">
              <a:buNone/>
            </a:pPr>
            <a:r>
              <a:rPr lang="en-US" sz="1300" b="1" dirty="0">
                <a:solidFill>
                  <a:srgbClr val="1D2D44"/>
                </a:solidFill>
                <a:latin typeface="Noto Sans CJK JP" pitchFamily="34" charset="0"/>
                <a:ea typeface="Noto Sans CJK JP" pitchFamily="34" charset="-122"/>
                <a:cs typeface="Noto Sans CJK JP" pitchFamily="34" charset="-120"/>
              </a:rPr>
              <a:t>事業部長4名の確認観点</a:t>
            </a:r>
            <a:endParaRPr lang="en-US" sz="1300" dirty="0"/>
          </a:p>
        </p:txBody>
      </p:sp>
      <p:sp>
        <p:nvSpPr>
          <p:cNvPr id="42" name="Text 40"/>
          <p:cNvSpPr/>
          <p:nvPr/>
        </p:nvSpPr>
        <p:spPr>
          <a:xfrm>
            <a:off x="3246120" y="5669280"/>
            <a:ext cx="8001000" cy="228600"/>
          </a:xfrm>
          <a:prstGeom prst="rect">
            <a:avLst/>
          </a:prstGeom>
          <a:noFill/>
          <a:ln/>
        </p:spPr>
        <p:txBody>
          <a:bodyPr wrap="square" lIns="0" tIns="0" rIns="0" bIns="0" rtlCol="0" anchor="ctr">
            <a:normAutofit/>
          </a:bodyPr>
          <a:lstStyle/>
          <a:p>
            <a:pPr algn="l" indent="0" marL="0">
              <a:buNone/>
            </a:pPr>
            <a:r>
              <a:rPr lang="en-US" sz="1230" dirty="0">
                <a:solidFill>
                  <a:srgbClr val="17202A"/>
                </a:solidFill>
                <a:latin typeface="Noto Sans CJK JP" pitchFamily="34" charset="0"/>
                <a:ea typeface="Noto Sans CJK JP" pitchFamily="34" charset="-122"/>
                <a:cs typeface="Noto Sans CJK JP" pitchFamily="34" charset="-120"/>
              </a:rPr>
              <a:t>営業: 配荷 / マーケ: D2C・UGC / 財務: 原価・CPA / 生産: 品質・OEM</a:t>
            </a:r>
            <a:endParaRPr lang="en-US" sz="1230" dirty="0"/>
          </a:p>
        </p:txBody>
      </p:sp>
      <p:sp>
        <p:nvSpPr>
          <p:cNvPr id="43" name="Text 41"/>
          <p:cNvSpPr/>
          <p:nvPr/>
        </p:nvSpPr>
        <p:spPr>
          <a:xfrm>
            <a:off x="457200" y="6537960"/>
            <a:ext cx="5486400" cy="182880"/>
          </a:xfrm>
          <a:prstGeom prst="rect">
            <a:avLst/>
          </a:prstGeom>
          <a:noFill/>
          <a:ln/>
        </p:spPr>
        <p:txBody>
          <a:bodyPr wrap="square" lIns="0" tIns="0" rIns="0" bIns="0" rtlCol="0" anchor="ctr">
            <a:normAutofit/>
          </a:bodyPr>
          <a:lstStyle/>
          <a:p>
            <a:pPr algn="l" indent="0" marL="0">
              <a:buNone/>
            </a:pPr>
            <a:r>
              <a:rPr lang="en-US" sz="780" dirty="0">
                <a:solidFill>
                  <a:srgbClr val="5E6673"/>
                </a:solidFill>
                <a:latin typeface="Noto Sans CJK JP" pitchFamily="34" charset="0"/>
                <a:ea typeface="Noto Sans CJK JP" pitchFamily="34" charset="-122"/>
                <a:cs typeface="Noto Sans CJK JP" pitchFamily="34" charset="-120"/>
              </a:rPr>
              <a:t>出所: 提供資料に基づく構成</a:t>
            </a:r>
            <a:endParaRPr lang="en-US" sz="780" dirty="0"/>
          </a:p>
        </p:txBody>
      </p:sp>
      <p:sp>
        <p:nvSpPr>
          <p:cNvPr id="44" name="Text 42"/>
          <p:cNvSpPr/>
          <p:nvPr/>
        </p:nvSpPr>
        <p:spPr>
          <a:xfrm>
            <a:off x="8869680" y="6537960"/>
            <a:ext cx="2834640" cy="182880"/>
          </a:xfrm>
          <a:prstGeom prst="rect">
            <a:avLst/>
          </a:prstGeom>
          <a:noFill/>
          <a:ln/>
        </p:spPr>
        <p:txBody>
          <a:bodyPr wrap="square" lIns="0" tIns="0" rIns="0" bIns="0" rtlCol="0" anchor="ctr">
            <a:normAutofit/>
          </a:bodyPr>
          <a:lstStyle/>
          <a:p>
            <a:pPr algn="r" indent="0" marL="0">
              <a:buNone/>
            </a:pPr>
            <a:r>
              <a:rPr lang="en-US" sz="780" dirty="0">
                <a:solidFill>
                  <a:srgbClr val="5E6673"/>
                </a:solidFill>
                <a:latin typeface="Noto Sans CJK JP" pitchFamily="34" charset="0"/>
                <a:ea typeface="Noto Sans CJK JP" pitchFamily="34" charset="-122"/>
                <a:cs typeface="Noto Sans CJK JP" pitchFamily="34" charset="-120"/>
              </a:rPr>
              <a:t>ごろにゃんプレミアム 事業承認提案</a:t>
            </a:r>
            <a:endParaRPr lang="en-US" sz="7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3E9"/>
        </a:solidFill>
      </p:bgPr>
    </p:bg>
    <p:spTree>
      <p:nvGrpSpPr>
        <p:cNvPr id="1" name=""/>
        <p:cNvGrpSpPr/>
        <p:nvPr/>
      </p:nvGrpSpPr>
      <p:grpSpPr>
        <a:xfrm>
          <a:off x="0" y="0"/>
          <a:ext cx="0" cy="0"/>
          <a:chOff x="0" y="0"/>
          <a:chExt cx="0" cy="0"/>
        </a:xfrm>
      </p:grpSpPr>
      <p:sp>
        <p:nvSpPr>
          <p:cNvPr id="2" name="Text 0"/>
          <p:cNvSpPr/>
          <p:nvPr/>
        </p:nvSpPr>
        <p:spPr>
          <a:xfrm>
            <a:off x="411480" y="310896"/>
            <a:ext cx="548640" cy="274320"/>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03</a:t>
            </a:r>
            <a:endParaRPr lang="en-US" sz="1000" dirty="0"/>
          </a:p>
        </p:txBody>
      </p:sp>
      <p:sp>
        <p:nvSpPr>
          <p:cNvPr id="3" name="Text 1"/>
          <p:cNvSpPr/>
          <p:nvPr/>
        </p:nvSpPr>
        <p:spPr>
          <a:xfrm>
            <a:off x="960120" y="164592"/>
            <a:ext cx="6035040" cy="438912"/>
          </a:xfrm>
          <a:prstGeom prst="rect">
            <a:avLst/>
          </a:prstGeom>
          <a:noFill/>
          <a:ln/>
        </p:spPr>
        <p:txBody>
          <a:bodyPr wrap="square" lIns="0" tIns="0" rIns="0" bIns="0" rtlCol="0" anchor="ctr">
            <a:normAutofit/>
          </a:bodyPr>
          <a:lstStyle/>
          <a:p>
            <a:pPr algn="l" indent="0" marL="0">
              <a:buNone/>
            </a:pPr>
            <a:r>
              <a:rPr lang="en-US" sz="2600" b="1" dirty="0">
                <a:solidFill>
                  <a:srgbClr val="1D2D44"/>
                </a:solidFill>
                <a:latin typeface="Noto Sans CJK JP" pitchFamily="34" charset="0"/>
                <a:ea typeface="Noto Sans CJK JP" pitchFamily="34" charset="-122"/>
                <a:cs typeface="Noto Sans CJK JP" pitchFamily="34" charset="-120"/>
              </a:rPr>
              <a:t>市場機会</a:t>
            </a:r>
            <a:endParaRPr lang="en-US" sz="2600" dirty="0"/>
          </a:p>
        </p:txBody>
      </p:sp>
      <p:sp>
        <p:nvSpPr>
          <p:cNvPr id="4" name="Text 2"/>
          <p:cNvSpPr/>
          <p:nvPr/>
        </p:nvSpPr>
        <p:spPr>
          <a:xfrm>
            <a:off x="960120" y="685800"/>
            <a:ext cx="9738360" cy="512064"/>
          </a:xfrm>
          <a:prstGeom prst="rect">
            <a:avLst/>
          </a:prstGeom>
          <a:noFill/>
          <a:ln/>
        </p:spPr>
        <p:txBody>
          <a:bodyPr wrap="square" lIns="0" tIns="0" rIns="0" bIns="0" rtlCol="0" anchor="ctr">
            <a:normAutofit/>
          </a:bodyPr>
          <a:lstStyle/>
          <a:p>
            <a:pPr algn="l" indent="0" marL="0">
              <a:buNone/>
            </a:pPr>
            <a:r>
              <a:rPr lang="en-US" sz="1700" b="1" dirty="0">
                <a:solidFill>
                  <a:srgbClr val="17202A"/>
                </a:solidFill>
                <a:latin typeface="Noto Sans CJK JP" pitchFamily="34" charset="0"/>
                <a:ea typeface="Noto Sans CJK JP" pitchFamily="34" charset="-122"/>
                <a:cs typeface="Noto Sans CJK JP" pitchFamily="34" charset="-120"/>
              </a:rPr>
              <a:t>約400億円規模の国内プレミアム猫用ドライフード市場は、当社が参入検討すべき高付加価値領域と判断する。</a:t>
            </a:r>
            <a:endParaRPr lang="en-US" sz="1700" dirty="0"/>
          </a:p>
        </p:txBody>
      </p:sp>
      <p:sp>
        <p:nvSpPr>
          <p:cNvPr id="5" name="Shape 3"/>
          <p:cNvSpPr/>
          <p:nvPr/>
        </p:nvSpPr>
        <p:spPr>
          <a:xfrm>
            <a:off x="960120" y="1298448"/>
            <a:ext cx="10789920" cy="0"/>
          </a:xfrm>
          <a:prstGeom prst="line">
            <a:avLst/>
          </a:prstGeom>
          <a:noFill/>
          <a:ln w="12700">
            <a:solidFill>
              <a:srgbClr val="D9DEE5"/>
            </a:solidFill>
            <a:prstDash val="solid"/>
          </a:ln>
        </p:spPr>
      </p:sp>
      <p:sp>
        <p:nvSpPr>
          <p:cNvPr id="6" name="Text 4"/>
          <p:cNvSpPr/>
          <p:nvPr/>
        </p:nvSpPr>
        <p:spPr>
          <a:xfrm>
            <a:off x="685800" y="1600200"/>
            <a:ext cx="109728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市場規模</a:t>
            </a:r>
            <a:endParaRPr lang="en-US" sz="1000" dirty="0"/>
          </a:p>
        </p:txBody>
      </p:sp>
      <p:sp>
        <p:nvSpPr>
          <p:cNvPr id="7" name="Shape 5"/>
          <p:cNvSpPr/>
          <p:nvPr/>
        </p:nvSpPr>
        <p:spPr>
          <a:xfrm>
            <a:off x="685800" y="1883664"/>
            <a:ext cx="1097280" cy="0"/>
          </a:xfrm>
          <a:prstGeom prst="line">
            <a:avLst/>
          </a:prstGeom>
          <a:noFill/>
          <a:ln w="16510">
            <a:solidFill>
              <a:srgbClr val="E9846D"/>
            </a:solidFill>
            <a:prstDash val="solid"/>
          </a:ln>
        </p:spPr>
      </p:sp>
      <p:sp>
        <p:nvSpPr>
          <p:cNvPr id="8" name="Shape 6"/>
          <p:cNvSpPr/>
          <p:nvPr/>
        </p:nvSpPr>
        <p:spPr>
          <a:xfrm>
            <a:off x="960120" y="2148840"/>
            <a:ext cx="5212080" cy="502920"/>
          </a:xfrm>
          <a:prstGeom prst="rect">
            <a:avLst/>
          </a:prstGeom>
          <a:solidFill>
            <a:srgbClr val="CFEDE7"/>
          </a:solidFill>
          <a:ln w="12700">
            <a:solidFill>
              <a:srgbClr val="CFEDE7">
                <a:alpha val="0"/>
              </a:srgbClr>
            </a:solidFill>
            <a:prstDash val="solid"/>
          </a:ln>
        </p:spPr>
      </p:sp>
      <p:sp>
        <p:nvSpPr>
          <p:cNvPr id="9" name="Text 7"/>
          <p:cNvSpPr/>
          <p:nvPr/>
        </p:nvSpPr>
        <p:spPr>
          <a:xfrm>
            <a:off x="2377440" y="1764792"/>
            <a:ext cx="3383280" cy="228600"/>
          </a:xfrm>
          <a:prstGeom prst="rect">
            <a:avLst/>
          </a:prstGeom>
          <a:noFill/>
          <a:ln/>
        </p:spPr>
        <p:txBody>
          <a:bodyPr wrap="square" lIns="0" tIns="0" rIns="0" bIns="0" rtlCol="0" anchor="ctr">
            <a:normAutofit/>
          </a:bodyPr>
          <a:lstStyle/>
          <a:p>
            <a:pPr algn="l" indent="0" marL="0">
              <a:buNone/>
            </a:pPr>
            <a:r>
              <a:rPr lang="en-US" sz="1400" b="1" dirty="0">
                <a:solidFill>
                  <a:srgbClr val="1D2D44"/>
                </a:solidFill>
                <a:latin typeface="Noto Sans CJK JP" pitchFamily="34" charset="0"/>
                <a:ea typeface="Noto Sans CJK JP" pitchFamily="34" charset="-122"/>
                <a:cs typeface="Noto Sans CJK JP" pitchFamily="34" charset="-120"/>
              </a:rPr>
              <a:t>国内ペットフード市場 約4,000億円</a:t>
            </a:r>
            <a:endParaRPr lang="en-US" sz="1400" dirty="0"/>
          </a:p>
        </p:txBody>
      </p:sp>
      <p:sp>
        <p:nvSpPr>
          <p:cNvPr id="10" name="Shape 8"/>
          <p:cNvSpPr/>
          <p:nvPr/>
        </p:nvSpPr>
        <p:spPr>
          <a:xfrm>
            <a:off x="960120" y="3063240"/>
            <a:ext cx="521208" cy="502920"/>
          </a:xfrm>
          <a:prstGeom prst="rect">
            <a:avLst/>
          </a:prstGeom>
          <a:solidFill>
            <a:srgbClr val="2E7D74"/>
          </a:solidFill>
          <a:ln w="12700">
            <a:solidFill>
              <a:srgbClr val="2E7D74">
                <a:alpha val="0"/>
              </a:srgbClr>
            </a:solidFill>
            <a:prstDash val="solid"/>
          </a:ln>
        </p:spPr>
      </p:sp>
      <p:sp>
        <p:nvSpPr>
          <p:cNvPr id="11" name="Text 9"/>
          <p:cNvSpPr/>
          <p:nvPr/>
        </p:nvSpPr>
        <p:spPr>
          <a:xfrm>
            <a:off x="1874520" y="3172968"/>
            <a:ext cx="3931920" cy="228600"/>
          </a:xfrm>
          <a:prstGeom prst="rect">
            <a:avLst/>
          </a:prstGeom>
          <a:noFill/>
          <a:ln/>
        </p:spPr>
        <p:txBody>
          <a:bodyPr wrap="square" lIns="0" tIns="0" rIns="0" bIns="0" rtlCol="0" anchor="ctr">
            <a:normAutofit/>
          </a:bodyPr>
          <a:lstStyle/>
          <a:p>
            <a:pPr algn="l" indent="0" marL="0">
              <a:buNone/>
            </a:pPr>
            <a:r>
              <a:rPr lang="en-US" sz="1400" b="1" dirty="0">
                <a:solidFill>
                  <a:srgbClr val="2E7D74"/>
                </a:solidFill>
                <a:latin typeface="Noto Sans CJK JP" pitchFamily="34" charset="0"/>
                <a:ea typeface="Noto Sans CJK JP" pitchFamily="34" charset="-122"/>
                <a:cs typeface="Noto Sans CJK JP" pitchFamily="34" charset="-120"/>
              </a:rPr>
              <a:t>プレミアム猫用ドライ 約400億円</a:t>
            </a:r>
            <a:endParaRPr lang="en-US" sz="1400" dirty="0"/>
          </a:p>
        </p:txBody>
      </p:sp>
      <p:sp>
        <p:nvSpPr>
          <p:cNvPr id="12" name="Text 10"/>
          <p:cNvSpPr/>
          <p:nvPr/>
        </p:nvSpPr>
        <p:spPr>
          <a:xfrm>
            <a:off x="960120" y="3758184"/>
            <a:ext cx="4754880" cy="274320"/>
          </a:xfrm>
          <a:prstGeom prst="rect">
            <a:avLst/>
          </a:prstGeom>
          <a:noFill/>
          <a:ln/>
        </p:spPr>
        <p:txBody>
          <a:bodyPr wrap="square" lIns="0" tIns="0" rIns="0" bIns="0" rtlCol="0" anchor="ctr">
            <a:normAutofit/>
          </a:bodyPr>
          <a:lstStyle/>
          <a:p>
            <a:pPr algn="l" indent="0" marL="0">
              <a:buNone/>
            </a:pPr>
            <a:r>
              <a:rPr lang="en-US" sz="1150" dirty="0">
                <a:solidFill>
                  <a:srgbClr val="5E6673"/>
                </a:solidFill>
                <a:latin typeface="Noto Sans CJK JP" pitchFamily="34" charset="0"/>
                <a:ea typeface="Noto Sans CJK JP" pitchFamily="34" charset="-122"/>
                <a:cs typeface="Noto Sans CJK JP" pitchFamily="34" charset="-120"/>
              </a:rPr>
              <a:t>税込1,200円以上をプレミアム帯として整理</a:t>
            </a:r>
            <a:endParaRPr lang="en-US" sz="1150" dirty="0"/>
          </a:p>
        </p:txBody>
      </p:sp>
      <p:sp>
        <p:nvSpPr>
          <p:cNvPr id="13" name="Text 11"/>
          <p:cNvSpPr/>
          <p:nvPr/>
        </p:nvSpPr>
        <p:spPr>
          <a:xfrm>
            <a:off x="6629400" y="1600200"/>
            <a:ext cx="146304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購買動機</a:t>
            </a:r>
            <a:endParaRPr lang="en-US" sz="1000" dirty="0"/>
          </a:p>
        </p:txBody>
      </p:sp>
      <p:sp>
        <p:nvSpPr>
          <p:cNvPr id="14" name="Shape 12"/>
          <p:cNvSpPr/>
          <p:nvPr/>
        </p:nvSpPr>
        <p:spPr>
          <a:xfrm>
            <a:off x="6629400" y="1883664"/>
            <a:ext cx="1463040" cy="0"/>
          </a:xfrm>
          <a:prstGeom prst="line">
            <a:avLst/>
          </a:prstGeom>
          <a:noFill/>
          <a:ln w="16510">
            <a:solidFill>
              <a:srgbClr val="E9846D"/>
            </a:solidFill>
            <a:prstDash val="solid"/>
          </a:ln>
        </p:spPr>
      </p:sp>
      <p:sp>
        <p:nvSpPr>
          <p:cNvPr id="15" name="Shape 13"/>
          <p:cNvSpPr/>
          <p:nvPr/>
        </p:nvSpPr>
        <p:spPr>
          <a:xfrm>
            <a:off x="7315200" y="2011680"/>
            <a:ext cx="1234440" cy="1234440"/>
          </a:xfrm>
          <a:prstGeom prst="ellipse">
            <a:avLst/>
          </a:prstGeom>
          <a:solidFill>
            <a:srgbClr val="F4D7D0"/>
          </a:solidFill>
          <a:ln w="12700">
            <a:solidFill>
              <a:srgbClr val="F4D7D0">
                <a:alpha val="0"/>
              </a:srgbClr>
            </a:solidFill>
            <a:prstDash val="solid"/>
          </a:ln>
        </p:spPr>
      </p:sp>
      <p:sp>
        <p:nvSpPr>
          <p:cNvPr id="16" name="Shape 14"/>
          <p:cNvSpPr/>
          <p:nvPr/>
        </p:nvSpPr>
        <p:spPr>
          <a:xfrm>
            <a:off x="7607808" y="2304288"/>
            <a:ext cx="640080" cy="640080"/>
          </a:xfrm>
          <a:prstGeom prst="ellipse">
            <a:avLst/>
          </a:prstGeom>
          <a:solidFill>
            <a:srgbClr val="F8F3E9"/>
          </a:solidFill>
          <a:ln w="12700">
            <a:solidFill>
              <a:srgbClr val="F8F3E9">
                <a:alpha val="0"/>
              </a:srgbClr>
            </a:solidFill>
            <a:prstDash val="solid"/>
          </a:ln>
        </p:spPr>
      </p:sp>
      <p:sp>
        <p:nvSpPr>
          <p:cNvPr id="17" name="Text 15"/>
          <p:cNvSpPr/>
          <p:nvPr/>
        </p:nvSpPr>
        <p:spPr>
          <a:xfrm>
            <a:off x="8823960" y="2286000"/>
            <a:ext cx="914400" cy="347472"/>
          </a:xfrm>
          <a:prstGeom prst="rect">
            <a:avLst/>
          </a:prstGeom>
          <a:noFill/>
          <a:ln/>
        </p:spPr>
        <p:txBody>
          <a:bodyPr wrap="square" lIns="0" tIns="0" rIns="0" bIns="0" rtlCol="0" anchor="ctr">
            <a:normAutofit/>
          </a:bodyPr>
          <a:lstStyle/>
          <a:p>
            <a:pPr algn="l" indent="0" marL="0">
              <a:buNone/>
            </a:pPr>
            <a:r>
              <a:rPr lang="en-US" sz="2800" b="1" dirty="0">
                <a:solidFill>
                  <a:srgbClr val="E9846D"/>
                </a:solidFill>
                <a:latin typeface="Noto Sans CJK JP" pitchFamily="34" charset="0"/>
                <a:ea typeface="Noto Sans CJK JP" pitchFamily="34" charset="-122"/>
                <a:cs typeface="Noto Sans CJK JP" pitchFamily="34" charset="-120"/>
              </a:rPr>
              <a:t>34%</a:t>
            </a:r>
            <a:endParaRPr lang="en-US" sz="2800" dirty="0"/>
          </a:p>
        </p:txBody>
      </p:sp>
      <p:sp>
        <p:nvSpPr>
          <p:cNvPr id="18" name="Text 16"/>
          <p:cNvSpPr/>
          <p:nvPr/>
        </p:nvSpPr>
        <p:spPr>
          <a:xfrm>
            <a:off x="8823960" y="2697480"/>
            <a:ext cx="2194560" cy="411480"/>
          </a:xfrm>
          <a:prstGeom prst="rect">
            <a:avLst/>
          </a:prstGeom>
          <a:noFill/>
          <a:ln/>
        </p:spPr>
        <p:txBody>
          <a:bodyPr wrap="square" lIns="0" tIns="0" rIns="0" bIns="0" rtlCol="0" anchor="ctr">
            <a:normAutofit/>
          </a:bodyPr>
          <a:lstStyle/>
          <a:p>
            <a:pPr algn="l" indent="0" marL="0">
              <a:buNone/>
            </a:pPr>
            <a:r>
              <a:rPr lang="en-US" sz="1260" dirty="0">
                <a:solidFill>
                  <a:srgbClr val="17202A"/>
                </a:solidFill>
                <a:latin typeface="Noto Sans CJK JP" pitchFamily="34" charset="0"/>
                <a:ea typeface="Noto Sans CJK JP" pitchFamily="34" charset="-122"/>
                <a:cs typeface="Noto Sans CJK JP" pitchFamily="34" charset="-120"/>
              </a:rPr>
              <a:t>原料の出所を個別に追えることを重視</a:t>
            </a:r>
            <a:endParaRPr lang="en-US" sz="1260" dirty="0"/>
          </a:p>
        </p:txBody>
      </p:sp>
      <p:sp>
        <p:nvSpPr>
          <p:cNvPr id="19" name="Text 17"/>
          <p:cNvSpPr/>
          <p:nvPr/>
        </p:nvSpPr>
        <p:spPr>
          <a:xfrm>
            <a:off x="685800" y="4572000"/>
            <a:ext cx="210312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グローバル原料市場</a:t>
            </a:r>
            <a:endParaRPr lang="en-US" sz="1000" dirty="0"/>
          </a:p>
        </p:txBody>
      </p:sp>
      <p:sp>
        <p:nvSpPr>
          <p:cNvPr id="20" name="Shape 18"/>
          <p:cNvSpPr/>
          <p:nvPr/>
        </p:nvSpPr>
        <p:spPr>
          <a:xfrm>
            <a:off x="685800" y="4855464"/>
            <a:ext cx="2103120" cy="0"/>
          </a:xfrm>
          <a:prstGeom prst="line">
            <a:avLst/>
          </a:prstGeom>
          <a:noFill/>
          <a:ln w="16510">
            <a:solidFill>
              <a:srgbClr val="E9846D"/>
            </a:solidFill>
            <a:prstDash val="solid"/>
          </a:ln>
        </p:spPr>
      </p:sp>
      <p:sp>
        <p:nvSpPr>
          <p:cNvPr id="21" name="Shape 19"/>
          <p:cNvSpPr/>
          <p:nvPr/>
        </p:nvSpPr>
        <p:spPr>
          <a:xfrm>
            <a:off x="960120" y="5715000"/>
            <a:ext cx="685800" cy="411480"/>
          </a:xfrm>
          <a:prstGeom prst="rect">
            <a:avLst/>
          </a:prstGeom>
          <a:solidFill>
            <a:srgbClr val="2A5D7C"/>
          </a:solidFill>
          <a:ln w="12700">
            <a:solidFill>
              <a:srgbClr val="2A5D7C">
                <a:alpha val="0"/>
              </a:srgbClr>
            </a:solidFill>
            <a:prstDash val="solid"/>
          </a:ln>
        </p:spPr>
      </p:sp>
      <p:sp>
        <p:nvSpPr>
          <p:cNvPr id="22" name="Text 20"/>
          <p:cNvSpPr/>
          <p:nvPr/>
        </p:nvSpPr>
        <p:spPr>
          <a:xfrm>
            <a:off x="1828800" y="5623560"/>
            <a:ext cx="1920240" cy="502920"/>
          </a:xfrm>
          <a:prstGeom prst="rect">
            <a:avLst/>
          </a:prstGeom>
          <a:noFill/>
          <a:ln/>
        </p:spPr>
        <p:txBody>
          <a:bodyPr wrap="square" lIns="0" tIns="0" rIns="0" bIns="0" rtlCol="0" anchor="ctr">
            <a:normAutofit/>
          </a:bodyPr>
          <a:lstStyle/>
          <a:p>
            <a:pPr algn="l" indent="0" marL="0">
              <a:buNone/>
            </a:pPr>
            <a:r>
              <a:rPr lang="en-US" sz="1020" dirty="0">
                <a:solidFill>
                  <a:srgbClr val="17202A"/>
                </a:solidFill>
                <a:latin typeface="Noto Sans CJK JP" pitchFamily="34" charset="0"/>
                <a:ea typeface="Noto Sans CJK JP" pitchFamily="34" charset="-122"/>
                <a:cs typeface="Noto Sans CJK JP" pitchFamily="34" charset="-120"/>
              </a:rPr>
              <a:t>2025年</a:t>
            </a:r>
            <a:endParaRPr lang="en-US" sz="1020" dirty="0"/>
          </a:p>
          <a:p>
            <a:pPr algn="l" indent="0" marL="0">
              <a:buNone/>
            </a:pPr>
            <a:r>
              <a:rPr lang="en-US" sz="1020" dirty="0">
                <a:solidFill>
                  <a:srgbClr val="17202A"/>
                </a:solidFill>
                <a:latin typeface="Noto Sans CJK JP" pitchFamily="34" charset="0"/>
                <a:ea typeface="Noto Sans CJK JP" pitchFamily="34" charset="-122"/>
                <a:cs typeface="Noto Sans CJK JP" pitchFamily="34" charset="-120"/>
              </a:rPr>
              <a:t>360〜378億米ドル</a:t>
            </a:r>
            <a:endParaRPr lang="en-US" sz="1020" dirty="0"/>
          </a:p>
        </p:txBody>
      </p:sp>
      <p:sp>
        <p:nvSpPr>
          <p:cNvPr id="23" name="Shape 21"/>
          <p:cNvSpPr/>
          <p:nvPr/>
        </p:nvSpPr>
        <p:spPr>
          <a:xfrm>
            <a:off x="3749040" y="5504688"/>
            <a:ext cx="685800" cy="621792"/>
          </a:xfrm>
          <a:prstGeom prst="rect">
            <a:avLst/>
          </a:prstGeom>
          <a:solidFill>
            <a:srgbClr val="2E7D74"/>
          </a:solidFill>
          <a:ln w="12700">
            <a:solidFill>
              <a:srgbClr val="2E7D74">
                <a:alpha val="0"/>
              </a:srgbClr>
            </a:solidFill>
            <a:prstDash val="solid"/>
          </a:ln>
        </p:spPr>
      </p:sp>
      <p:sp>
        <p:nvSpPr>
          <p:cNvPr id="24" name="Text 22"/>
          <p:cNvSpPr/>
          <p:nvPr/>
        </p:nvSpPr>
        <p:spPr>
          <a:xfrm>
            <a:off x="4617720" y="5513832"/>
            <a:ext cx="1920240" cy="502920"/>
          </a:xfrm>
          <a:prstGeom prst="rect">
            <a:avLst/>
          </a:prstGeom>
          <a:noFill/>
          <a:ln/>
        </p:spPr>
        <p:txBody>
          <a:bodyPr wrap="square" lIns="0" tIns="0" rIns="0" bIns="0" rtlCol="0" anchor="ctr">
            <a:normAutofit/>
          </a:bodyPr>
          <a:lstStyle/>
          <a:p>
            <a:pPr algn="l" indent="0" marL="0">
              <a:buNone/>
            </a:pPr>
            <a:r>
              <a:rPr lang="en-US" sz="1020" dirty="0">
                <a:solidFill>
                  <a:srgbClr val="17202A"/>
                </a:solidFill>
                <a:latin typeface="Noto Sans CJK JP" pitchFamily="34" charset="0"/>
                <a:ea typeface="Noto Sans CJK JP" pitchFamily="34" charset="-122"/>
                <a:cs typeface="Noto Sans CJK JP" pitchFamily="34" charset="-120"/>
              </a:rPr>
              <a:t>2026年</a:t>
            </a:r>
            <a:endParaRPr lang="en-US" sz="1020" dirty="0"/>
          </a:p>
          <a:p>
            <a:pPr algn="l" indent="0" marL="0">
              <a:buNone/>
            </a:pPr>
            <a:r>
              <a:rPr lang="en-US" sz="1020" dirty="0">
                <a:solidFill>
                  <a:srgbClr val="17202A"/>
                </a:solidFill>
                <a:latin typeface="Noto Sans CJK JP" pitchFamily="34" charset="0"/>
                <a:ea typeface="Noto Sans CJK JP" pitchFamily="34" charset="-122"/>
                <a:cs typeface="Noto Sans CJK JP" pitchFamily="34" charset="-120"/>
              </a:rPr>
              <a:t>384〜398億米ドル</a:t>
            </a:r>
            <a:endParaRPr lang="en-US" sz="1020" dirty="0"/>
          </a:p>
        </p:txBody>
      </p:sp>
      <p:sp>
        <p:nvSpPr>
          <p:cNvPr id="25" name="Shape 23"/>
          <p:cNvSpPr/>
          <p:nvPr/>
        </p:nvSpPr>
        <p:spPr>
          <a:xfrm>
            <a:off x="6537960" y="5120640"/>
            <a:ext cx="685800" cy="1005840"/>
          </a:xfrm>
          <a:prstGeom prst="rect">
            <a:avLst/>
          </a:prstGeom>
          <a:solidFill>
            <a:srgbClr val="E9846D"/>
          </a:solidFill>
          <a:ln w="12700">
            <a:solidFill>
              <a:srgbClr val="E9846D">
                <a:alpha val="0"/>
              </a:srgbClr>
            </a:solidFill>
            <a:prstDash val="solid"/>
          </a:ln>
        </p:spPr>
      </p:sp>
      <p:sp>
        <p:nvSpPr>
          <p:cNvPr id="26" name="Text 24"/>
          <p:cNvSpPr/>
          <p:nvPr/>
        </p:nvSpPr>
        <p:spPr>
          <a:xfrm>
            <a:off x="7406640" y="5321808"/>
            <a:ext cx="1920240" cy="502920"/>
          </a:xfrm>
          <a:prstGeom prst="rect">
            <a:avLst/>
          </a:prstGeom>
          <a:noFill/>
          <a:ln/>
        </p:spPr>
        <p:txBody>
          <a:bodyPr wrap="square" lIns="0" tIns="0" rIns="0" bIns="0" rtlCol="0" anchor="ctr">
            <a:normAutofit/>
          </a:bodyPr>
          <a:lstStyle/>
          <a:p>
            <a:pPr algn="l" indent="0" marL="0">
              <a:buNone/>
            </a:pPr>
            <a:r>
              <a:rPr lang="en-US" sz="1020" dirty="0">
                <a:solidFill>
                  <a:srgbClr val="17202A"/>
                </a:solidFill>
                <a:latin typeface="Noto Sans CJK JP" pitchFamily="34" charset="0"/>
                <a:ea typeface="Noto Sans CJK JP" pitchFamily="34" charset="-122"/>
                <a:cs typeface="Noto Sans CJK JP" pitchFamily="34" charset="-120"/>
              </a:rPr>
              <a:t>2035年</a:t>
            </a:r>
            <a:endParaRPr lang="en-US" sz="1020" dirty="0"/>
          </a:p>
          <a:p>
            <a:pPr algn="l" indent="0" marL="0">
              <a:buNone/>
            </a:pPr>
            <a:r>
              <a:rPr lang="en-US" sz="1020" dirty="0">
                <a:solidFill>
                  <a:srgbClr val="17202A"/>
                </a:solidFill>
                <a:latin typeface="Noto Sans CJK JP" pitchFamily="34" charset="0"/>
                <a:ea typeface="Noto Sans CJK JP" pitchFamily="34" charset="-122"/>
                <a:cs typeface="Noto Sans CJK JP" pitchFamily="34" charset="-120"/>
              </a:rPr>
              <a:t>645億米ドル見込み</a:t>
            </a:r>
            <a:endParaRPr lang="en-US" sz="1020" dirty="0"/>
          </a:p>
        </p:txBody>
      </p:sp>
      <p:sp>
        <p:nvSpPr>
          <p:cNvPr id="27" name="Shape 25"/>
          <p:cNvSpPr/>
          <p:nvPr/>
        </p:nvSpPr>
        <p:spPr>
          <a:xfrm>
            <a:off x="1298448" y="5303520"/>
            <a:ext cx="5559552" cy="-109728"/>
          </a:xfrm>
          <a:prstGeom prst="line">
            <a:avLst/>
          </a:prstGeom>
          <a:noFill/>
          <a:ln w="19050">
            <a:solidFill>
              <a:srgbClr val="D9DEE5"/>
            </a:solidFill>
            <a:prstDash val="solid"/>
            <a:headEnd type="none"/>
            <a:tailEnd type="triangle"/>
          </a:ln>
        </p:spPr>
      </p:sp>
      <p:sp>
        <p:nvSpPr>
          <p:cNvPr id="28" name="Text 26"/>
          <p:cNvSpPr/>
          <p:nvPr/>
        </p:nvSpPr>
        <p:spPr>
          <a:xfrm>
            <a:off x="457200" y="6537960"/>
            <a:ext cx="5486400" cy="182880"/>
          </a:xfrm>
          <a:prstGeom prst="rect">
            <a:avLst/>
          </a:prstGeom>
          <a:noFill/>
          <a:ln/>
        </p:spPr>
        <p:txBody>
          <a:bodyPr wrap="square" lIns="0" tIns="0" rIns="0" bIns="0" rtlCol="0" anchor="ctr">
            <a:normAutofit/>
          </a:bodyPr>
          <a:lstStyle/>
          <a:p>
            <a:pPr algn="l" indent="0" marL="0">
              <a:buNone/>
            </a:pPr>
            <a:r>
              <a:rPr lang="en-US" sz="780" dirty="0">
                <a:solidFill>
                  <a:srgbClr val="5E6673"/>
                </a:solidFill>
                <a:latin typeface="Noto Sans CJK JP" pitchFamily="34" charset="0"/>
                <a:ea typeface="Noto Sans CJK JP" pitchFamily="34" charset="-122"/>
                <a:cs typeface="Noto Sans CJK JP" pitchFamily="34" charset="-120"/>
              </a:rPr>
              <a:t>出所: 提供資料に基づく構成</a:t>
            </a:r>
            <a:endParaRPr lang="en-US" sz="780" dirty="0"/>
          </a:p>
        </p:txBody>
      </p:sp>
      <p:sp>
        <p:nvSpPr>
          <p:cNvPr id="29" name="Text 27"/>
          <p:cNvSpPr/>
          <p:nvPr/>
        </p:nvSpPr>
        <p:spPr>
          <a:xfrm>
            <a:off x="8869680" y="6537960"/>
            <a:ext cx="2834640" cy="182880"/>
          </a:xfrm>
          <a:prstGeom prst="rect">
            <a:avLst/>
          </a:prstGeom>
          <a:noFill/>
          <a:ln/>
        </p:spPr>
        <p:txBody>
          <a:bodyPr wrap="square" lIns="0" tIns="0" rIns="0" bIns="0" rtlCol="0" anchor="ctr">
            <a:normAutofit/>
          </a:bodyPr>
          <a:lstStyle/>
          <a:p>
            <a:pPr algn="r" indent="0" marL="0">
              <a:buNone/>
            </a:pPr>
            <a:r>
              <a:rPr lang="en-US" sz="780" dirty="0">
                <a:solidFill>
                  <a:srgbClr val="5E6673"/>
                </a:solidFill>
                <a:latin typeface="Noto Sans CJK JP" pitchFamily="34" charset="0"/>
                <a:ea typeface="Noto Sans CJK JP" pitchFamily="34" charset="-122"/>
                <a:cs typeface="Noto Sans CJK JP" pitchFamily="34" charset="-120"/>
              </a:rPr>
              <a:t>ごろにゃんプレミアム 事業承認提案</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3E9"/>
        </a:solidFill>
      </p:bgPr>
    </p:bg>
    <p:spTree>
      <p:nvGrpSpPr>
        <p:cNvPr id="1" name=""/>
        <p:cNvGrpSpPr/>
        <p:nvPr/>
      </p:nvGrpSpPr>
      <p:grpSpPr>
        <a:xfrm>
          <a:off x="0" y="0"/>
          <a:ext cx="0" cy="0"/>
          <a:chOff x="0" y="0"/>
          <a:chExt cx="0" cy="0"/>
        </a:xfrm>
      </p:grpSpPr>
      <p:sp>
        <p:nvSpPr>
          <p:cNvPr id="2" name="Text 0"/>
          <p:cNvSpPr/>
          <p:nvPr/>
        </p:nvSpPr>
        <p:spPr>
          <a:xfrm>
            <a:off x="411480" y="310896"/>
            <a:ext cx="548640" cy="274320"/>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04</a:t>
            </a:r>
            <a:endParaRPr lang="en-US" sz="1000" dirty="0"/>
          </a:p>
        </p:txBody>
      </p:sp>
      <p:sp>
        <p:nvSpPr>
          <p:cNvPr id="3" name="Text 1"/>
          <p:cNvSpPr/>
          <p:nvPr/>
        </p:nvSpPr>
        <p:spPr>
          <a:xfrm>
            <a:off x="960120" y="164592"/>
            <a:ext cx="6035040" cy="438912"/>
          </a:xfrm>
          <a:prstGeom prst="rect">
            <a:avLst/>
          </a:prstGeom>
          <a:noFill/>
          <a:ln/>
        </p:spPr>
        <p:txBody>
          <a:bodyPr wrap="square" lIns="0" tIns="0" rIns="0" bIns="0" rtlCol="0" anchor="ctr">
            <a:normAutofit/>
          </a:bodyPr>
          <a:lstStyle/>
          <a:p>
            <a:pPr algn="l" indent="0" marL="0">
              <a:buNone/>
            </a:pPr>
            <a:r>
              <a:rPr lang="en-US" sz="2600" b="1" dirty="0">
                <a:solidFill>
                  <a:srgbClr val="1D2D44"/>
                </a:solidFill>
                <a:latin typeface="Noto Sans CJK JP" pitchFamily="34" charset="0"/>
                <a:ea typeface="Noto Sans CJK JP" pitchFamily="34" charset="-122"/>
                <a:cs typeface="Noto Sans CJK JP" pitchFamily="34" charset="-120"/>
              </a:rPr>
              <a:t>競合構造</a:t>
            </a:r>
            <a:endParaRPr lang="en-US" sz="2600" dirty="0"/>
          </a:p>
        </p:txBody>
      </p:sp>
      <p:sp>
        <p:nvSpPr>
          <p:cNvPr id="4" name="Text 2"/>
          <p:cNvSpPr/>
          <p:nvPr/>
        </p:nvSpPr>
        <p:spPr>
          <a:xfrm>
            <a:off x="960120" y="685800"/>
            <a:ext cx="9738360" cy="512064"/>
          </a:xfrm>
          <a:prstGeom prst="rect">
            <a:avLst/>
          </a:prstGeom>
          <a:noFill/>
          <a:ln/>
        </p:spPr>
        <p:txBody>
          <a:bodyPr wrap="square" lIns="0" tIns="0" rIns="0" bIns="0" rtlCol="0" anchor="ctr">
            <a:normAutofit/>
          </a:bodyPr>
          <a:lstStyle/>
          <a:p>
            <a:pPr algn="l" indent="0" marL="0">
              <a:buNone/>
            </a:pPr>
            <a:r>
              <a:rPr lang="en-US" sz="1700" b="1" dirty="0">
                <a:solidFill>
                  <a:srgbClr val="17202A"/>
                </a:solidFill>
                <a:latin typeface="Noto Sans CJK JP" pitchFamily="34" charset="0"/>
                <a:ea typeface="Noto Sans CJK JP" pitchFamily="34" charset="-122"/>
                <a:cs typeface="Noto Sans CJK JP" pitchFamily="34" charset="-120"/>
              </a:rPr>
              <a:t>競合は「機能性特化」と「自然派・ミールフリー」に分かれており、当社は第三の体験型ポジションを取るべきと判断する。</a:t>
            </a:r>
            <a:endParaRPr lang="en-US" sz="1700" dirty="0"/>
          </a:p>
        </p:txBody>
      </p:sp>
      <p:sp>
        <p:nvSpPr>
          <p:cNvPr id="5" name="Shape 3"/>
          <p:cNvSpPr/>
          <p:nvPr/>
        </p:nvSpPr>
        <p:spPr>
          <a:xfrm>
            <a:off x="960120" y="1298448"/>
            <a:ext cx="10789920" cy="0"/>
          </a:xfrm>
          <a:prstGeom prst="line">
            <a:avLst/>
          </a:prstGeom>
          <a:noFill/>
          <a:ln w="12700">
            <a:solidFill>
              <a:srgbClr val="D9DEE5"/>
            </a:solidFill>
            <a:prstDash val="solid"/>
          </a:ln>
        </p:spPr>
      </p:sp>
      <p:sp>
        <p:nvSpPr>
          <p:cNvPr id="6" name="Text 4"/>
          <p:cNvSpPr/>
          <p:nvPr/>
        </p:nvSpPr>
        <p:spPr>
          <a:xfrm>
            <a:off x="685800" y="1508760"/>
            <a:ext cx="201168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競合ポジショニング</a:t>
            </a:r>
            <a:endParaRPr lang="en-US" sz="1000" dirty="0"/>
          </a:p>
        </p:txBody>
      </p:sp>
      <p:sp>
        <p:nvSpPr>
          <p:cNvPr id="7" name="Shape 5"/>
          <p:cNvSpPr/>
          <p:nvPr/>
        </p:nvSpPr>
        <p:spPr>
          <a:xfrm>
            <a:off x="685800" y="1792224"/>
            <a:ext cx="2011680" cy="0"/>
          </a:xfrm>
          <a:prstGeom prst="line">
            <a:avLst/>
          </a:prstGeom>
          <a:noFill/>
          <a:ln w="16510">
            <a:solidFill>
              <a:srgbClr val="E9846D"/>
            </a:solidFill>
            <a:prstDash val="solid"/>
          </a:ln>
        </p:spPr>
      </p:sp>
      <p:sp>
        <p:nvSpPr>
          <p:cNvPr id="8" name="Shape 6"/>
          <p:cNvSpPr/>
          <p:nvPr/>
        </p:nvSpPr>
        <p:spPr>
          <a:xfrm>
            <a:off x="1143000" y="5440680"/>
            <a:ext cx="5486400" cy="0"/>
          </a:xfrm>
          <a:prstGeom prst="line">
            <a:avLst/>
          </a:prstGeom>
          <a:noFill/>
          <a:ln w="15240">
            <a:solidFill>
              <a:srgbClr val="5E6673"/>
            </a:solidFill>
            <a:prstDash val="solid"/>
            <a:headEnd type="none"/>
            <a:tailEnd type="triangle"/>
          </a:ln>
        </p:spPr>
      </p:sp>
      <p:sp>
        <p:nvSpPr>
          <p:cNvPr id="9" name="Shape 7"/>
          <p:cNvSpPr/>
          <p:nvPr/>
        </p:nvSpPr>
        <p:spPr>
          <a:xfrm>
            <a:off x="1143000" y="5440680"/>
            <a:ext cx="0" cy="-3566160"/>
          </a:xfrm>
          <a:prstGeom prst="line">
            <a:avLst/>
          </a:prstGeom>
          <a:noFill/>
          <a:ln w="15240">
            <a:solidFill>
              <a:srgbClr val="5E6673"/>
            </a:solidFill>
            <a:prstDash val="solid"/>
            <a:headEnd type="none"/>
            <a:tailEnd type="triangle"/>
          </a:ln>
        </p:spPr>
      </p:sp>
      <p:sp>
        <p:nvSpPr>
          <p:cNvPr id="10" name="Text 8"/>
          <p:cNvSpPr/>
          <p:nvPr/>
        </p:nvSpPr>
        <p:spPr>
          <a:xfrm>
            <a:off x="4160520" y="5733288"/>
            <a:ext cx="2286000" cy="219456"/>
          </a:xfrm>
          <a:prstGeom prst="rect">
            <a:avLst/>
          </a:prstGeom>
          <a:noFill/>
          <a:ln/>
        </p:spPr>
        <p:txBody>
          <a:bodyPr wrap="square" lIns="0" tIns="0" rIns="0" bIns="0" rtlCol="0" anchor="ctr">
            <a:normAutofit/>
          </a:bodyPr>
          <a:lstStyle/>
          <a:p>
            <a:pPr algn="ctr" indent="0" marL="0">
              <a:buNone/>
            </a:pPr>
            <a:r>
              <a:rPr lang="en-US" sz="1050" dirty="0">
                <a:solidFill>
                  <a:srgbClr val="5E6673"/>
                </a:solidFill>
                <a:latin typeface="Noto Sans CJK JP" pitchFamily="34" charset="0"/>
                <a:ea typeface="Noto Sans CJK JP" pitchFamily="34" charset="-122"/>
                <a:cs typeface="Noto Sans CJK JP" pitchFamily="34" charset="-120"/>
              </a:rPr>
              <a:t>自然派・ミールフリー</a:t>
            </a:r>
            <a:endParaRPr lang="en-US" sz="1050" dirty="0"/>
          </a:p>
        </p:txBody>
      </p:sp>
      <p:sp>
        <p:nvSpPr>
          <p:cNvPr id="11" name="Text 9"/>
          <p:cNvSpPr/>
          <p:nvPr/>
        </p:nvSpPr>
        <p:spPr>
          <a:xfrm rot="16200000">
            <a:off x="393192" y="2514600"/>
            <a:ext cx="292608" cy="1645920"/>
          </a:xfrm>
          <a:prstGeom prst="rect">
            <a:avLst/>
          </a:prstGeom>
          <a:noFill/>
          <a:ln/>
        </p:spPr>
        <p:txBody>
          <a:bodyPr wrap="square" lIns="0" tIns="0" rIns="0" bIns="0" rtlCol="0" anchor="ctr">
            <a:normAutofit/>
          </a:bodyPr>
          <a:lstStyle/>
          <a:p>
            <a:pPr algn="ctr" indent="0" marL="0">
              <a:buNone/>
            </a:pPr>
            <a:r>
              <a:rPr lang="en-US" sz="1050" dirty="0">
                <a:solidFill>
                  <a:srgbClr val="5E6673"/>
                </a:solidFill>
                <a:latin typeface="Noto Sans CJK JP" pitchFamily="34" charset="0"/>
                <a:ea typeface="Noto Sans CJK JP" pitchFamily="34" charset="-122"/>
                <a:cs typeface="Noto Sans CJK JP" pitchFamily="34" charset="-120"/>
              </a:rPr>
              <a:t>機能性・獣医療</a:t>
            </a:r>
            <a:endParaRPr lang="en-US" sz="1050" dirty="0"/>
          </a:p>
        </p:txBody>
      </p:sp>
      <p:sp>
        <p:nvSpPr>
          <p:cNvPr id="12" name="Shape 10"/>
          <p:cNvSpPr/>
          <p:nvPr/>
        </p:nvSpPr>
        <p:spPr>
          <a:xfrm>
            <a:off x="3886200" y="1984248"/>
            <a:ext cx="0" cy="3410712"/>
          </a:xfrm>
          <a:prstGeom prst="line">
            <a:avLst/>
          </a:prstGeom>
          <a:noFill/>
          <a:ln w="10160">
            <a:solidFill>
              <a:srgbClr val="D9DEE5"/>
            </a:solidFill>
            <a:prstDash val="solid"/>
            <a:headEnd type="none"/>
            <a:tailEnd type="none"/>
          </a:ln>
        </p:spPr>
      </p:sp>
      <p:sp>
        <p:nvSpPr>
          <p:cNvPr id="13" name="Shape 11"/>
          <p:cNvSpPr/>
          <p:nvPr/>
        </p:nvSpPr>
        <p:spPr>
          <a:xfrm>
            <a:off x="1252728" y="3657600"/>
            <a:ext cx="5330952" cy="0"/>
          </a:xfrm>
          <a:prstGeom prst="line">
            <a:avLst/>
          </a:prstGeom>
          <a:noFill/>
          <a:ln w="10160">
            <a:solidFill>
              <a:srgbClr val="D9DEE5"/>
            </a:solidFill>
            <a:prstDash val="solid"/>
            <a:headEnd type="none"/>
            <a:tailEnd type="none"/>
          </a:ln>
        </p:spPr>
      </p:sp>
      <p:sp>
        <p:nvSpPr>
          <p:cNvPr id="14" name="Shape 12"/>
          <p:cNvSpPr/>
          <p:nvPr/>
        </p:nvSpPr>
        <p:spPr>
          <a:xfrm>
            <a:off x="2468880" y="2514600"/>
            <a:ext cx="164592" cy="164592"/>
          </a:xfrm>
          <a:prstGeom prst="ellipse">
            <a:avLst/>
          </a:prstGeom>
          <a:solidFill>
            <a:srgbClr val="2A5D7C"/>
          </a:solidFill>
          <a:ln w="12700">
            <a:solidFill>
              <a:srgbClr val="2A5D7C">
                <a:alpha val="0"/>
              </a:srgbClr>
            </a:solidFill>
            <a:prstDash val="solid"/>
          </a:ln>
        </p:spPr>
      </p:sp>
      <p:sp>
        <p:nvSpPr>
          <p:cNvPr id="15" name="Text 13"/>
          <p:cNvSpPr/>
          <p:nvPr/>
        </p:nvSpPr>
        <p:spPr>
          <a:xfrm>
            <a:off x="2724912" y="2414016"/>
            <a:ext cx="1325880" cy="384048"/>
          </a:xfrm>
          <a:prstGeom prst="rect">
            <a:avLst/>
          </a:prstGeom>
          <a:noFill/>
          <a:ln/>
        </p:spPr>
        <p:txBody>
          <a:bodyPr wrap="square" lIns="0" tIns="0" rIns="0" bIns="0" rtlCol="0" anchor="ctr">
            <a:normAutofit/>
          </a:bodyPr>
          <a:lstStyle/>
          <a:p>
            <a:pPr algn="l" indent="0" marL="0">
              <a:buNone/>
            </a:pPr>
            <a:r>
              <a:rPr lang="en-US" sz="930" b="1" dirty="0">
                <a:solidFill>
                  <a:srgbClr val="2A5D7C"/>
                </a:solidFill>
                <a:latin typeface="Noto Sans CJK JP" pitchFamily="34" charset="0"/>
                <a:ea typeface="Noto Sans CJK JP" pitchFamily="34" charset="-122"/>
                <a:cs typeface="Noto Sans CJK JP" pitchFamily="34" charset="-120"/>
              </a:rPr>
              <a:t>ロイヤルカナン</a:t>
            </a:r>
            <a:endParaRPr lang="en-US" sz="930" dirty="0"/>
          </a:p>
          <a:p>
            <a:pPr algn="l" indent="0" marL="0">
              <a:buNone/>
            </a:pPr>
            <a:r>
              <a:rPr lang="en-US" sz="930" b="1" dirty="0">
                <a:solidFill>
                  <a:srgbClr val="2A5D7C"/>
                </a:solidFill>
                <a:latin typeface="Noto Sans CJK JP" pitchFamily="34" charset="0"/>
                <a:ea typeface="Noto Sans CJK JP" pitchFamily="34" charset="-122"/>
                <a:cs typeface="Noto Sans CJK JP" pitchFamily="34" charset="-120"/>
              </a:rPr>
              <a:t>シニア/療法</a:t>
            </a:r>
            <a:endParaRPr lang="en-US" sz="930" dirty="0"/>
          </a:p>
        </p:txBody>
      </p:sp>
      <p:sp>
        <p:nvSpPr>
          <p:cNvPr id="16" name="Shape 14"/>
          <p:cNvSpPr/>
          <p:nvPr/>
        </p:nvSpPr>
        <p:spPr>
          <a:xfrm>
            <a:off x="3063240" y="3017520"/>
            <a:ext cx="164592" cy="164592"/>
          </a:xfrm>
          <a:prstGeom prst="ellipse">
            <a:avLst/>
          </a:prstGeom>
          <a:solidFill>
            <a:srgbClr val="2E7D74"/>
          </a:solidFill>
          <a:ln w="12700">
            <a:solidFill>
              <a:srgbClr val="2E7D74">
                <a:alpha val="0"/>
              </a:srgbClr>
            </a:solidFill>
            <a:prstDash val="solid"/>
          </a:ln>
        </p:spPr>
      </p:sp>
      <p:sp>
        <p:nvSpPr>
          <p:cNvPr id="17" name="Text 15"/>
          <p:cNvSpPr/>
          <p:nvPr/>
        </p:nvSpPr>
        <p:spPr>
          <a:xfrm>
            <a:off x="3319272" y="2916936"/>
            <a:ext cx="1325880" cy="384048"/>
          </a:xfrm>
          <a:prstGeom prst="rect">
            <a:avLst/>
          </a:prstGeom>
          <a:noFill/>
          <a:ln/>
        </p:spPr>
        <p:txBody>
          <a:bodyPr wrap="square" lIns="0" tIns="0" rIns="0" bIns="0" rtlCol="0" anchor="ctr">
            <a:normAutofit/>
          </a:bodyPr>
          <a:lstStyle/>
          <a:p>
            <a:pPr algn="l" indent="0" marL="0">
              <a:buNone/>
            </a:pPr>
            <a:r>
              <a:rPr lang="en-US" sz="930" b="1" dirty="0">
                <a:solidFill>
                  <a:srgbClr val="2E7D74"/>
                </a:solidFill>
                <a:latin typeface="Noto Sans CJK JP" pitchFamily="34" charset="0"/>
                <a:ea typeface="Noto Sans CJK JP" pitchFamily="34" charset="-122"/>
                <a:cs typeface="Noto Sans CJK JP" pitchFamily="34" charset="-120"/>
              </a:rPr>
              <a:t>Unique One</a:t>
            </a:r>
            <a:endParaRPr lang="en-US" sz="930" dirty="0"/>
          </a:p>
          <a:p>
            <a:pPr algn="l" indent="0" marL="0">
              <a:buNone/>
            </a:pPr>
            <a:r>
              <a:rPr lang="en-US" sz="930" b="1" dirty="0">
                <a:solidFill>
                  <a:srgbClr val="2E7D74"/>
                </a:solidFill>
                <a:latin typeface="Noto Sans CJK JP" pitchFamily="34" charset="0"/>
                <a:ea typeface="Noto Sans CJK JP" pitchFamily="34" charset="-122"/>
                <a:cs typeface="Noto Sans CJK JP" pitchFamily="34" charset="-120"/>
              </a:rPr>
              <a:t>腸内フローラ</a:t>
            </a:r>
            <a:endParaRPr lang="en-US" sz="930" dirty="0"/>
          </a:p>
        </p:txBody>
      </p:sp>
      <p:sp>
        <p:nvSpPr>
          <p:cNvPr id="18" name="Shape 16"/>
          <p:cNvSpPr/>
          <p:nvPr/>
        </p:nvSpPr>
        <p:spPr>
          <a:xfrm>
            <a:off x="5303520" y="4023360"/>
            <a:ext cx="164592" cy="164592"/>
          </a:xfrm>
          <a:prstGeom prst="ellipse">
            <a:avLst/>
          </a:prstGeom>
          <a:solidFill>
            <a:srgbClr val="F1AE72"/>
          </a:solidFill>
          <a:ln w="12700">
            <a:solidFill>
              <a:srgbClr val="F1AE72">
                <a:alpha val="0"/>
              </a:srgbClr>
            </a:solidFill>
            <a:prstDash val="solid"/>
          </a:ln>
        </p:spPr>
      </p:sp>
      <p:sp>
        <p:nvSpPr>
          <p:cNvPr id="19" name="Text 17"/>
          <p:cNvSpPr/>
          <p:nvPr/>
        </p:nvSpPr>
        <p:spPr>
          <a:xfrm>
            <a:off x="5559552" y="3922776"/>
            <a:ext cx="1325880" cy="384048"/>
          </a:xfrm>
          <a:prstGeom prst="rect">
            <a:avLst/>
          </a:prstGeom>
          <a:noFill/>
          <a:ln/>
        </p:spPr>
        <p:txBody>
          <a:bodyPr wrap="square" lIns="0" tIns="0" rIns="0" bIns="0" rtlCol="0" anchor="ctr">
            <a:normAutofit/>
          </a:bodyPr>
          <a:lstStyle/>
          <a:p>
            <a:pPr algn="l" indent="0" marL="0">
              <a:buNone/>
            </a:pPr>
            <a:r>
              <a:rPr lang="en-US" sz="930" b="1" dirty="0">
                <a:solidFill>
                  <a:srgbClr val="F1AE72"/>
                </a:solidFill>
                <a:latin typeface="Noto Sans CJK JP" pitchFamily="34" charset="0"/>
                <a:ea typeface="Noto Sans CJK JP" pitchFamily="34" charset="-122"/>
                <a:cs typeface="Noto Sans CJK JP" pitchFamily="34" charset="-120"/>
              </a:rPr>
              <a:t>Orijen/Acana</a:t>
            </a:r>
            <a:endParaRPr lang="en-US" sz="930" dirty="0"/>
          </a:p>
          <a:p>
            <a:pPr algn="l" indent="0" marL="0">
              <a:buNone/>
            </a:pPr>
            <a:r>
              <a:rPr lang="en-US" sz="930" b="1" dirty="0">
                <a:solidFill>
                  <a:srgbClr val="F1AE72"/>
                </a:solidFill>
                <a:latin typeface="Noto Sans CJK JP" pitchFamily="34" charset="0"/>
                <a:ea typeface="Noto Sans CJK JP" pitchFamily="34" charset="-122"/>
                <a:cs typeface="Noto Sans CJK JP" pitchFamily="34" charset="-120"/>
              </a:rPr>
              <a:t>ホールプレイ</a:t>
            </a:r>
            <a:endParaRPr lang="en-US" sz="930" dirty="0"/>
          </a:p>
        </p:txBody>
      </p:sp>
      <p:sp>
        <p:nvSpPr>
          <p:cNvPr id="20" name="Shape 18"/>
          <p:cNvSpPr/>
          <p:nvPr/>
        </p:nvSpPr>
        <p:spPr>
          <a:xfrm>
            <a:off x="5715000" y="4617720"/>
            <a:ext cx="164592" cy="164592"/>
          </a:xfrm>
          <a:prstGeom prst="ellipse">
            <a:avLst/>
          </a:prstGeom>
          <a:solidFill>
            <a:srgbClr val="E9846D"/>
          </a:solidFill>
          <a:ln w="12700">
            <a:solidFill>
              <a:srgbClr val="E9846D">
                <a:alpha val="0"/>
              </a:srgbClr>
            </a:solidFill>
            <a:prstDash val="solid"/>
          </a:ln>
        </p:spPr>
      </p:sp>
      <p:sp>
        <p:nvSpPr>
          <p:cNvPr id="21" name="Text 19"/>
          <p:cNvSpPr/>
          <p:nvPr/>
        </p:nvSpPr>
        <p:spPr>
          <a:xfrm>
            <a:off x="5971032" y="4517136"/>
            <a:ext cx="1325880" cy="384048"/>
          </a:xfrm>
          <a:prstGeom prst="rect">
            <a:avLst/>
          </a:prstGeom>
          <a:noFill/>
          <a:ln/>
        </p:spPr>
        <p:txBody>
          <a:bodyPr wrap="square" lIns="0" tIns="0" rIns="0" bIns="0" rtlCol="0" anchor="ctr">
            <a:normAutofit/>
          </a:bodyPr>
          <a:lstStyle/>
          <a:p>
            <a:pPr algn="l" indent="0" marL="0">
              <a:buNone/>
            </a:pPr>
            <a:r>
              <a:rPr lang="en-US" sz="930" b="1" dirty="0">
                <a:solidFill>
                  <a:srgbClr val="E9846D"/>
                </a:solidFill>
                <a:latin typeface="Noto Sans CJK JP" pitchFamily="34" charset="0"/>
                <a:ea typeface="Noto Sans CJK JP" pitchFamily="34" charset="-122"/>
                <a:cs typeface="Noto Sans CJK JP" pitchFamily="34" charset="-120"/>
              </a:rPr>
              <a:t>tama / GO!</a:t>
            </a:r>
            <a:endParaRPr lang="en-US" sz="930" dirty="0"/>
          </a:p>
          <a:p>
            <a:pPr algn="l" indent="0" marL="0">
              <a:buNone/>
            </a:pPr>
            <a:r>
              <a:rPr lang="en-US" sz="930" b="1" dirty="0">
                <a:solidFill>
                  <a:srgbClr val="E9846D"/>
                </a:solidFill>
                <a:latin typeface="Noto Sans CJK JP" pitchFamily="34" charset="0"/>
                <a:ea typeface="Noto Sans CJK JP" pitchFamily="34" charset="-122"/>
                <a:cs typeface="Noto Sans CJK JP" pitchFamily="34" charset="-120"/>
              </a:rPr>
              <a:t>クリーンラベル</a:t>
            </a:r>
            <a:endParaRPr lang="en-US" sz="930" dirty="0"/>
          </a:p>
        </p:txBody>
      </p:sp>
      <p:sp>
        <p:nvSpPr>
          <p:cNvPr id="22" name="Shape 20"/>
          <p:cNvSpPr/>
          <p:nvPr/>
        </p:nvSpPr>
        <p:spPr>
          <a:xfrm>
            <a:off x="4983480" y="3017520"/>
            <a:ext cx="164592" cy="164592"/>
          </a:xfrm>
          <a:prstGeom prst="ellipse">
            <a:avLst/>
          </a:prstGeom>
          <a:solidFill>
            <a:srgbClr val="1D2D44"/>
          </a:solidFill>
          <a:ln w="12700">
            <a:solidFill>
              <a:srgbClr val="1D2D44">
                <a:alpha val="0"/>
              </a:srgbClr>
            </a:solidFill>
            <a:prstDash val="solid"/>
          </a:ln>
        </p:spPr>
      </p:sp>
      <p:sp>
        <p:nvSpPr>
          <p:cNvPr id="23" name="Text 21"/>
          <p:cNvSpPr/>
          <p:nvPr/>
        </p:nvSpPr>
        <p:spPr>
          <a:xfrm>
            <a:off x="5239512" y="2916936"/>
            <a:ext cx="1325880" cy="384048"/>
          </a:xfrm>
          <a:prstGeom prst="rect">
            <a:avLst/>
          </a:prstGeom>
          <a:noFill/>
          <a:ln/>
        </p:spPr>
        <p:txBody>
          <a:bodyPr wrap="square" lIns="0" tIns="0" rIns="0" bIns="0" rtlCol="0" anchor="ctr">
            <a:normAutofit/>
          </a:bodyPr>
          <a:lstStyle/>
          <a:p>
            <a:pPr algn="l" indent="0" marL="0">
              <a:buNone/>
            </a:pPr>
            <a:r>
              <a:rPr lang="en-US" sz="930" b="1" dirty="0">
                <a:solidFill>
                  <a:srgbClr val="1D2D44"/>
                </a:solidFill>
                <a:latin typeface="Noto Sans CJK JP" pitchFamily="34" charset="0"/>
                <a:ea typeface="Noto Sans CJK JP" pitchFamily="34" charset="-122"/>
                <a:cs typeface="Noto Sans CJK JP" pitchFamily="34" charset="-120"/>
              </a:rPr>
              <a:t>ごろにゃん</a:t>
            </a:r>
            <a:endParaRPr lang="en-US" sz="930" dirty="0"/>
          </a:p>
          <a:p>
            <a:pPr algn="l" indent="0" marL="0">
              <a:buNone/>
            </a:pPr>
            <a:r>
              <a:rPr lang="en-US" sz="930" b="1" dirty="0">
                <a:solidFill>
                  <a:srgbClr val="1D2D44"/>
                </a:solidFill>
                <a:latin typeface="Noto Sans CJK JP" pitchFamily="34" charset="0"/>
                <a:ea typeface="Noto Sans CJK JP" pitchFamily="34" charset="-122"/>
                <a:cs typeface="Noto Sans CJK JP" pitchFamily="34" charset="-120"/>
              </a:rPr>
              <a:t>体験型</a:t>
            </a:r>
            <a:endParaRPr lang="en-US" sz="930" dirty="0"/>
          </a:p>
        </p:txBody>
      </p:sp>
      <p:sp>
        <p:nvSpPr>
          <p:cNvPr id="24" name="Text 22"/>
          <p:cNvSpPr/>
          <p:nvPr/>
        </p:nvSpPr>
        <p:spPr>
          <a:xfrm>
            <a:off x="7315200" y="1508760"/>
            <a:ext cx="155448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比較の要点</a:t>
            </a:r>
            <a:endParaRPr lang="en-US" sz="1000" dirty="0"/>
          </a:p>
        </p:txBody>
      </p:sp>
      <p:sp>
        <p:nvSpPr>
          <p:cNvPr id="25" name="Shape 23"/>
          <p:cNvSpPr/>
          <p:nvPr/>
        </p:nvSpPr>
        <p:spPr>
          <a:xfrm>
            <a:off x="7315200" y="1792224"/>
            <a:ext cx="1554480" cy="0"/>
          </a:xfrm>
          <a:prstGeom prst="line">
            <a:avLst/>
          </a:prstGeom>
          <a:noFill/>
          <a:ln w="16510">
            <a:solidFill>
              <a:srgbClr val="E9846D"/>
            </a:solidFill>
            <a:prstDash val="solid"/>
          </a:ln>
        </p:spPr>
      </p:sp>
      <p:sp>
        <p:nvSpPr>
          <p:cNvPr id="26" name="Text 24"/>
          <p:cNvSpPr/>
          <p:nvPr/>
        </p:nvSpPr>
        <p:spPr>
          <a:xfrm>
            <a:off x="7269480" y="1965960"/>
            <a:ext cx="1005840" cy="219456"/>
          </a:xfrm>
          <a:prstGeom prst="rect">
            <a:avLst/>
          </a:prstGeom>
          <a:noFill/>
          <a:ln/>
        </p:spPr>
        <p:txBody>
          <a:bodyPr wrap="square" lIns="0" tIns="0" rIns="0" bIns="0" rtlCol="0" anchor="ctr">
            <a:normAutofit/>
          </a:bodyPr>
          <a:lstStyle/>
          <a:p>
            <a:pPr algn="l" indent="0" marL="0">
              <a:buNone/>
            </a:pPr>
            <a:r>
              <a:rPr lang="en-US" sz="1050" b="1" dirty="0">
                <a:solidFill>
                  <a:srgbClr val="5E6673"/>
                </a:solidFill>
                <a:latin typeface="Noto Sans CJK JP" pitchFamily="34" charset="0"/>
                <a:ea typeface="Noto Sans CJK JP" pitchFamily="34" charset="-122"/>
                <a:cs typeface="Noto Sans CJK JP" pitchFamily="34" charset="-120"/>
              </a:rPr>
              <a:t>競合の軸</a:t>
            </a:r>
            <a:endParaRPr lang="en-US" sz="1050" dirty="0"/>
          </a:p>
        </p:txBody>
      </p:sp>
      <p:sp>
        <p:nvSpPr>
          <p:cNvPr id="27" name="Text 25"/>
          <p:cNvSpPr/>
          <p:nvPr/>
        </p:nvSpPr>
        <p:spPr>
          <a:xfrm>
            <a:off x="8412480" y="1965960"/>
            <a:ext cx="1097280" cy="219456"/>
          </a:xfrm>
          <a:prstGeom prst="rect">
            <a:avLst/>
          </a:prstGeom>
          <a:noFill/>
          <a:ln/>
        </p:spPr>
        <p:txBody>
          <a:bodyPr wrap="square" lIns="0" tIns="0" rIns="0" bIns="0" rtlCol="0" anchor="ctr">
            <a:normAutofit/>
          </a:bodyPr>
          <a:lstStyle/>
          <a:p>
            <a:pPr algn="l" indent="0" marL="0">
              <a:buNone/>
            </a:pPr>
            <a:r>
              <a:rPr lang="en-US" sz="1050" b="1" dirty="0">
                <a:solidFill>
                  <a:srgbClr val="5E6673"/>
                </a:solidFill>
                <a:latin typeface="Noto Sans CJK JP" pitchFamily="34" charset="0"/>
                <a:ea typeface="Noto Sans CJK JP" pitchFamily="34" charset="-122"/>
                <a:cs typeface="Noto Sans CJK JP" pitchFamily="34" charset="-120"/>
              </a:rPr>
              <a:t>主な訴求</a:t>
            </a:r>
            <a:endParaRPr lang="en-US" sz="1050" dirty="0"/>
          </a:p>
        </p:txBody>
      </p:sp>
      <p:sp>
        <p:nvSpPr>
          <p:cNvPr id="28" name="Text 26"/>
          <p:cNvSpPr/>
          <p:nvPr/>
        </p:nvSpPr>
        <p:spPr>
          <a:xfrm>
            <a:off x="9875520" y="1965960"/>
            <a:ext cx="1325880" cy="219456"/>
          </a:xfrm>
          <a:prstGeom prst="rect">
            <a:avLst/>
          </a:prstGeom>
          <a:noFill/>
          <a:ln/>
        </p:spPr>
        <p:txBody>
          <a:bodyPr wrap="square" lIns="0" tIns="0" rIns="0" bIns="0" rtlCol="0" anchor="ctr">
            <a:normAutofit/>
          </a:bodyPr>
          <a:lstStyle/>
          <a:p>
            <a:pPr algn="l" indent="0" marL="0">
              <a:buNone/>
            </a:pPr>
            <a:r>
              <a:rPr lang="en-US" sz="1050" b="1" dirty="0">
                <a:solidFill>
                  <a:srgbClr val="5E6673"/>
                </a:solidFill>
                <a:latin typeface="Noto Sans CJK JP" pitchFamily="34" charset="0"/>
                <a:ea typeface="Noto Sans CJK JP" pitchFamily="34" charset="-122"/>
                <a:cs typeface="Noto Sans CJK JP" pitchFamily="34" charset="-120"/>
              </a:rPr>
              <a:t>当社の取り方</a:t>
            </a:r>
            <a:endParaRPr lang="en-US" sz="1050" dirty="0"/>
          </a:p>
        </p:txBody>
      </p:sp>
      <p:sp>
        <p:nvSpPr>
          <p:cNvPr id="29" name="Shape 27"/>
          <p:cNvSpPr/>
          <p:nvPr/>
        </p:nvSpPr>
        <p:spPr>
          <a:xfrm>
            <a:off x="7269480" y="2286000"/>
            <a:ext cx="4114800" cy="0"/>
          </a:xfrm>
          <a:prstGeom prst="line">
            <a:avLst/>
          </a:prstGeom>
          <a:noFill/>
          <a:ln w="12700">
            <a:solidFill>
              <a:srgbClr val="D9DEE5"/>
            </a:solidFill>
            <a:prstDash val="solid"/>
            <a:headEnd type="none"/>
            <a:tailEnd type="none"/>
          </a:ln>
        </p:spPr>
      </p:sp>
      <p:sp>
        <p:nvSpPr>
          <p:cNvPr id="30" name="Text 28"/>
          <p:cNvSpPr/>
          <p:nvPr/>
        </p:nvSpPr>
        <p:spPr>
          <a:xfrm>
            <a:off x="7269480" y="2514600"/>
            <a:ext cx="960120" cy="219456"/>
          </a:xfrm>
          <a:prstGeom prst="rect">
            <a:avLst/>
          </a:prstGeom>
          <a:noFill/>
          <a:ln/>
        </p:spPr>
        <p:txBody>
          <a:bodyPr wrap="square" lIns="0" tIns="0" rIns="0" bIns="0" rtlCol="0" anchor="ctr">
            <a:normAutofit/>
          </a:bodyPr>
          <a:lstStyle/>
          <a:p>
            <a:pPr algn="l" indent="0" marL="0">
              <a:buNone/>
            </a:pPr>
            <a:r>
              <a:rPr lang="en-US" sz="1050" b="1" dirty="0">
                <a:solidFill>
                  <a:srgbClr val="1D2D44"/>
                </a:solidFill>
                <a:latin typeface="Noto Sans CJK JP" pitchFamily="34" charset="0"/>
                <a:ea typeface="Noto Sans CJK JP" pitchFamily="34" charset="-122"/>
                <a:cs typeface="Noto Sans CJK JP" pitchFamily="34" charset="-120"/>
              </a:rPr>
              <a:t>機能性特化</a:t>
            </a:r>
            <a:endParaRPr lang="en-US" sz="1050" dirty="0"/>
          </a:p>
        </p:txBody>
      </p:sp>
      <p:sp>
        <p:nvSpPr>
          <p:cNvPr id="31" name="Text 29"/>
          <p:cNvSpPr/>
          <p:nvPr/>
        </p:nvSpPr>
        <p:spPr>
          <a:xfrm>
            <a:off x="8412480" y="2468880"/>
            <a:ext cx="1234440" cy="384048"/>
          </a:xfrm>
          <a:prstGeom prst="rect">
            <a:avLst/>
          </a:prstGeom>
          <a:noFill/>
          <a:ln/>
        </p:spPr>
        <p:txBody>
          <a:bodyPr wrap="square" lIns="0" tIns="0" rIns="0" bIns="0" rtlCol="0" anchor="ctr">
            <a:normAutofit/>
          </a:bodyPr>
          <a:lstStyle/>
          <a:p>
            <a:pPr algn="l" indent="0" marL="0">
              <a:buNone/>
            </a:pPr>
            <a:r>
              <a:rPr lang="en-US" sz="930" dirty="0">
                <a:solidFill>
                  <a:srgbClr val="17202A"/>
                </a:solidFill>
                <a:latin typeface="Noto Sans CJK JP" pitchFamily="34" charset="0"/>
                <a:ea typeface="Noto Sans CJK JP" pitchFamily="34" charset="-122"/>
                <a:cs typeface="Noto Sans CJK JP" pitchFamily="34" charset="-120"/>
              </a:rPr>
              <a:t>獣医師監修、疾患・年齢ケア</a:t>
            </a:r>
            <a:endParaRPr lang="en-US" sz="930" dirty="0"/>
          </a:p>
        </p:txBody>
      </p:sp>
      <p:sp>
        <p:nvSpPr>
          <p:cNvPr id="32" name="Text 30"/>
          <p:cNvSpPr/>
          <p:nvPr/>
        </p:nvSpPr>
        <p:spPr>
          <a:xfrm>
            <a:off x="9875520" y="2514600"/>
            <a:ext cx="1508760" cy="219456"/>
          </a:xfrm>
          <a:prstGeom prst="rect">
            <a:avLst/>
          </a:prstGeom>
          <a:noFill/>
          <a:ln/>
        </p:spPr>
        <p:txBody>
          <a:bodyPr wrap="square" lIns="0" tIns="0" rIns="0" bIns="0" rtlCol="0" anchor="ctr">
            <a:normAutofit/>
          </a:bodyPr>
          <a:lstStyle/>
          <a:p>
            <a:pPr algn="l" indent="0" marL="0">
              <a:buNone/>
            </a:pPr>
            <a:r>
              <a:rPr lang="en-US" sz="930" dirty="0">
                <a:solidFill>
                  <a:srgbClr val="17202A"/>
                </a:solidFill>
                <a:latin typeface="Noto Sans CJK JP" pitchFamily="34" charset="0"/>
                <a:ea typeface="Noto Sans CJK JP" pitchFamily="34" charset="-122"/>
                <a:cs typeface="Noto Sans CJK JP" pitchFamily="34" charset="-120"/>
              </a:rPr>
              <a:t>総合栄養食＋体験価値</a:t>
            </a:r>
            <a:endParaRPr lang="en-US" sz="930" dirty="0"/>
          </a:p>
        </p:txBody>
      </p:sp>
      <p:sp>
        <p:nvSpPr>
          <p:cNvPr id="33" name="Text 31"/>
          <p:cNvSpPr/>
          <p:nvPr/>
        </p:nvSpPr>
        <p:spPr>
          <a:xfrm>
            <a:off x="7269480" y="3200400"/>
            <a:ext cx="960120" cy="219456"/>
          </a:xfrm>
          <a:prstGeom prst="rect">
            <a:avLst/>
          </a:prstGeom>
          <a:noFill/>
          <a:ln/>
        </p:spPr>
        <p:txBody>
          <a:bodyPr wrap="square" lIns="0" tIns="0" rIns="0" bIns="0" rtlCol="0" anchor="ctr">
            <a:normAutofit/>
          </a:bodyPr>
          <a:lstStyle/>
          <a:p>
            <a:pPr algn="l" indent="0" marL="0">
              <a:buNone/>
            </a:pPr>
            <a:r>
              <a:rPr lang="en-US" sz="1050" b="1" dirty="0">
                <a:solidFill>
                  <a:srgbClr val="1D2D44"/>
                </a:solidFill>
                <a:latin typeface="Noto Sans CJK JP" pitchFamily="34" charset="0"/>
                <a:ea typeface="Noto Sans CJK JP" pitchFamily="34" charset="-122"/>
                <a:cs typeface="Noto Sans CJK JP" pitchFamily="34" charset="-120"/>
              </a:rPr>
              <a:t>自然派</a:t>
            </a:r>
            <a:endParaRPr lang="en-US" sz="1050" dirty="0"/>
          </a:p>
        </p:txBody>
      </p:sp>
      <p:sp>
        <p:nvSpPr>
          <p:cNvPr id="34" name="Text 32"/>
          <p:cNvSpPr/>
          <p:nvPr/>
        </p:nvSpPr>
        <p:spPr>
          <a:xfrm>
            <a:off x="8412480" y="3127248"/>
            <a:ext cx="1234440" cy="384048"/>
          </a:xfrm>
          <a:prstGeom prst="rect">
            <a:avLst/>
          </a:prstGeom>
          <a:noFill/>
          <a:ln/>
        </p:spPr>
        <p:txBody>
          <a:bodyPr wrap="square" lIns="0" tIns="0" rIns="0" bIns="0" rtlCol="0" anchor="ctr">
            <a:normAutofit/>
          </a:bodyPr>
          <a:lstStyle/>
          <a:p>
            <a:pPr algn="l" indent="0" marL="0">
              <a:buNone/>
            </a:pPr>
            <a:r>
              <a:rPr lang="en-US" sz="930" dirty="0">
                <a:solidFill>
                  <a:srgbClr val="17202A"/>
                </a:solidFill>
                <a:latin typeface="Noto Sans CJK JP" pitchFamily="34" charset="0"/>
                <a:ea typeface="Noto Sans CJK JP" pitchFamily="34" charset="-122"/>
                <a:cs typeface="Noto Sans CJK JP" pitchFamily="34" charset="-120"/>
              </a:rPr>
              <a:t>ミールフリー、生肉/魚第一原料</a:t>
            </a:r>
            <a:endParaRPr lang="en-US" sz="930" dirty="0"/>
          </a:p>
        </p:txBody>
      </p:sp>
      <p:sp>
        <p:nvSpPr>
          <p:cNvPr id="35" name="Text 33"/>
          <p:cNvSpPr/>
          <p:nvPr/>
        </p:nvSpPr>
        <p:spPr>
          <a:xfrm>
            <a:off x="9875520" y="3200400"/>
            <a:ext cx="1508760" cy="219456"/>
          </a:xfrm>
          <a:prstGeom prst="rect">
            <a:avLst/>
          </a:prstGeom>
          <a:noFill/>
          <a:ln/>
        </p:spPr>
        <p:txBody>
          <a:bodyPr wrap="square" lIns="0" tIns="0" rIns="0" bIns="0" rtlCol="0" anchor="ctr">
            <a:normAutofit/>
          </a:bodyPr>
          <a:lstStyle/>
          <a:p>
            <a:pPr algn="l" indent="0" marL="0">
              <a:buNone/>
            </a:pPr>
            <a:r>
              <a:rPr lang="en-US" sz="930" dirty="0">
                <a:solidFill>
                  <a:srgbClr val="17202A"/>
                </a:solidFill>
                <a:latin typeface="Noto Sans CJK JP" pitchFamily="34" charset="0"/>
                <a:ea typeface="Noto Sans CJK JP" pitchFamily="34" charset="-122"/>
                <a:cs typeface="Noto Sans CJK JP" pitchFamily="34" charset="-120"/>
              </a:rPr>
              <a:t>透明性＋ひと手間体験</a:t>
            </a:r>
            <a:endParaRPr lang="en-US" sz="930" dirty="0"/>
          </a:p>
        </p:txBody>
      </p:sp>
      <p:sp>
        <p:nvSpPr>
          <p:cNvPr id="36" name="Text 34"/>
          <p:cNvSpPr/>
          <p:nvPr/>
        </p:nvSpPr>
        <p:spPr>
          <a:xfrm>
            <a:off x="7269480" y="3886200"/>
            <a:ext cx="960120" cy="219456"/>
          </a:xfrm>
          <a:prstGeom prst="rect">
            <a:avLst/>
          </a:prstGeom>
          <a:noFill/>
          <a:ln/>
        </p:spPr>
        <p:txBody>
          <a:bodyPr wrap="square" lIns="0" tIns="0" rIns="0" bIns="0" rtlCol="0" anchor="ctr">
            <a:normAutofit/>
          </a:bodyPr>
          <a:lstStyle/>
          <a:p>
            <a:pPr algn="l" indent="0" marL="0">
              <a:buNone/>
            </a:pPr>
            <a:r>
              <a:rPr lang="en-US" sz="1050" b="1" dirty="0">
                <a:solidFill>
                  <a:srgbClr val="1D2D44"/>
                </a:solidFill>
                <a:latin typeface="Noto Sans CJK JP" pitchFamily="34" charset="0"/>
                <a:ea typeface="Noto Sans CJK JP" pitchFamily="34" charset="-122"/>
                <a:cs typeface="Noto Sans CJK JP" pitchFamily="34" charset="-120"/>
              </a:rPr>
              <a:t>D2C</a:t>
            </a:r>
            <a:endParaRPr lang="en-US" sz="1050" dirty="0"/>
          </a:p>
        </p:txBody>
      </p:sp>
      <p:sp>
        <p:nvSpPr>
          <p:cNvPr id="37" name="Text 35"/>
          <p:cNvSpPr/>
          <p:nvPr/>
        </p:nvSpPr>
        <p:spPr>
          <a:xfrm>
            <a:off x="8412480" y="3886200"/>
            <a:ext cx="1234440" cy="219456"/>
          </a:xfrm>
          <a:prstGeom prst="rect">
            <a:avLst/>
          </a:prstGeom>
          <a:noFill/>
          <a:ln/>
        </p:spPr>
        <p:txBody>
          <a:bodyPr wrap="square" lIns="0" tIns="0" rIns="0" bIns="0" rtlCol="0" anchor="ctr">
            <a:normAutofit/>
          </a:bodyPr>
          <a:lstStyle/>
          <a:p>
            <a:pPr algn="l" indent="0" marL="0">
              <a:buNone/>
            </a:pPr>
            <a:r>
              <a:rPr lang="en-US" sz="930" dirty="0">
                <a:solidFill>
                  <a:srgbClr val="17202A"/>
                </a:solidFill>
                <a:latin typeface="Noto Sans CJK JP" pitchFamily="34" charset="0"/>
                <a:ea typeface="Noto Sans CJK JP" pitchFamily="34" charset="-122"/>
                <a:cs typeface="Noto Sans CJK JP" pitchFamily="34" charset="-120"/>
              </a:rPr>
              <a:t>情報提供、定期購入</a:t>
            </a:r>
            <a:endParaRPr lang="en-US" sz="930" dirty="0"/>
          </a:p>
        </p:txBody>
      </p:sp>
      <p:sp>
        <p:nvSpPr>
          <p:cNvPr id="38" name="Text 36"/>
          <p:cNvSpPr/>
          <p:nvPr/>
        </p:nvSpPr>
        <p:spPr>
          <a:xfrm>
            <a:off x="9875520" y="3886200"/>
            <a:ext cx="1508760" cy="219456"/>
          </a:xfrm>
          <a:prstGeom prst="rect">
            <a:avLst/>
          </a:prstGeom>
          <a:noFill/>
          <a:ln/>
        </p:spPr>
        <p:txBody>
          <a:bodyPr wrap="square" lIns="0" tIns="0" rIns="0" bIns="0" rtlCol="0" anchor="ctr">
            <a:normAutofit/>
          </a:bodyPr>
          <a:lstStyle/>
          <a:p>
            <a:pPr algn="l" indent="0" marL="0">
              <a:buNone/>
            </a:pPr>
            <a:r>
              <a:rPr lang="en-US" sz="930" dirty="0">
                <a:solidFill>
                  <a:srgbClr val="17202A"/>
                </a:solidFill>
                <a:latin typeface="Noto Sans CJK JP" pitchFamily="34" charset="0"/>
                <a:ea typeface="Noto Sans CJK JP" pitchFamily="34" charset="-122"/>
                <a:cs typeface="Noto Sans CJK JP" pitchFamily="34" charset="-120"/>
              </a:rPr>
              <a:t>発売初年度の主軸</a:t>
            </a:r>
            <a:endParaRPr lang="en-US" sz="930" dirty="0"/>
          </a:p>
        </p:txBody>
      </p:sp>
      <p:sp>
        <p:nvSpPr>
          <p:cNvPr id="39" name="Text 37"/>
          <p:cNvSpPr/>
          <p:nvPr/>
        </p:nvSpPr>
        <p:spPr>
          <a:xfrm>
            <a:off x="7543800" y="4983480"/>
            <a:ext cx="3749040" cy="411480"/>
          </a:xfrm>
          <a:prstGeom prst="rect">
            <a:avLst/>
          </a:prstGeom>
          <a:noFill/>
          <a:ln/>
        </p:spPr>
        <p:txBody>
          <a:bodyPr wrap="square" lIns="0" tIns="0" rIns="0" bIns="0" rtlCol="0" anchor="ctr">
            <a:normAutofit/>
          </a:bodyPr>
          <a:lstStyle/>
          <a:p>
            <a:pPr algn="l" indent="0" marL="0">
              <a:buNone/>
            </a:pPr>
            <a:r>
              <a:rPr lang="en-US" sz="1080" b="1" dirty="0">
                <a:solidFill>
                  <a:srgbClr val="E9846D"/>
                </a:solidFill>
                <a:latin typeface="Noto Sans CJK JP" pitchFamily="34" charset="0"/>
                <a:ea typeface="Noto Sans CJK JP" pitchFamily="34" charset="-122"/>
                <a:cs typeface="Noto Sans CJK JP" pitchFamily="34" charset="-120"/>
              </a:rPr>
              <a:t>価格帯の目安: 1,500円〜3,000円超。1,580円はエントリー・プレミアムとして設計。</a:t>
            </a:r>
            <a:endParaRPr lang="en-US" sz="1080" dirty="0"/>
          </a:p>
        </p:txBody>
      </p:sp>
      <p:sp>
        <p:nvSpPr>
          <p:cNvPr id="40" name="Text 38"/>
          <p:cNvSpPr/>
          <p:nvPr/>
        </p:nvSpPr>
        <p:spPr>
          <a:xfrm>
            <a:off x="457200" y="6537960"/>
            <a:ext cx="5486400" cy="182880"/>
          </a:xfrm>
          <a:prstGeom prst="rect">
            <a:avLst/>
          </a:prstGeom>
          <a:noFill/>
          <a:ln/>
        </p:spPr>
        <p:txBody>
          <a:bodyPr wrap="square" lIns="0" tIns="0" rIns="0" bIns="0" rtlCol="0" anchor="ctr">
            <a:normAutofit/>
          </a:bodyPr>
          <a:lstStyle/>
          <a:p>
            <a:pPr algn="l" indent="0" marL="0">
              <a:buNone/>
            </a:pPr>
            <a:r>
              <a:rPr lang="en-US" sz="780" dirty="0">
                <a:solidFill>
                  <a:srgbClr val="5E6673"/>
                </a:solidFill>
                <a:latin typeface="Noto Sans CJK JP" pitchFamily="34" charset="0"/>
                <a:ea typeface="Noto Sans CJK JP" pitchFamily="34" charset="-122"/>
                <a:cs typeface="Noto Sans CJK JP" pitchFamily="34" charset="-120"/>
              </a:rPr>
              <a:t>出所: 提供資料に基づく構成</a:t>
            </a:r>
            <a:endParaRPr lang="en-US" sz="780" dirty="0"/>
          </a:p>
        </p:txBody>
      </p:sp>
      <p:sp>
        <p:nvSpPr>
          <p:cNvPr id="41" name="Text 39"/>
          <p:cNvSpPr/>
          <p:nvPr/>
        </p:nvSpPr>
        <p:spPr>
          <a:xfrm>
            <a:off x="8869680" y="6537960"/>
            <a:ext cx="2834640" cy="182880"/>
          </a:xfrm>
          <a:prstGeom prst="rect">
            <a:avLst/>
          </a:prstGeom>
          <a:noFill/>
          <a:ln/>
        </p:spPr>
        <p:txBody>
          <a:bodyPr wrap="square" lIns="0" tIns="0" rIns="0" bIns="0" rtlCol="0" anchor="ctr">
            <a:normAutofit/>
          </a:bodyPr>
          <a:lstStyle/>
          <a:p>
            <a:pPr algn="r" indent="0" marL="0">
              <a:buNone/>
            </a:pPr>
            <a:r>
              <a:rPr lang="en-US" sz="780" dirty="0">
                <a:solidFill>
                  <a:srgbClr val="5E6673"/>
                </a:solidFill>
                <a:latin typeface="Noto Sans CJK JP" pitchFamily="34" charset="0"/>
                <a:ea typeface="Noto Sans CJK JP" pitchFamily="34" charset="-122"/>
                <a:cs typeface="Noto Sans CJK JP" pitchFamily="34" charset="-120"/>
              </a:rPr>
              <a:t>ごろにゃんプレミアム 事業承認提案</a:t>
            </a:r>
            <a:endParaRPr lang="en-US" sz="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3E9"/>
        </a:solidFill>
      </p:bgPr>
    </p:bg>
    <p:spTree>
      <p:nvGrpSpPr>
        <p:cNvPr id="1" name=""/>
        <p:cNvGrpSpPr/>
        <p:nvPr/>
      </p:nvGrpSpPr>
      <p:grpSpPr>
        <a:xfrm>
          <a:off x="0" y="0"/>
          <a:ext cx="0" cy="0"/>
          <a:chOff x="0" y="0"/>
          <a:chExt cx="0" cy="0"/>
        </a:xfrm>
      </p:grpSpPr>
      <p:sp>
        <p:nvSpPr>
          <p:cNvPr id="2" name="Text 0"/>
          <p:cNvSpPr/>
          <p:nvPr/>
        </p:nvSpPr>
        <p:spPr>
          <a:xfrm>
            <a:off x="411480" y="310896"/>
            <a:ext cx="548640" cy="274320"/>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05</a:t>
            </a:r>
            <a:endParaRPr lang="en-US" sz="1000" dirty="0"/>
          </a:p>
        </p:txBody>
      </p:sp>
      <p:sp>
        <p:nvSpPr>
          <p:cNvPr id="3" name="Text 1"/>
          <p:cNvSpPr/>
          <p:nvPr/>
        </p:nvSpPr>
        <p:spPr>
          <a:xfrm>
            <a:off x="960120" y="164592"/>
            <a:ext cx="6035040" cy="438912"/>
          </a:xfrm>
          <a:prstGeom prst="rect">
            <a:avLst/>
          </a:prstGeom>
          <a:noFill/>
          <a:ln/>
        </p:spPr>
        <p:txBody>
          <a:bodyPr wrap="square" lIns="0" tIns="0" rIns="0" bIns="0" rtlCol="0" anchor="ctr">
            <a:normAutofit/>
          </a:bodyPr>
          <a:lstStyle/>
          <a:p>
            <a:pPr algn="l" indent="0" marL="0">
              <a:buNone/>
            </a:pPr>
            <a:r>
              <a:rPr lang="en-US" sz="2600" b="1" dirty="0">
                <a:solidFill>
                  <a:srgbClr val="1D2D44"/>
                </a:solidFill>
                <a:latin typeface="Noto Sans CJK JP" pitchFamily="34" charset="0"/>
                <a:ea typeface="Noto Sans CJK JP" pitchFamily="34" charset="-122"/>
                <a:cs typeface="Noto Sans CJK JP" pitchFamily="34" charset="-120"/>
              </a:rPr>
              <a:t>商品コンセプト</a:t>
            </a:r>
            <a:endParaRPr lang="en-US" sz="2600" dirty="0"/>
          </a:p>
        </p:txBody>
      </p:sp>
      <p:sp>
        <p:nvSpPr>
          <p:cNvPr id="4" name="Text 2"/>
          <p:cNvSpPr/>
          <p:nvPr/>
        </p:nvSpPr>
        <p:spPr>
          <a:xfrm>
            <a:off x="960120" y="685800"/>
            <a:ext cx="9738360" cy="512064"/>
          </a:xfrm>
          <a:prstGeom prst="rect">
            <a:avLst/>
          </a:prstGeom>
          <a:noFill/>
          <a:ln/>
        </p:spPr>
        <p:txBody>
          <a:bodyPr wrap="square" lIns="0" tIns="0" rIns="0" bIns="0" rtlCol="0" anchor="ctr">
            <a:normAutofit/>
          </a:bodyPr>
          <a:lstStyle/>
          <a:p>
            <a:pPr algn="l" indent="0" marL="0">
              <a:buNone/>
            </a:pPr>
            <a:r>
              <a:rPr lang="en-US" sz="1700" b="1" dirty="0">
                <a:solidFill>
                  <a:srgbClr val="17202A"/>
                </a:solidFill>
                <a:latin typeface="Noto Sans CJK JP" pitchFamily="34" charset="0"/>
                <a:ea typeface="Noto Sans CJK JP" pitchFamily="34" charset="-122"/>
                <a:cs typeface="Noto Sans CJK JP" pitchFamily="34" charset="-120"/>
              </a:rPr>
              <a:t>「サーモンオイルをかけるひと手間」を、栄養訴求だけでなく飼い主参加型の体験価値として設計すべきと判断する。</a:t>
            </a:r>
            <a:endParaRPr lang="en-US" sz="1700" dirty="0"/>
          </a:p>
        </p:txBody>
      </p:sp>
      <p:sp>
        <p:nvSpPr>
          <p:cNvPr id="5" name="Shape 3"/>
          <p:cNvSpPr/>
          <p:nvPr/>
        </p:nvSpPr>
        <p:spPr>
          <a:xfrm>
            <a:off x="960120" y="1298448"/>
            <a:ext cx="10789920" cy="0"/>
          </a:xfrm>
          <a:prstGeom prst="line">
            <a:avLst/>
          </a:prstGeom>
          <a:noFill/>
          <a:ln w="12700">
            <a:solidFill>
              <a:srgbClr val="D9DEE5"/>
            </a:solidFill>
            <a:prstDash val="solid"/>
          </a:ln>
        </p:spPr>
      </p:sp>
      <p:sp>
        <p:nvSpPr>
          <p:cNvPr id="6" name="Text 4"/>
          <p:cNvSpPr/>
          <p:nvPr/>
        </p:nvSpPr>
        <p:spPr>
          <a:xfrm>
            <a:off x="685800" y="1508760"/>
            <a:ext cx="155448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価値の構造</a:t>
            </a:r>
            <a:endParaRPr lang="en-US" sz="1000" dirty="0"/>
          </a:p>
        </p:txBody>
      </p:sp>
      <p:sp>
        <p:nvSpPr>
          <p:cNvPr id="7" name="Shape 5"/>
          <p:cNvSpPr/>
          <p:nvPr/>
        </p:nvSpPr>
        <p:spPr>
          <a:xfrm>
            <a:off x="685800" y="1792224"/>
            <a:ext cx="1554480" cy="0"/>
          </a:xfrm>
          <a:prstGeom prst="line">
            <a:avLst/>
          </a:prstGeom>
          <a:noFill/>
          <a:ln w="16510">
            <a:solidFill>
              <a:srgbClr val="E9846D"/>
            </a:solidFill>
            <a:prstDash val="solid"/>
          </a:ln>
        </p:spPr>
      </p:sp>
      <p:sp>
        <p:nvSpPr>
          <p:cNvPr id="8" name="Text 6"/>
          <p:cNvSpPr/>
          <p:nvPr/>
        </p:nvSpPr>
        <p:spPr>
          <a:xfrm>
            <a:off x="868680" y="2057400"/>
            <a:ext cx="1645920" cy="457200"/>
          </a:xfrm>
          <a:prstGeom prst="rect">
            <a:avLst/>
          </a:prstGeom>
          <a:noFill/>
          <a:ln/>
        </p:spPr>
        <p:txBody>
          <a:bodyPr wrap="square" lIns="0" tIns="0" rIns="0" bIns="0" rtlCol="0" anchor="ctr">
            <a:normAutofit/>
          </a:bodyPr>
          <a:lstStyle/>
          <a:p>
            <a:pPr algn="ctr" indent="0" marL="0">
              <a:buNone/>
            </a:pPr>
            <a:r>
              <a:rPr lang="en-US" sz="2600" b="1" dirty="0">
                <a:solidFill>
                  <a:srgbClr val="1D2D44"/>
                </a:solidFill>
                <a:latin typeface="Noto Sans CJK JP" pitchFamily="34" charset="0"/>
                <a:ea typeface="Noto Sans CJK JP" pitchFamily="34" charset="-122"/>
                <a:cs typeface="Noto Sans CJK JP" pitchFamily="34" charset="-120"/>
              </a:rPr>
              <a:t>レシピA</a:t>
            </a:r>
            <a:endParaRPr lang="en-US" sz="2600" dirty="0"/>
          </a:p>
        </p:txBody>
      </p:sp>
      <p:sp>
        <p:nvSpPr>
          <p:cNvPr id="9" name="Text 7"/>
          <p:cNvSpPr/>
          <p:nvPr/>
        </p:nvSpPr>
        <p:spPr>
          <a:xfrm>
            <a:off x="2788920" y="2057400"/>
            <a:ext cx="411480" cy="457200"/>
          </a:xfrm>
          <a:prstGeom prst="rect">
            <a:avLst/>
          </a:prstGeom>
          <a:noFill/>
          <a:ln/>
        </p:spPr>
        <p:txBody>
          <a:bodyPr wrap="square" lIns="0" tIns="0" rIns="0" bIns="0" rtlCol="0" anchor="ctr">
            <a:normAutofit/>
          </a:bodyPr>
          <a:lstStyle/>
          <a:p>
            <a:pPr algn="ctr" indent="0" marL="0">
              <a:buNone/>
            </a:pPr>
            <a:r>
              <a:rPr lang="en-US" sz="3200" b="1" dirty="0">
                <a:solidFill>
                  <a:srgbClr val="E9846D"/>
                </a:solidFill>
                <a:latin typeface="Noto Sans CJK JP" pitchFamily="34" charset="0"/>
                <a:ea typeface="Noto Sans CJK JP" pitchFamily="34" charset="-122"/>
                <a:cs typeface="Noto Sans CJK JP" pitchFamily="34" charset="-120"/>
              </a:rPr>
              <a:t>＋</a:t>
            </a:r>
            <a:endParaRPr lang="en-US" sz="3200" dirty="0"/>
          </a:p>
        </p:txBody>
      </p:sp>
      <p:sp>
        <p:nvSpPr>
          <p:cNvPr id="10" name="Text 8"/>
          <p:cNvSpPr/>
          <p:nvPr/>
        </p:nvSpPr>
        <p:spPr>
          <a:xfrm>
            <a:off x="3429000" y="2057400"/>
            <a:ext cx="2377440" cy="457200"/>
          </a:xfrm>
          <a:prstGeom prst="rect">
            <a:avLst/>
          </a:prstGeom>
          <a:noFill/>
          <a:ln/>
        </p:spPr>
        <p:txBody>
          <a:bodyPr wrap="square" lIns="0" tIns="0" rIns="0" bIns="0" rtlCol="0" anchor="ctr">
            <a:normAutofit/>
          </a:bodyPr>
          <a:lstStyle/>
          <a:p>
            <a:pPr algn="ctr" indent="0" marL="0">
              <a:buNone/>
            </a:pPr>
            <a:r>
              <a:rPr lang="en-US" sz="2500" b="1" dirty="0">
                <a:solidFill>
                  <a:srgbClr val="1D2D44"/>
                </a:solidFill>
                <a:latin typeface="Noto Sans CJK JP" pitchFamily="34" charset="0"/>
                <a:ea typeface="Noto Sans CJK JP" pitchFamily="34" charset="-122"/>
                <a:cs typeface="Noto Sans CJK JP" pitchFamily="34" charset="-120"/>
              </a:rPr>
              <a:t>サーモンオイル</a:t>
            </a:r>
            <a:endParaRPr lang="en-US" sz="2500" dirty="0"/>
          </a:p>
        </p:txBody>
      </p:sp>
      <p:sp>
        <p:nvSpPr>
          <p:cNvPr id="11" name="Text 9"/>
          <p:cNvSpPr/>
          <p:nvPr/>
        </p:nvSpPr>
        <p:spPr>
          <a:xfrm>
            <a:off x="6172200" y="2057400"/>
            <a:ext cx="502920" cy="457200"/>
          </a:xfrm>
          <a:prstGeom prst="rect">
            <a:avLst/>
          </a:prstGeom>
          <a:noFill/>
          <a:ln/>
        </p:spPr>
        <p:txBody>
          <a:bodyPr wrap="square" lIns="0" tIns="0" rIns="0" bIns="0" rtlCol="0" anchor="ctr">
            <a:normAutofit/>
          </a:bodyPr>
          <a:lstStyle/>
          <a:p>
            <a:pPr algn="ctr" indent="0" marL="0">
              <a:buNone/>
            </a:pPr>
            <a:r>
              <a:rPr lang="en-US" sz="3000" b="1" dirty="0">
                <a:solidFill>
                  <a:srgbClr val="2E7D74"/>
                </a:solidFill>
                <a:latin typeface="Noto Sans CJK JP" pitchFamily="34" charset="0"/>
                <a:ea typeface="Noto Sans CJK JP" pitchFamily="34" charset="-122"/>
                <a:cs typeface="Noto Sans CJK JP" pitchFamily="34" charset="-120"/>
              </a:rPr>
              <a:t>→</a:t>
            </a:r>
            <a:endParaRPr lang="en-US" sz="3000" dirty="0"/>
          </a:p>
        </p:txBody>
      </p:sp>
      <p:sp>
        <p:nvSpPr>
          <p:cNvPr id="12" name="Text 10"/>
          <p:cNvSpPr/>
          <p:nvPr/>
        </p:nvSpPr>
        <p:spPr>
          <a:xfrm>
            <a:off x="6967728" y="2057400"/>
            <a:ext cx="2926080" cy="457200"/>
          </a:xfrm>
          <a:prstGeom prst="rect">
            <a:avLst/>
          </a:prstGeom>
          <a:noFill/>
          <a:ln/>
        </p:spPr>
        <p:txBody>
          <a:bodyPr wrap="square" lIns="0" tIns="0" rIns="0" bIns="0" rtlCol="0" anchor="ctr">
            <a:normAutofit/>
          </a:bodyPr>
          <a:lstStyle/>
          <a:p>
            <a:pPr algn="ctr" indent="0" marL="0">
              <a:buNone/>
            </a:pPr>
            <a:r>
              <a:rPr lang="en-US" sz="2500" b="1" dirty="0">
                <a:solidFill>
                  <a:srgbClr val="2E7D74"/>
                </a:solidFill>
                <a:latin typeface="Noto Sans CJK JP" pitchFamily="34" charset="0"/>
                <a:ea typeface="Noto Sans CJK JP" pitchFamily="34" charset="-122"/>
                <a:cs typeface="Noto Sans CJK JP" pitchFamily="34" charset="-120"/>
              </a:rPr>
              <a:t>体験型プレミアム</a:t>
            </a:r>
            <a:endParaRPr lang="en-US" sz="2500" dirty="0"/>
          </a:p>
        </p:txBody>
      </p:sp>
      <p:sp>
        <p:nvSpPr>
          <p:cNvPr id="13" name="Text 11"/>
          <p:cNvSpPr/>
          <p:nvPr/>
        </p:nvSpPr>
        <p:spPr>
          <a:xfrm>
            <a:off x="868680" y="2697480"/>
            <a:ext cx="1645920" cy="274320"/>
          </a:xfrm>
          <a:prstGeom prst="rect">
            <a:avLst/>
          </a:prstGeom>
          <a:noFill/>
          <a:ln/>
        </p:spPr>
        <p:txBody>
          <a:bodyPr wrap="square" lIns="0" tIns="0" rIns="0" bIns="0" rtlCol="0" anchor="ctr">
            <a:normAutofit/>
          </a:bodyPr>
          <a:lstStyle/>
          <a:p>
            <a:pPr algn="ctr" indent="0" marL="0">
              <a:buNone/>
            </a:pPr>
            <a:r>
              <a:rPr lang="en-US" sz="1150" dirty="0">
                <a:solidFill>
                  <a:srgbClr val="5E6673"/>
                </a:solidFill>
                <a:latin typeface="Noto Sans CJK JP" pitchFamily="34" charset="0"/>
                <a:ea typeface="Noto Sans CJK JP" pitchFamily="34" charset="-122"/>
                <a:cs typeface="Noto Sans CJK JP" pitchFamily="34" charset="-120"/>
              </a:rPr>
              <a:t>主食としての安心</a:t>
            </a:r>
            <a:endParaRPr lang="en-US" sz="1150" dirty="0"/>
          </a:p>
        </p:txBody>
      </p:sp>
      <p:sp>
        <p:nvSpPr>
          <p:cNvPr id="14" name="Text 12"/>
          <p:cNvSpPr/>
          <p:nvPr/>
        </p:nvSpPr>
        <p:spPr>
          <a:xfrm>
            <a:off x="3429000" y="2697480"/>
            <a:ext cx="2377440" cy="274320"/>
          </a:xfrm>
          <a:prstGeom prst="rect">
            <a:avLst/>
          </a:prstGeom>
          <a:noFill/>
          <a:ln/>
        </p:spPr>
        <p:txBody>
          <a:bodyPr wrap="square" lIns="0" tIns="0" rIns="0" bIns="0" rtlCol="0" anchor="ctr">
            <a:normAutofit/>
          </a:bodyPr>
          <a:lstStyle/>
          <a:p>
            <a:pPr algn="ctr" indent="0" marL="0">
              <a:buNone/>
            </a:pPr>
            <a:r>
              <a:rPr lang="en-US" sz="1150" dirty="0">
                <a:solidFill>
                  <a:srgbClr val="5E6673"/>
                </a:solidFill>
                <a:latin typeface="Noto Sans CJK JP" pitchFamily="34" charset="0"/>
                <a:ea typeface="Noto Sans CJK JP" pitchFamily="34" charset="-122"/>
                <a:cs typeface="Noto Sans CJK JP" pitchFamily="34" charset="-120"/>
              </a:rPr>
              <a:t>給与直前の“ひと手間”</a:t>
            </a:r>
            <a:endParaRPr lang="en-US" sz="1150" dirty="0"/>
          </a:p>
        </p:txBody>
      </p:sp>
      <p:sp>
        <p:nvSpPr>
          <p:cNvPr id="15" name="Text 13"/>
          <p:cNvSpPr/>
          <p:nvPr/>
        </p:nvSpPr>
        <p:spPr>
          <a:xfrm>
            <a:off x="6967728" y="2697480"/>
            <a:ext cx="2926080" cy="274320"/>
          </a:xfrm>
          <a:prstGeom prst="rect">
            <a:avLst/>
          </a:prstGeom>
          <a:noFill/>
          <a:ln/>
        </p:spPr>
        <p:txBody>
          <a:bodyPr wrap="square" lIns="0" tIns="0" rIns="0" bIns="0" rtlCol="0" anchor="ctr">
            <a:normAutofit/>
          </a:bodyPr>
          <a:lstStyle/>
          <a:p>
            <a:pPr algn="ctr" indent="0" marL="0">
              <a:buNone/>
            </a:pPr>
            <a:r>
              <a:rPr lang="en-US" sz="1150" dirty="0">
                <a:solidFill>
                  <a:srgbClr val="5E6673"/>
                </a:solidFill>
                <a:latin typeface="Noto Sans CJK JP" pitchFamily="34" charset="0"/>
                <a:ea typeface="Noto Sans CJK JP" pitchFamily="34" charset="-122"/>
                <a:cs typeface="Noto Sans CJK JP" pitchFamily="34" charset="-120"/>
              </a:rPr>
              <a:t>スペック競争から体験価値へ</a:t>
            </a:r>
            <a:endParaRPr lang="en-US" sz="1150" dirty="0"/>
          </a:p>
        </p:txBody>
      </p:sp>
      <p:sp>
        <p:nvSpPr>
          <p:cNvPr id="16" name="Text 14"/>
          <p:cNvSpPr/>
          <p:nvPr/>
        </p:nvSpPr>
        <p:spPr>
          <a:xfrm>
            <a:off x="685800" y="3657600"/>
            <a:ext cx="210312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体験の設計ポイント</a:t>
            </a:r>
            <a:endParaRPr lang="en-US" sz="1000" dirty="0"/>
          </a:p>
        </p:txBody>
      </p:sp>
      <p:sp>
        <p:nvSpPr>
          <p:cNvPr id="17" name="Shape 15"/>
          <p:cNvSpPr/>
          <p:nvPr/>
        </p:nvSpPr>
        <p:spPr>
          <a:xfrm>
            <a:off x="685800" y="3941064"/>
            <a:ext cx="2103120" cy="0"/>
          </a:xfrm>
          <a:prstGeom prst="line">
            <a:avLst/>
          </a:prstGeom>
          <a:noFill/>
          <a:ln w="16510">
            <a:solidFill>
              <a:srgbClr val="E9846D"/>
            </a:solidFill>
            <a:prstDash val="solid"/>
          </a:ln>
        </p:spPr>
      </p:sp>
      <p:sp>
        <p:nvSpPr>
          <p:cNvPr id="18" name="Shape 16"/>
          <p:cNvSpPr/>
          <p:nvPr/>
        </p:nvSpPr>
        <p:spPr>
          <a:xfrm>
            <a:off x="960120" y="4251960"/>
            <a:ext cx="411480" cy="411480"/>
          </a:xfrm>
          <a:prstGeom prst="ellipse">
            <a:avLst/>
          </a:prstGeom>
          <a:solidFill>
            <a:srgbClr val="2E7D74"/>
          </a:solidFill>
          <a:ln w="12700">
            <a:solidFill>
              <a:srgbClr val="2E7D74">
                <a:alpha val="0"/>
              </a:srgbClr>
            </a:solidFill>
            <a:prstDash val="solid"/>
          </a:ln>
        </p:spPr>
      </p:sp>
      <p:sp>
        <p:nvSpPr>
          <p:cNvPr id="19" name="Text 17"/>
          <p:cNvSpPr/>
          <p:nvPr/>
        </p:nvSpPr>
        <p:spPr>
          <a:xfrm>
            <a:off x="1508760" y="4160520"/>
            <a:ext cx="914400" cy="256032"/>
          </a:xfrm>
          <a:prstGeom prst="rect">
            <a:avLst/>
          </a:prstGeom>
          <a:noFill/>
          <a:ln/>
        </p:spPr>
        <p:txBody>
          <a:bodyPr wrap="square" lIns="0" tIns="0" rIns="0" bIns="0" rtlCol="0" anchor="ctr">
            <a:normAutofit/>
          </a:bodyPr>
          <a:lstStyle/>
          <a:p>
            <a:pPr algn="l" indent="0" marL="0">
              <a:buNone/>
            </a:pPr>
            <a:r>
              <a:rPr lang="en-US" sz="1400" b="1" dirty="0">
                <a:solidFill>
                  <a:srgbClr val="1D2D44"/>
                </a:solidFill>
                <a:latin typeface="Noto Sans CJK JP" pitchFamily="34" charset="0"/>
                <a:ea typeface="Noto Sans CJK JP" pitchFamily="34" charset="-122"/>
                <a:cs typeface="Noto Sans CJK JP" pitchFamily="34" charset="-120"/>
              </a:rPr>
              <a:t>準備</a:t>
            </a:r>
            <a:endParaRPr lang="en-US" sz="1400" dirty="0"/>
          </a:p>
        </p:txBody>
      </p:sp>
      <p:sp>
        <p:nvSpPr>
          <p:cNvPr id="20" name="Text 18"/>
          <p:cNvSpPr/>
          <p:nvPr/>
        </p:nvSpPr>
        <p:spPr>
          <a:xfrm>
            <a:off x="1508760" y="4498848"/>
            <a:ext cx="1965960" cy="411480"/>
          </a:xfrm>
          <a:prstGeom prst="rect">
            <a:avLst/>
          </a:prstGeom>
          <a:noFill/>
          <a:ln/>
        </p:spPr>
        <p:txBody>
          <a:bodyPr wrap="square" lIns="0" tIns="0" rIns="0" bIns="0" rtlCol="0" anchor="ctr">
            <a:normAutofit/>
          </a:bodyPr>
          <a:lstStyle/>
          <a:p>
            <a:pPr algn="l" indent="0" marL="0">
              <a:buNone/>
            </a:pPr>
            <a:r>
              <a:rPr lang="en-US" sz="1080" dirty="0">
                <a:solidFill>
                  <a:srgbClr val="17202A"/>
                </a:solidFill>
                <a:latin typeface="Noto Sans CJK JP" pitchFamily="34" charset="0"/>
                <a:ea typeface="Noto Sans CJK JP" pitchFamily="34" charset="-122"/>
                <a:cs typeface="Noto Sans CJK JP" pitchFamily="34" charset="-120"/>
              </a:rPr>
              <a:t>開封・オイル投入の動作を簡単にする</a:t>
            </a:r>
            <a:endParaRPr lang="en-US" sz="1080" dirty="0"/>
          </a:p>
        </p:txBody>
      </p:sp>
      <p:sp>
        <p:nvSpPr>
          <p:cNvPr id="21" name="Shape 19"/>
          <p:cNvSpPr/>
          <p:nvPr/>
        </p:nvSpPr>
        <p:spPr>
          <a:xfrm>
            <a:off x="3657600" y="4251960"/>
            <a:ext cx="411480" cy="411480"/>
          </a:xfrm>
          <a:prstGeom prst="ellipse">
            <a:avLst/>
          </a:prstGeom>
          <a:solidFill>
            <a:srgbClr val="E9846D"/>
          </a:solidFill>
          <a:ln w="12700">
            <a:solidFill>
              <a:srgbClr val="E9846D">
                <a:alpha val="0"/>
              </a:srgbClr>
            </a:solidFill>
            <a:prstDash val="solid"/>
          </a:ln>
        </p:spPr>
      </p:sp>
      <p:sp>
        <p:nvSpPr>
          <p:cNvPr id="22" name="Text 20"/>
          <p:cNvSpPr/>
          <p:nvPr/>
        </p:nvSpPr>
        <p:spPr>
          <a:xfrm>
            <a:off x="4206240" y="4160520"/>
            <a:ext cx="914400" cy="256032"/>
          </a:xfrm>
          <a:prstGeom prst="rect">
            <a:avLst/>
          </a:prstGeom>
          <a:noFill/>
          <a:ln/>
        </p:spPr>
        <p:txBody>
          <a:bodyPr wrap="square" lIns="0" tIns="0" rIns="0" bIns="0" rtlCol="0" anchor="ctr">
            <a:normAutofit/>
          </a:bodyPr>
          <a:lstStyle/>
          <a:p>
            <a:pPr algn="l" indent="0" marL="0">
              <a:buNone/>
            </a:pPr>
            <a:r>
              <a:rPr lang="en-US" sz="1400" b="1" dirty="0">
                <a:solidFill>
                  <a:srgbClr val="1D2D44"/>
                </a:solidFill>
                <a:latin typeface="Noto Sans CJK JP" pitchFamily="34" charset="0"/>
                <a:ea typeface="Noto Sans CJK JP" pitchFamily="34" charset="-122"/>
                <a:cs typeface="Noto Sans CJK JP" pitchFamily="34" charset="-120"/>
              </a:rPr>
              <a:t>香り</a:t>
            </a:r>
            <a:endParaRPr lang="en-US" sz="1400" dirty="0"/>
          </a:p>
        </p:txBody>
      </p:sp>
      <p:sp>
        <p:nvSpPr>
          <p:cNvPr id="23" name="Text 21"/>
          <p:cNvSpPr/>
          <p:nvPr/>
        </p:nvSpPr>
        <p:spPr>
          <a:xfrm>
            <a:off x="4206240" y="4498848"/>
            <a:ext cx="1965960" cy="411480"/>
          </a:xfrm>
          <a:prstGeom prst="rect">
            <a:avLst/>
          </a:prstGeom>
          <a:noFill/>
          <a:ln/>
        </p:spPr>
        <p:txBody>
          <a:bodyPr wrap="square" lIns="0" tIns="0" rIns="0" bIns="0" rtlCol="0" anchor="ctr">
            <a:normAutofit/>
          </a:bodyPr>
          <a:lstStyle/>
          <a:p>
            <a:pPr algn="l" indent="0" marL="0">
              <a:buNone/>
            </a:pPr>
            <a:r>
              <a:rPr lang="en-US" sz="1080" dirty="0">
                <a:solidFill>
                  <a:srgbClr val="17202A"/>
                </a:solidFill>
                <a:latin typeface="Noto Sans CJK JP" pitchFamily="34" charset="0"/>
                <a:ea typeface="Noto Sans CJK JP" pitchFamily="34" charset="-122"/>
                <a:cs typeface="Noto Sans CJK JP" pitchFamily="34" charset="-120"/>
              </a:rPr>
              <a:t>食前の期待感を演出する</a:t>
            </a:r>
            <a:endParaRPr lang="en-US" sz="1080" dirty="0"/>
          </a:p>
        </p:txBody>
      </p:sp>
      <p:sp>
        <p:nvSpPr>
          <p:cNvPr id="24" name="Shape 22"/>
          <p:cNvSpPr/>
          <p:nvPr/>
        </p:nvSpPr>
        <p:spPr>
          <a:xfrm>
            <a:off x="6355080" y="4251960"/>
            <a:ext cx="411480" cy="411480"/>
          </a:xfrm>
          <a:prstGeom prst="ellipse">
            <a:avLst/>
          </a:prstGeom>
          <a:solidFill>
            <a:srgbClr val="F1AE72"/>
          </a:solidFill>
          <a:ln w="12700">
            <a:solidFill>
              <a:srgbClr val="F1AE72">
                <a:alpha val="0"/>
              </a:srgbClr>
            </a:solidFill>
            <a:prstDash val="solid"/>
          </a:ln>
        </p:spPr>
      </p:sp>
      <p:sp>
        <p:nvSpPr>
          <p:cNvPr id="25" name="Text 23"/>
          <p:cNvSpPr/>
          <p:nvPr/>
        </p:nvSpPr>
        <p:spPr>
          <a:xfrm>
            <a:off x="6903720" y="4160520"/>
            <a:ext cx="914400" cy="256032"/>
          </a:xfrm>
          <a:prstGeom prst="rect">
            <a:avLst/>
          </a:prstGeom>
          <a:noFill/>
          <a:ln/>
        </p:spPr>
        <p:txBody>
          <a:bodyPr wrap="square" lIns="0" tIns="0" rIns="0" bIns="0" rtlCol="0" anchor="ctr">
            <a:normAutofit/>
          </a:bodyPr>
          <a:lstStyle/>
          <a:p>
            <a:pPr algn="l" indent="0" marL="0">
              <a:buNone/>
            </a:pPr>
            <a:r>
              <a:rPr lang="en-US" sz="1400" b="1" dirty="0">
                <a:solidFill>
                  <a:srgbClr val="1D2D44"/>
                </a:solidFill>
                <a:latin typeface="Noto Sans CJK JP" pitchFamily="34" charset="0"/>
                <a:ea typeface="Noto Sans CJK JP" pitchFamily="34" charset="-122"/>
                <a:cs typeface="Noto Sans CJK JP" pitchFamily="34" charset="-120"/>
              </a:rPr>
              <a:t>食いつき</a:t>
            </a:r>
            <a:endParaRPr lang="en-US" sz="1400" dirty="0"/>
          </a:p>
        </p:txBody>
      </p:sp>
      <p:sp>
        <p:nvSpPr>
          <p:cNvPr id="26" name="Text 24"/>
          <p:cNvSpPr/>
          <p:nvPr/>
        </p:nvSpPr>
        <p:spPr>
          <a:xfrm>
            <a:off x="6903720" y="4498848"/>
            <a:ext cx="1965960" cy="411480"/>
          </a:xfrm>
          <a:prstGeom prst="rect">
            <a:avLst/>
          </a:prstGeom>
          <a:noFill/>
          <a:ln/>
        </p:spPr>
        <p:txBody>
          <a:bodyPr wrap="square" lIns="0" tIns="0" rIns="0" bIns="0" rtlCol="0" anchor="ctr">
            <a:normAutofit/>
          </a:bodyPr>
          <a:lstStyle/>
          <a:p>
            <a:pPr algn="l" indent="0" marL="0">
              <a:buNone/>
            </a:pPr>
            <a:r>
              <a:rPr lang="en-US" sz="1080" dirty="0">
                <a:solidFill>
                  <a:srgbClr val="17202A"/>
                </a:solidFill>
                <a:latin typeface="Noto Sans CJK JP" pitchFamily="34" charset="0"/>
                <a:ea typeface="Noto Sans CJK JP" pitchFamily="34" charset="-122"/>
                <a:cs typeface="Noto Sans CJK JP" pitchFamily="34" charset="-120"/>
              </a:rPr>
              <a:t>動画化しやすい瞬間を作る</a:t>
            </a:r>
            <a:endParaRPr lang="en-US" sz="1080" dirty="0"/>
          </a:p>
        </p:txBody>
      </p:sp>
      <p:sp>
        <p:nvSpPr>
          <p:cNvPr id="27" name="Shape 25"/>
          <p:cNvSpPr/>
          <p:nvPr/>
        </p:nvSpPr>
        <p:spPr>
          <a:xfrm>
            <a:off x="9052560" y="4251960"/>
            <a:ext cx="411480" cy="411480"/>
          </a:xfrm>
          <a:prstGeom prst="ellipse">
            <a:avLst/>
          </a:prstGeom>
          <a:solidFill>
            <a:srgbClr val="2A5D7C"/>
          </a:solidFill>
          <a:ln w="12700">
            <a:solidFill>
              <a:srgbClr val="2A5D7C">
                <a:alpha val="0"/>
              </a:srgbClr>
            </a:solidFill>
            <a:prstDash val="solid"/>
          </a:ln>
        </p:spPr>
      </p:sp>
      <p:sp>
        <p:nvSpPr>
          <p:cNvPr id="28" name="Text 26"/>
          <p:cNvSpPr/>
          <p:nvPr/>
        </p:nvSpPr>
        <p:spPr>
          <a:xfrm>
            <a:off x="9601200" y="4160520"/>
            <a:ext cx="914400" cy="256032"/>
          </a:xfrm>
          <a:prstGeom prst="rect">
            <a:avLst/>
          </a:prstGeom>
          <a:noFill/>
          <a:ln/>
        </p:spPr>
        <p:txBody>
          <a:bodyPr wrap="square" lIns="0" tIns="0" rIns="0" bIns="0" rtlCol="0" anchor="ctr">
            <a:normAutofit/>
          </a:bodyPr>
          <a:lstStyle/>
          <a:p>
            <a:pPr algn="l" indent="0" marL="0">
              <a:buNone/>
            </a:pPr>
            <a:r>
              <a:rPr lang="en-US" sz="1400" b="1" dirty="0">
                <a:solidFill>
                  <a:srgbClr val="1D2D44"/>
                </a:solidFill>
                <a:latin typeface="Noto Sans CJK JP" pitchFamily="34" charset="0"/>
                <a:ea typeface="Noto Sans CJK JP" pitchFamily="34" charset="-122"/>
                <a:cs typeface="Noto Sans CJK JP" pitchFamily="34" charset="-120"/>
              </a:rPr>
              <a:t>共有</a:t>
            </a:r>
            <a:endParaRPr lang="en-US" sz="1400" dirty="0"/>
          </a:p>
        </p:txBody>
      </p:sp>
      <p:sp>
        <p:nvSpPr>
          <p:cNvPr id="29" name="Text 27"/>
          <p:cNvSpPr/>
          <p:nvPr/>
        </p:nvSpPr>
        <p:spPr>
          <a:xfrm>
            <a:off x="9601200" y="4498848"/>
            <a:ext cx="1965960" cy="411480"/>
          </a:xfrm>
          <a:prstGeom prst="rect">
            <a:avLst/>
          </a:prstGeom>
          <a:noFill/>
          <a:ln/>
        </p:spPr>
        <p:txBody>
          <a:bodyPr wrap="square" lIns="0" tIns="0" rIns="0" bIns="0" rtlCol="0" anchor="ctr">
            <a:normAutofit/>
          </a:bodyPr>
          <a:lstStyle/>
          <a:p>
            <a:pPr algn="l" indent="0" marL="0">
              <a:buNone/>
            </a:pPr>
            <a:r>
              <a:rPr lang="en-US" sz="1080" dirty="0">
                <a:solidFill>
                  <a:srgbClr val="17202A"/>
                </a:solidFill>
                <a:latin typeface="Noto Sans CJK JP" pitchFamily="34" charset="0"/>
                <a:ea typeface="Noto Sans CJK JP" pitchFamily="34" charset="-122"/>
                <a:cs typeface="Noto Sans CJK JP" pitchFamily="34" charset="-120"/>
              </a:rPr>
              <a:t>SNS投稿・レビュー導線を同梱する</a:t>
            </a:r>
            <a:endParaRPr lang="en-US" sz="1080" dirty="0"/>
          </a:p>
        </p:txBody>
      </p:sp>
      <p:sp>
        <p:nvSpPr>
          <p:cNvPr id="30" name="Text 28"/>
          <p:cNvSpPr/>
          <p:nvPr/>
        </p:nvSpPr>
        <p:spPr>
          <a:xfrm>
            <a:off x="685800" y="5349240"/>
            <a:ext cx="146304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信頼の導線</a:t>
            </a:r>
            <a:endParaRPr lang="en-US" sz="1000" dirty="0"/>
          </a:p>
        </p:txBody>
      </p:sp>
      <p:sp>
        <p:nvSpPr>
          <p:cNvPr id="31" name="Shape 29"/>
          <p:cNvSpPr/>
          <p:nvPr/>
        </p:nvSpPr>
        <p:spPr>
          <a:xfrm>
            <a:off x="685800" y="5632704"/>
            <a:ext cx="1463040" cy="0"/>
          </a:xfrm>
          <a:prstGeom prst="line">
            <a:avLst/>
          </a:prstGeom>
          <a:noFill/>
          <a:ln w="16510">
            <a:solidFill>
              <a:srgbClr val="E9846D"/>
            </a:solidFill>
            <a:prstDash val="solid"/>
          </a:ln>
        </p:spPr>
      </p:sp>
      <p:sp>
        <p:nvSpPr>
          <p:cNvPr id="32" name="Text 30"/>
          <p:cNvSpPr/>
          <p:nvPr/>
        </p:nvSpPr>
        <p:spPr>
          <a:xfrm>
            <a:off x="2331720" y="5303520"/>
            <a:ext cx="5303520" cy="502920"/>
          </a:xfrm>
          <a:prstGeom prst="rect">
            <a:avLst/>
          </a:prstGeom>
          <a:noFill/>
          <a:ln/>
        </p:spPr>
        <p:txBody>
          <a:bodyPr wrap="square" lIns="0" tIns="0" rIns="0" bIns="0" rtlCol="0" anchor="ctr">
            <a:normAutofit/>
          </a:bodyPr>
          <a:lstStyle/>
          <a:p>
            <a:pPr algn="l" indent="0" marL="0">
              <a:buNone/>
            </a:pPr>
            <a:r>
              <a:rPr lang="en-US" sz="1150" b="1" dirty="0">
                <a:solidFill>
                  <a:srgbClr val="17202A"/>
                </a:solidFill>
                <a:latin typeface="Noto Sans CJK JP" pitchFamily="34" charset="0"/>
                <a:ea typeface="Noto Sans CJK JP" pitchFamily="34" charset="-122"/>
                <a:cs typeface="Noto Sans CJK JP" pitchFamily="34" charset="-120"/>
              </a:rPr>
              <a:t>QRコードで原料・加工・品質管理情報に遷移し、透明性をEC上でも補強する。</a:t>
            </a:r>
            <a:endParaRPr lang="en-US" sz="1150" dirty="0"/>
          </a:p>
        </p:txBody>
      </p:sp>
      <p:sp>
        <p:nvSpPr>
          <p:cNvPr id="33" name="Text 31"/>
          <p:cNvSpPr/>
          <p:nvPr/>
        </p:nvSpPr>
        <p:spPr>
          <a:xfrm>
            <a:off x="457200" y="6537960"/>
            <a:ext cx="5486400" cy="182880"/>
          </a:xfrm>
          <a:prstGeom prst="rect">
            <a:avLst/>
          </a:prstGeom>
          <a:noFill/>
          <a:ln/>
        </p:spPr>
        <p:txBody>
          <a:bodyPr wrap="square" lIns="0" tIns="0" rIns="0" bIns="0" rtlCol="0" anchor="ctr">
            <a:normAutofit/>
          </a:bodyPr>
          <a:lstStyle/>
          <a:p>
            <a:pPr algn="l" indent="0" marL="0">
              <a:buNone/>
            </a:pPr>
            <a:r>
              <a:rPr lang="en-US" sz="780" dirty="0">
                <a:solidFill>
                  <a:srgbClr val="5E6673"/>
                </a:solidFill>
                <a:latin typeface="Noto Sans CJK JP" pitchFamily="34" charset="0"/>
                <a:ea typeface="Noto Sans CJK JP" pitchFamily="34" charset="-122"/>
                <a:cs typeface="Noto Sans CJK JP" pitchFamily="34" charset="-120"/>
              </a:rPr>
              <a:t>出所: 提供資料に基づく構成</a:t>
            </a:r>
            <a:endParaRPr lang="en-US" sz="780" dirty="0"/>
          </a:p>
        </p:txBody>
      </p:sp>
      <p:sp>
        <p:nvSpPr>
          <p:cNvPr id="34" name="Text 32"/>
          <p:cNvSpPr/>
          <p:nvPr/>
        </p:nvSpPr>
        <p:spPr>
          <a:xfrm>
            <a:off x="8869680" y="6537960"/>
            <a:ext cx="2834640" cy="182880"/>
          </a:xfrm>
          <a:prstGeom prst="rect">
            <a:avLst/>
          </a:prstGeom>
          <a:noFill/>
          <a:ln/>
        </p:spPr>
        <p:txBody>
          <a:bodyPr wrap="square" lIns="0" tIns="0" rIns="0" bIns="0" rtlCol="0" anchor="ctr">
            <a:normAutofit/>
          </a:bodyPr>
          <a:lstStyle/>
          <a:p>
            <a:pPr algn="r" indent="0" marL="0">
              <a:buNone/>
            </a:pPr>
            <a:r>
              <a:rPr lang="en-US" sz="780" dirty="0">
                <a:solidFill>
                  <a:srgbClr val="5E6673"/>
                </a:solidFill>
                <a:latin typeface="Noto Sans CJK JP" pitchFamily="34" charset="0"/>
                <a:ea typeface="Noto Sans CJK JP" pitchFamily="34" charset="-122"/>
                <a:cs typeface="Noto Sans CJK JP" pitchFamily="34" charset="-120"/>
              </a:rPr>
              <a:t>ごろにゃんプレミアム 事業承認提案</a:t>
            </a:r>
            <a:endParaRPr lang="en-US" sz="7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3E9"/>
        </a:solidFill>
      </p:bgPr>
    </p:bg>
    <p:spTree>
      <p:nvGrpSpPr>
        <p:cNvPr id="1" name=""/>
        <p:cNvGrpSpPr/>
        <p:nvPr/>
      </p:nvGrpSpPr>
      <p:grpSpPr>
        <a:xfrm>
          <a:off x="0" y="0"/>
          <a:ext cx="0" cy="0"/>
          <a:chOff x="0" y="0"/>
          <a:chExt cx="0" cy="0"/>
        </a:xfrm>
      </p:grpSpPr>
      <p:sp>
        <p:nvSpPr>
          <p:cNvPr id="2" name="Text 0"/>
          <p:cNvSpPr/>
          <p:nvPr/>
        </p:nvSpPr>
        <p:spPr>
          <a:xfrm>
            <a:off x="411480" y="310896"/>
            <a:ext cx="548640" cy="274320"/>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06</a:t>
            </a:r>
            <a:endParaRPr lang="en-US" sz="1000" dirty="0"/>
          </a:p>
        </p:txBody>
      </p:sp>
      <p:sp>
        <p:nvSpPr>
          <p:cNvPr id="3" name="Text 1"/>
          <p:cNvSpPr/>
          <p:nvPr/>
        </p:nvSpPr>
        <p:spPr>
          <a:xfrm>
            <a:off x="960120" y="164592"/>
            <a:ext cx="6035040" cy="438912"/>
          </a:xfrm>
          <a:prstGeom prst="rect">
            <a:avLst/>
          </a:prstGeom>
          <a:noFill/>
          <a:ln/>
        </p:spPr>
        <p:txBody>
          <a:bodyPr wrap="square" lIns="0" tIns="0" rIns="0" bIns="0" rtlCol="0" anchor="ctr">
            <a:normAutofit/>
          </a:bodyPr>
          <a:lstStyle/>
          <a:p>
            <a:pPr algn="l" indent="0" marL="0">
              <a:buNone/>
            </a:pPr>
            <a:r>
              <a:rPr lang="en-US" sz="2600" b="1" dirty="0">
                <a:solidFill>
                  <a:srgbClr val="1D2D44"/>
                </a:solidFill>
                <a:latin typeface="Noto Sans CJK JP" pitchFamily="34" charset="0"/>
                <a:ea typeface="Noto Sans CJK JP" pitchFamily="34" charset="-122"/>
                <a:cs typeface="Noto Sans CJK JP" pitchFamily="34" charset="-120"/>
              </a:rPr>
              <a:t>販売チャネル戦略</a:t>
            </a:r>
            <a:endParaRPr lang="en-US" sz="2600" dirty="0"/>
          </a:p>
        </p:txBody>
      </p:sp>
      <p:sp>
        <p:nvSpPr>
          <p:cNvPr id="4" name="Text 2"/>
          <p:cNvSpPr/>
          <p:nvPr/>
        </p:nvSpPr>
        <p:spPr>
          <a:xfrm>
            <a:off x="960120" y="685800"/>
            <a:ext cx="9738360" cy="512064"/>
          </a:xfrm>
          <a:prstGeom prst="rect">
            <a:avLst/>
          </a:prstGeom>
          <a:noFill/>
          <a:ln/>
        </p:spPr>
        <p:txBody>
          <a:bodyPr wrap="square" lIns="0" tIns="0" rIns="0" bIns="0" rtlCol="0" anchor="ctr">
            <a:normAutofit/>
          </a:bodyPr>
          <a:lstStyle/>
          <a:p>
            <a:pPr algn="l" indent="0" marL="0">
              <a:buNone/>
            </a:pPr>
            <a:r>
              <a:rPr lang="en-US" sz="1700" b="1" dirty="0">
                <a:solidFill>
                  <a:srgbClr val="17202A"/>
                </a:solidFill>
                <a:latin typeface="Noto Sans CJK JP" pitchFamily="34" charset="0"/>
                <a:ea typeface="Noto Sans CJK JP" pitchFamily="34" charset="-122"/>
                <a:cs typeface="Noto Sans CJK JP" pitchFamily="34" charset="-120"/>
              </a:rPr>
              <a:t>初年度は量販店の定番棚を追わず、EC・D2Cを主軸に専門店と特設棚で補完すべきと判断する。</a:t>
            </a:r>
            <a:endParaRPr lang="en-US" sz="1700" dirty="0"/>
          </a:p>
        </p:txBody>
      </p:sp>
      <p:sp>
        <p:nvSpPr>
          <p:cNvPr id="5" name="Shape 3"/>
          <p:cNvSpPr/>
          <p:nvPr/>
        </p:nvSpPr>
        <p:spPr>
          <a:xfrm>
            <a:off x="960120" y="1298448"/>
            <a:ext cx="10789920" cy="0"/>
          </a:xfrm>
          <a:prstGeom prst="line">
            <a:avLst/>
          </a:prstGeom>
          <a:noFill/>
          <a:ln w="12700">
            <a:solidFill>
              <a:srgbClr val="D9DEE5"/>
            </a:solidFill>
            <a:prstDash val="solid"/>
          </a:ln>
        </p:spPr>
      </p:sp>
      <p:sp>
        <p:nvSpPr>
          <p:cNvPr id="6" name="Text 4"/>
          <p:cNvSpPr/>
          <p:nvPr/>
        </p:nvSpPr>
        <p:spPr>
          <a:xfrm>
            <a:off x="685800" y="1508760"/>
            <a:ext cx="210312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初年度チャネル想定</a:t>
            </a:r>
            <a:endParaRPr lang="en-US" sz="1000" dirty="0"/>
          </a:p>
        </p:txBody>
      </p:sp>
      <p:sp>
        <p:nvSpPr>
          <p:cNvPr id="7" name="Shape 5"/>
          <p:cNvSpPr/>
          <p:nvPr/>
        </p:nvSpPr>
        <p:spPr>
          <a:xfrm>
            <a:off x="685800" y="1792224"/>
            <a:ext cx="2103120" cy="0"/>
          </a:xfrm>
          <a:prstGeom prst="line">
            <a:avLst/>
          </a:prstGeom>
          <a:noFill/>
          <a:ln w="16510">
            <a:solidFill>
              <a:srgbClr val="E9846D"/>
            </a:solidFill>
            <a:prstDash val="solid"/>
          </a:ln>
        </p:spPr>
      </p:sp>
      <p:sp>
        <p:nvSpPr>
          <p:cNvPr id="8" name="Shape 6"/>
          <p:cNvSpPr/>
          <p:nvPr/>
        </p:nvSpPr>
        <p:spPr>
          <a:xfrm>
            <a:off x="1005840" y="2148840"/>
            <a:ext cx="4352544" cy="594360"/>
          </a:xfrm>
          <a:prstGeom prst="rect">
            <a:avLst/>
          </a:prstGeom>
          <a:solidFill>
            <a:srgbClr val="2E7D74"/>
          </a:solidFill>
          <a:ln w="12700">
            <a:solidFill>
              <a:srgbClr val="2E7D74">
                <a:alpha val="0"/>
              </a:srgbClr>
            </a:solidFill>
            <a:prstDash val="solid"/>
          </a:ln>
        </p:spPr>
      </p:sp>
      <p:sp>
        <p:nvSpPr>
          <p:cNvPr id="9" name="Shape 7"/>
          <p:cNvSpPr/>
          <p:nvPr/>
        </p:nvSpPr>
        <p:spPr>
          <a:xfrm>
            <a:off x="5422392" y="2148840"/>
            <a:ext cx="1554480" cy="594360"/>
          </a:xfrm>
          <a:prstGeom prst="rect">
            <a:avLst/>
          </a:prstGeom>
          <a:solidFill>
            <a:srgbClr val="F1AE72"/>
          </a:solidFill>
          <a:ln w="12700">
            <a:solidFill>
              <a:srgbClr val="F1AE72">
                <a:alpha val="0"/>
              </a:srgbClr>
            </a:solidFill>
            <a:prstDash val="solid"/>
          </a:ln>
        </p:spPr>
      </p:sp>
      <p:sp>
        <p:nvSpPr>
          <p:cNvPr id="10" name="Shape 8"/>
          <p:cNvSpPr/>
          <p:nvPr/>
        </p:nvSpPr>
        <p:spPr>
          <a:xfrm>
            <a:off x="7040880" y="2148840"/>
            <a:ext cx="310896" cy="594360"/>
          </a:xfrm>
          <a:prstGeom prst="rect">
            <a:avLst/>
          </a:prstGeom>
          <a:solidFill>
            <a:srgbClr val="E9846D"/>
          </a:solidFill>
          <a:ln w="12700">
            <a:solidFill>
              <a:srgbClr val="E9846D">
                <a:alpha val="0"/>
              </a:srgbClr>
            </a:solidFill>
            <a:prstDash val="solid"/>
          </a:ln>
        </p:spPr>
      </p:sp>
      <p:sp>
        <p:nvSpPr>
          <p:cNvPr id="11" name="Text 9"/>
          <p:cNvSpPr/>
          <p:nvPr/>
        </p:nvSpPr>
        <p:spPr>
          <a:xfrm>
            <a:off x="1005840" y="2999232"/>
            <a:ext cx="3200400" cy="256032"/>
          </a:xfrm>
          <a:prstGeom prst="rect">
            <a:avLst/>
          </a:prstGeom>
          <a:noFill/>
          <a:ln/>
        </p:spPr>
        <p:txBody>
          <a:bodyPr wrap="square" lIns="0" tIns="0" rIns="0" bIns="0" rtlCol="0" anchor="ctr">
            <a:normAutofit/>
          </a:bodyPr>
          <a:lstStyle/>
          <a:p>
            <a:pPr algn="l" indent="0" marL="0">
              <a:buNone/>
            </a:pPr>
            <a:r>
              <a:rPr lang="en-US" sz="1300" b="1" dirty="0">
                <a:solidFill>
                  <a:srgbClr val="2E7D74"/>
                </a:solidFill>
                <a:latin typeface="Noto Sans CJK JP" pitchFamily="34" charset="0"/>
                <a:ea typeface="Noto Sans CJK JP" pitchFamily="34" charset="-122"/>
                <a:cs typeface="Noto Sans CJK JP" pitchFamily="34" charset="-120"/>
              </a:rPr>
              <a:t>EC・D2C 60〜70% / 当社目標 70%</a:t>
            </a:r>
            <a:endParaRPr lang="en-US" sz="1300" dirty="0"/>
          </a:p>
        </p:txBody>
      </p:sp>
      <p:sp>
        <p:nvSpPr>
          <p:cNvPr id="12" name="Text 10"/>
          <p:cNvSpPr/>
          <p:nvPr/>
        </p:nvSpPr>
        <p:spPr>
          <a:xfrm>
            <a:off x="4800600" y="2999232"/>
            <a:ext cx="1645920" cy="256032"/>
          </a:xfrm>
          <a:prstGeom prst="rect">
            <a:avLst/>
          </a:prstGeom>
          <a:noFill/>
          <a:ln/>
        </p:spPr>
        <p:txBody>
          <a:bodyPr wrap="square" lIns="0" tIns="0" rIns="0" bIns="0" rtlCol="0" anchor="ctr">
            <a:normAutofit/>
          </a:bodyPr>
          <a:lstStyle/>
          <a:p>
            <a:pPr algn="l" indent="0" marL="0">
              <a:buNone/>
            </a:pPr>
            <a:r>
              <a:rPr lang="en-US" sz="1300" b="1" dirty="0">
                <a:solidFill>
                  <a:srgbClr val="F1AE72"/>
                </a:solidFill>
                <a:latin typeface="Noto Sans CJK JP" pitchFamily="34" charset="0"/>
                <a:ea typeface="Noto Sans CJK JP" pitchFamily="34" charset="-122"/>
                <a:cs typeface="Noto Sans CJK JP" pitchFamily="34" charset="-120"/>
              </a:rPr>
              <a:t>専門店 20〜30%</a:t>
            </a:r>
            <a:endParaRPr lang="en-US" sz="1300" dirty="0"/>
          </a:p>
        </p:txBody>
      </p:sp>
      <p:sp>
        <p:nvSpPr>
          <p:cNvPr id="13" name="Text 11"/>
          <p:cNvSpPr/>
          <p:nvPr/>
        </p:nvSpPr>
        <p:spPr>
          <a:xfrm>
            <a:off x="6492240" y="2999232"/>
            <a:ext cx="1234440" cy="256032"/>
          </a:xfrm>
          <a:prstGeom prst="rect">
            <a:avLst/>
          </a:prstGeom>
          <a:noFill/>
          <a:ln/>
        </p:spPr>
        <p:txBody>
          <a:bodyPr wrap="square" lIns="0" tIns="0" rIns="0" bIns="0" rtlCol="0" anchor="ctr">
            <a:normAutofit/>
          </a:bodyPr>
          <a:lstStyle/>
          <a:p>
            <a:pPr algn="l" indent="0" marL="0">
              <a:buNone/>
            </a:pPr>
            <a:r>
              <a:rPr lang="en-US" sz="1300" b="1" dirty="0">
                <a:solidFill>
                  <a:srgbClr val="E9846D"/>
                </a:solidFill>
                <a:latin typeface="Noto Sans CJK JP" pitchFamily="34" charset="0"/>
                <a:ea typeface="Noto Sans CJK JP" pitchFamily="34" charset="-122"/>
                <a:cs typeface="Noto Sans CJK JP" pitchFamily="34" charset="-120"/>
              </a:rPr>
              <a:t>量販 5〜10%</a:t>
            </a:r>
            <a:endParaRPr lang="en-US" sz="1300" dirty="0"/>
          </a:p>
        </p:txBody>
      </p:sp>
      <p:sp>
        <p:nvSpPr>
          <p:cNvPr id="14" name="Text 12"/>
          <p:cNvSpPr/>
          <p:nvPr/>
        </p:nvSpPr>
        <p:spPr>
          <a:xfrm>
            <a:off x="685800" y="3657600"/>
            <a:ext cx="192024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チャネル別の役割</a:t>
            </a:r>
            <a:endParaRPr lang="en-US" sz="1000" dirty="0"/>
          </a:p>
        </p:txBody>
      </p:sp>
      <p:sp>
        <p:nvSpPr>
          <p:cNvPr id="15" name="Shape 13"/>
          <p:cNvSpPr/>
          <p:nvPr/>
        </p:nvSpPr>
        <p:spPr>
          <a:xfrm>
            <a:off x="685800" y="3941064"/>
            <a:ext cx="1920240" cy="0"/>
          </a:xfrm>
          <a:prstGeom prst="line">
            <a:avLst/>
          </a:prstGeom>
          <a:noFill/>
          <a:ln w="16510">
            <a:solidFill>
              <a:srgbClr val="E9846D"/>
            </a:solidFill>
            <a:prstDash val="solid"/>
          </a:ln>
        </p:spPr>
      </p:sp>
      <p:sp>
        <p:nvSpPr>
          <p:cNvPr id="16" name="Shape 14"/>
          <p:cNvSpPr/>
          <p:nvPr/>
        </p:nvSpPr>
        <p:spPr>
          <a:xfrm>
            <a:off x="960120" y="4206240"/>
            <a:ext cx="256032" cy="256032"/>
          </a:xfrm>
          <a:prstGeom prst="ellipse">
            <a:avLst/>
          </a:prstGeom>
          <a:solidFill>
            <a:srgbClr val="2E7D74"/>
          </a:solidFill>
          <a:ln w="12700">
            <a:solidFill>
              <a:srgbClr val="2E7D74">
                <a:alpha val="0"/>
              </a:srgbClr>
            </a:solidFill>
            <a:prstDash val="solid"/>
          </a:ln>
        </p:spPr>
      </p:sp>
      <p:sp>
        <p:nvSpPr>
          <p:cNvPr id="17" name="Text 15"/>
          <p:cNvSpPr/>
          <p:nvPr/>
        </p:nvSpPr>
        <p:spPr>
          <a:xfrm>
            <a:off x="1371600" y="4160520"/>
            <a:ext cx="868680" cy="228600"/>
          </a:xfrm>
          <a:prstGeom prst="rect">
            <a:avLst/>
          </a:prstGeom>
          <a:noFill/>
          <a:ln/>
        </p:spPr>
        <p:txBody>
          <a:bodyPr wrap="square" lIns="0" tIns="0" rIns="0" bIns="0" rtlCol="0" anchor="ctr">
            <a:normAutofit/>
          </a:bodyPr>
          <a:lstStyle/>
          <a:p>
            <a:pPr algn="l" indent="0" marL="0">
              <a:buNone/>
            </a:pPr>
            <a:r>
              <a:rPr lang="en-US" sz="1300" b="1" dirty="0">
                <a:solidFill>
                  <a:srgbClr val="1D2D44"/>
                </a:solidFill>
                <a:latin typeface="Noto Sans CJK JP" pitchFamily="34" charset="0"/>
                <a:ea typeface="Noto Sans CJK JP" pitchFamily="34" charset="-122"/>
                <a:cs typeface="Noto Sans CJK JP" pitchFamily="34" charset="-120"/>
              </a:rPr>
              <a:t>自社EC</a:t>
            </a:r>
            <a:endParaRPr lang="en-US" sz="1300" dirty="0"/>
          </a:p>
        </p:txBody>
      </p:sp>
      <p:sp>
        <p:nvSpPr>
          <p:cNvPr id="18" name="Text 16"/>
          <p:cNvSpPr/>
          <p:nvPr/>
        </p:nvSpPr>
        <p:spPr>
          <a:xfrm>
            <a:off x="2560320" y="4160520"/>
            <a:ext cx="2606040" cy="246888"/>
          </a:xfrm>
          <a:prstGeom prst="rect">
            <a:avLst/>
          </a:prstGeom>
          <a:noFill/>
          <a:ln/>
        </p:spPr>
        <p:txBody>
          <a:bodyPr wrap="square" lIns="0" tIns="0" rIns="0" bIns="0" rtlCol="0" anchor="ctr">
            <a:normAutofit/>
          </a:bodyPr>
          <a:lstStyle/>
          <a:p>
            <a:pPr algn="l" indent="0" marL="0">
              <a:buNone/>
            </a:pPr>
            <a:r>
              <a:rPr lang="en-US" sz="1130" dirty="0">
                <a:solidFill>
                  <a:srgbClr val="17202A"/>
                </a:solidFill>
                <a:latin typeface="Noto Sans CJK JP" pitchFamily="34" charset="0"/>
                <a:ea typeface="Noto Sans CJK JP" pitchFamily="34" charset="-122"/>
                <a:cs typeface="Noto Sans CJK JP" pitchFamily="34" charset="-120"/>
              </a:rPr>
              <a:t>価値説明・定期購入・データ蓄積</a:t>
            </a:r>
            <a:endParaRPr lang="en-US" sz="1130" dirty="0"/>
          </a:p>
        </p:txBody>
      </p:sp>
      <p:sp>
        <p:nvSpPr>
          <p:cNvPr id="19" name="Shape 17"/>
          <p:cNvSpPr/>
          <p:nvPr/>
        </p:nvSpPr>
        <p:spPr>
          <a:xfrm>
            <a:off x="5806440" y="4206240"/>
            <a:ext cx="256032" cy="256032"/>
          </a:xfrm>
          <a:prstGeom prst="ellipse">
            <a:avLst/>
          </a:prstGeom>
          <a:solidFill>
            <a:srgbClr val="2A5D7C"/>
          </a:solidFill>
          <a:ln w="12700">
            <a:solidFill>
              <a:srgbClr val="2A5D7C">
                <a:alpha val="0"/>
              </a:srgbClr>
            </a:solidFill>
            <a:prstDash val="solid"/>
          </a:ln>
        </p:spPr>
      </p:sp>
      <p:sp>
        <p:nvSpPr>
          <p:cNvPr id="20" name="Text 18"/>
          <p:cNvSpPr/>
          <p:nvPr/>
        </p:nvSpPr>
        <p:spPr>
          <a:xfrm>
            <a:off x="6217920" y="4160520"/>
            <a:ext cx="868680" cy="228600"/>
          </a:xfrm>
          <a:prstGeom prst="rect">
            <a:avLst/>
          </a:prstGeom>
          <a:noFill/>
          <a:ln/>
        </p:spPr>
        <p:txBody>
          <a:bodyPr wrap="square" lIns="0" tIns="0" rIns="0" bIns="0" rtlCol="0" anchor="ctr">
            <a:normAutofit/>
          </a:bodyPr>
          <a:lstStyle/>
          <a:p>
            <a:pPr algn="l" indent="0" marL="0">
              <a:buNone/>
            </a:pPr>
            <a:r>
              <a:rPr lang="en-US" sz="1300" b="1" dirty="0">
                <a:solidFill>
                  <a:srgbClr val="1D2D44"/>
                </a:solidFill>
                <a:latin typeface="Noto Sans CJK JP" pitchFamily="34" charset="0"/>
                <a:ea typeface="Noto Sans CJK JP" pitchFamily="34" charset="-122"/>
                <a:cs typeface="Noto Sans CJK JP" pitchFamily="34" charset="-120"/>
              </a:rPr>
              <a:t>ECモール</a:t>
            </a:r>
            <a:endParaRPr lang="en-US" sz="1300" dirty="0"/>
          </a:p>
        </p:txBody>
      </p:sp>
      <p:sp>
        <p:nvSpPr>
          <p:cNvPr id="21" name="Text 19"/>
          <p:cNvSpPr/>
          <p:nvPr/>
        </p:nvSpPr>
        <p:spPr>
          <a:xfrm>
            <a:off x="7406640" y="4160520"/>
            <a:ext cx="2606040" cy="246888"/>
          </a:xfrm>
          <a:prstGeom prst="rect">
            <a:avLst/>
          </a:prstGeom>
          <a:noFill/>
          <a:ln/>
        </p:spPr>
        <p:txBody>
          <a:bodyPr wrap="square" lIns="0" tIns="0" rIns="0" bIns="0" rtlCol="0" anchor="ctr">
            <a:normAutofit/>
          </a:bodyPr>
          <a:lstStyle/>
          <a:p>
            <a:pPr algn="l" indent="0" marL="0">
              <a:buNone/>
            </a:pPr>
            <a:r>
              <a:rPr lang="en-US" sz="1130" dirty="0">
                <a:solidFill>
                  <a:srgbClr val="17202A"/>
                </a:solidFill>
                <a:latin typeface="Noto Sans CJK JP" pitchFamily="34" charset="0"/>
                <a:ea typeface="Noto Sans CJK JP" pitchFamily="34" charset="-122"/>
                <a:cs typeface="Noto Sans CJK JP" pitchFamily="34" charset="-120"/>
              </a:rPr>
              <a:t>検索需要の獲得・レビュー形成</a:t>
            </a:r>
            <a:endParaRPr lang="en-US" sz="1130" dirty="0"/>
          </a:p>
        </p:txBody>
      </p:sp>
      <p:sp>
        <p:nvSpPr>
          <p:cNvPr id="22" name="Shape 20"/>
          <p:cNvSpPr/>
          <p:nvPr/>
        </p:nvSpPr>
        <p:spPr>
          <a:xfrm>
            <a:off x="960120" y="5074920"/>
            <a:ext cx="256032" cy="256032"/>
          </a:xfrm>
          <a:prstGeom prst="ellipse">
            <a:avLst/>
          </a:prstGeom>
          <a:solidFill>
            <a:srgbClr val="F1AE72"/>
          </a:solidFill>
          <a:ln w="12700">
            <a:solidFill>
              <a:srgbClr val="F1AE72">
                <a:alpha val="0"/>
              </a:srgbClr>
            </a:solidFill>
            <a:prstDash val="solid"/>
          </a:ln>
        </p:spPr>
      </p:sp>
      <p:sp>
        <p:nvSpPr>
          <p:cNvPr id="23" name="Text 21"/>
          <p:cNvSpPr/>
          <p:nvPr/>
        </p:nvSpPr>
        <p:spPr>
          <a:xfrm>
            <a:off x="1371600" y="5029200"/>
            <a:ext cx="868680" cy="228600"/>
          </a:xfrm>
          <a:prstGeom prst="rect">
            <a:avLst/>
          </a:prstGeom>
          <a:noFill/>
          <a:ln/>
        </p:spPr>
        <p:txBody>
          <a:bodyPr wrap="square" lIns="0" tIns="0" rIns="0" bIns="0" rtlCol="0" anchor="ctr">
            <a:normAutofit/>
          </a:bodyPr>
          <a:lstStyle/>
          <a:p>
            <a:pPr algn="l" indent="0" marL="0">
              <a:buNone/>
            </a:pPr>
            <a:r>
              <a:rPr lang="en-US" sz="1300" b="1" dirty="0">
                <a:solidFill>
                  <a:srgbClr val="1D2D44"/>
                </a:solidFill>
                <a:latin typeface="Noto Sans CJK JP" pitchFamily="34" charset="0"/>
                <a:ea typeface="Noto Sans CJK JP" pitchFamily="34" charset="-122"/>
                <a:cs typeface="Noto Sans CJK JP" pitchFamily="34" charset="-120"/>
              </a:rPr>
              <a:t>専門店</a:t>
            </a:r>
            <a:endParaRPr lang="en-US" sz="1300" dirty="0"/>
          </a:p>
        </p:txBody>
      </p:sp>
      <p:sp>
        <p:nvSpPr>
          <p:cNvPr id="24" name="Text 22"/>
          <p:cNvSpPr/>
          <p:nvPr/>
        </p:nvSpPr>
        <p:spPr>
          <a:xfrm>
            <a:off x="2560320" y="5029200"/>
            <a:ext cx="2606040" cy="246888"/>
          </a:xfrm>
          <a:prstGeom prst="rect">
            <a:avLst/>
          </a:prstGeom>
          <a:noFill/>
          <a:ln/>
        </p:spPr>
        <p:txBody>
          <a:bodyPr wrap="square" lIns="0" tIns="0" rIns="0" bIns="0" rtlCol="0" anchor="ctr">
            <a:normAutofit/>
          </a:bodyPr>
          <a:lstStyle/>
          <a:p>
            <a:pPr algn="l" indent="0" marL="0">
              <a:buNone/>
            </a:pPr>
            <a:r>
              <a:rPr lang="en-US" sz="1130" dirty="0">
                <a:solidFill>
                  <a:srgbClr val="17202A"/>
                </a:solidFill>
                <a:latin typeface="Noto Sans CJK JP" pitchFamily="34" charset="0"/>
                <a:ea typeface="Noto Sans CJK JP" pitchFamily="34" charset="-122"/>
                <a:cs typeface="Noto Sans CJK JP" pitchFamily="34" charset="-120"/>
              </a:rPr>
              <a:t>プロ推奨による信頼補完</a:t>
            </a:r>
            <a:endParaRPr lang="en-US" sz="1130" dirty="0"/>
          </a:p>
        </p:txBody>
      </p:sp>
      <p:sp>
        <p:nvSpPr>
          <p:cNvPr id="25" name="Shape 23"/>
          <p:cNvSpPr/>
          <p:nvPr/>
        </p:nvSpPr>
        <p:spPr>
          <a:xfrm>
            <a:off x="5806440" y="5074920"/>
            <a:ext cx="256032" cy="256032"/>
          </a:xfrm>
          <a:prstGeom prst="ellipse">
            <a:avLst/>
          </a:prstGeom>
          <a:solidFill>
            <a:srgbClr val="E9846D"/>
          </a:solidFill>
          <a:ln w="12700">
            <a:solidFill>
              <a:srgbClr val="E9846D">
                <a:alpha val="0"/>
              </a:srgbClr>
            </a:solidFill>
            <a:prstDash val="solid"/>
          </a:ln>
        </p:spPr>
      </p:sp>
      <p:sp>
        <p:nvSpPr>
          <p:cNvPr id="26" name="Text 24"/>
          <p:cNvSpPr/>
          <p:nvPr/>
        </p:nvSpPr>
        <p:spPr>
          <a:xfrm>
            <a:off x="6217920" y="5029200"/>
            <a:ext cx="868680" cy="228600"/>
          </a:xfrm>
          <a:prstGeom prst="rect">
            <a:avLst/>
          </a:prstGeom>
          <a:noFill/>
          <a:ln/>
        </p:spPr>
        <p:txBody>
          <a:bodyPr wrap="square" lIns="0" tIns="0" rIns="0" bIns="0" rtlCol="0" anchor="ctr">
            <a:normAutofit/>
          </a:bodyPr>
          <a:lstStyle/>
          <a:p>
            <a:pPr algn="l" indent="0" marL="0">
              <a:buNone/>
            </a:pPr>
            <a:r>
              <a:rPr lang="en-US" sz="1300" b="1" dirty="0">
                <a:solidFill>
                  <a:srgbClr val="1D2D44"/>
                </a:solidFill>
                <a:latin typeface="Noto Sans CJK JP" pitchFamily="34" charset="0"/>
                <a:ea typeface="Noto Sans CJK JP" pitchFamily="34" charset="-122"/>
                <a:cs typeface="Noto Sans CJK JP" pitchFamily="34" charset="-120"/>
              </a:rPr>
              <a:t>特設棚</a:t>
            </a:r>
            <a:endParaRPr lang="en-US" sz="1300" dirty="0"/>
          </a:p>
        </p:txBody>
      </p:sp>
      <p:sp>
        <p:nvSpPr>
          <p:cNvPr id="27" name="Text 25"/>
          <p:cNvSpPr/>
          <p:nvPr/>
        </p:nvSpPr>
        <p:spPr>
          <a:xfrm>
            <a:off x="7406640" y="5029200"/>
            <a:ext cx="2606040" cy="246888"/>
          </a:xfrm>
          <a:prstGeom prst="rect">
            <a:avLst/>
          </a:prstGeom>
          <a:noFill/>
          <a:ln/>
        </p:spPr>
        <p:txBody>
          <a:bodyPr wrap="square" lIns="0" tIns="0" rIns="0" bIns="0" rtlCol="0" anchor="ctr">
            <a:normAutofit/>
          </a:bodyPr>
          <a:lstStyle/>
          <a:p>
            <a:pPr algn="l" indent="0" marL="0">
              <a:buNone/>
            </a:pPr>
            <a:r>
              <a:rPr lang="en-US" sz="1130" dirty="0">
                <a:solidFill>
                  <a:srgbClr val="17202A"/>
                </a:solidFill>
                <a:latin typeface="Noto Sans CJK JP" pitchFamily="34" charset="0"/>
                <a:ea typeface="Noto Sans CJK JP" pitchFamily="34" charset="-122"/>
                <a:cs typeface="Noto Sans CJK JP" pitchFamily="34" charset="-120"/>
              </a:rPr>
              <a:t>話題化後の面展開・接点拡大</a:t>
            </a:r>
            <a:endParaRPr lang="en-US" sz="1130" dirty="0"/>
          </a:p>
        </p:txBody>
      </p:sp>
      <p:sp>
        <p:nvSpPr>
          <p:cNvPr id="28" name="Text 26"/>
          <p:cNvSpPr/>
          <p:nvPr/>
        </p:nvSpPr>
        <p:spPr>
          <a:xfrm>
            <a:off x="7909560" y="1508760"/>
            <a:ext cx="155448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量販店方針</a:t>
            </a:r>
            <a:endParaRPr lang="en-US" sz="1000" dirty="0"/>
          </a:p>
        </p:txBody>
      </p:sp>
      <p:sp>
        <p:nvSpPr>
          <p:cNvPr id="29" name="Shape 27"/>
          <p:cNvSpPr/>
          <p:nvPr/>
        </p:nvSpPr>
        <p:spPr>
          <a:xfrm>
            <a:off x="7909560" y="1792224"/>
            <a:ext cx="1554480" cy="0"/>
          </a:xfrm>
          <a:prstGeom prst="line">
            <a:avLst/>
          </a:prstGeom>
          <a:noFill/>
          <a:ln w="16510">
            <a:solidFill>
              <a:srgbClr val="E9846D"/>
            </a:solidFill>
            <a:prstDash val="solid"/>
          </a:ln>
        </p:spPr>
      </p:sp>
      <p:sp>
        <p:nvSpPr>
          <p:cNvPr id="30" name="Text 28"/>
          <p:cNvSpPr/>
          <p:nvPr/>
        </p:nvSpPr>
        <p:spPr>
          <a:xfrm>
            <a:off x="7909560" y="2011680"/>
            <a:ext cx="3246120" cy="658368"/>
          </a:xfrm>
          <a:prstGeom prst="rect">
            <a:avLst/>
          </a:prstGeom>
          <a:noFill/>
          <a:ln/>
        </p:spPr>
        <p:txBody>
          <a:bodyPr wrap="square" lIns="0" tIns="0" rIns="0" bIns="0" rtlCol="0" anchor="ctr">
            <a:normAutofit/>
          </a:bodyPr>
          <a:lstStyle/>
          <a:p>
            <a:pPr algn="l" indent="0" marL="0">
              <a:buNone/>
            </a:pPr>
            <a:r>
              <a:rPr lang="en-US" sz="1500" b="1" dirty="0">
                <a:solidFill>
                  <a:srgbClr val="E9846D"/>
                </a:solidFill>
                <a:latin typeface="Noto Sans CJK JP" pitchFamily="34" charset="0"/>
                <a:ea typeface="Noto Sans CJK JP" pitchFamily="34" charset="-122"/>
                <a:cs typeface="Noto Sans CJK JP" pitchFamily="34" charset="-120"/>
              </a:rPr>
              <a:t>定番棚を初動目的にせず、EC販売実績とSNS反応を示して特設棚を狙う。</a:t>
            </a:r>
            <a:endParaRPr lang="en-US" sz="1500" dirty="0"/>
          </a:p>
        </p:txBody>
      </p:sp>
      <p:sp>
        <p:nvSpPr>
          <p:cNvPr id="31" name="Text 29"/>
          <p:cNvSpPr/>
          <p:nvPr/>
        </p:nvSpPr>
        <p:spPr>
          <a:xfrm>
            <a:off x="7909560" y="2926080"/>
            <a:ext cx="3108960" cy="320040"/>
          </a:xfrm>
          <a:prstGeom prst="rect">
            <a:avLst/>
          </a:prstGeom>
          <a:noFill/>
          <a:ln/>
        </p:spPr>
        <p:txBody>
          <a:bodyPr wrap="square" lIns="0" tIns="0" rIns="0" bIns="0" rtlCol="0" anchor="ctr">
            <a:normAutofit/>
          </a:bodyPr>
          <a:lstStyle/>
          <a:p>
            <a:pPr algn="l" indent="0" marL="0">
              <a:buNone/>
            </a:pPr>
            <a:r>
              <a:rPr lang="en-US" sz="1150" dirty="0">
                <a:solidFill>
                  <a:srgbClr val="17202A"/>
                </a:solidFill>
                <a:latin typeface="Noto Sans CJK JP" pitchFamily="34" charset="0"/>
                <a:ea typeface="Noto Sans CJK JP" pitchFamily="34" charset="-122"/>
                <a:cs typeface="Noto Sans CJK JP" pitchFamily="34" charset="-120"/>
              </a:rPr>
              <a:t>協賛金負担と値下げ競争を避ける設計にする。</a:t>
            </a:r>
            <a:endParaRPr lang="en-US" sz="1150" dirty="0"/>
          </a:p>
        </p:txBody>
      </p:sp>
      <p:sp>
        <p:nvSpPr>
          <p:cNvPr id="32" name="Text 30"/>
          <p:cNvSpPr/>
          <p:nvPr/>
        </p:nvSpPr>
        <p:spPr>
          <a:xfrm>
            <a:off x="457200" y="6537960"/>
            <a:ext cx="5486400" cy="182880"/>
          </a:xfrm>
          <a:prstGeom prst="rect">
            <a:avLst/>
          </a:prstGeom>
          <a:noFill/>
          <a:ln/>
        </p:spPr>
        <p:txBody>
          <a:bodyPr wrap="square" lIns="0" tIns="0" rIns="0" bIns="0" rtlCol="0" anchor="ctr">
            <a:normAutofit/>
          </a:bodyPr>
          <a:lstStyle/>
          <a:p>
            <a:pPr algn="l" indent="0" marL="0">
              <a:buNone/>
            </a:pPr>
            <a:r>
              <a:rPr lang="en-US" sz="780" dirty="0">
                <a:solidFill>
                  <a:srgbClr val="5E6673"/>
                </a:solidFill>
                <a:latin typeface="Noto Sans CJK JP" pitchFamily="34" charset="0"/>
                <a:ea typeface="Noto Sans CJK JP" pitchFamily="34" charset="-122"/>
                <a:cs typeface="Noto Sans CJK JP" pitchFamily="34" charset="-120"/>
              </a:rPr>
              <a:t>出所: 提供資料に基づく構成</a:t>
            </a:r>
            <a:endParaRPr lang="en-US" sz="780" dirty="0"/>
          </a:p>
        </p:txBody>
      </p:sp>
      <p:sp>
        <p:nvSpPr>
          <p:cNvPr id="33" name="Text 31"/>
          <p:cNvSpPr/>
          <p:nvPr/>
        </p:nvSpPr>
        <p:spPr>
          <a:xfrm>
            <a:off x="8869680" y="6537960"/>
            <a:ext cx="2834640" cy="182880"/>
          </a:xfrm>
          <a:prstGeom prst="rect">
            <a:avLst/>
          </a:prstGeom>
          <a:noFill/>
          <a:ln/>
        </p:spPr>
        <p:txBody>
          <a:bodyPr wrap="square" lIns="0" tIns="0" rIns="0" bIns="0" rtlCol="0" anchor="ctr">
            <a:normAutofit/>
          </a:bodyPr>
          <a:lstStyle/>
          <a:p>
            <a:pPr algn="r" indent="0" marL="0">
              <a:buNone/>
            </a:pPr>
            <a:r>
              <a:rPr lang="en-US" sz="780" dirty="0">
                <a:solidFill>
                  <a:srgbClr val="5E6673"/>
                </a:solidFill>
                <a:latin typeface="Noto Sans CJK JP" pitchFamily="34" charset="0"/>
                <a:ea typeface="Noto Sans CJK JP" pitchFamily="34" charset="-122"/>
                <a:cs typeface="Noto Sans CJK JP" pitchFamily="34" charset="-120"/>
              </a:rPr>
              <a:t>ごろにゃんプレミアム 事業承認提案</a:t>
            </a:r>
            <a:endParaRPr lang="en-US" sz="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3E9"/>
        </a:solidFill>
      </p:bgPr>
    </p:bg>
    <p:spTree>
      <p:nvGrpSpPr>
        <p:cNvPr id="1" name=""/>
        <p:cNvGrpSpPr/>
        <p:nvPr/>
      </p:nvGrpSpPr>
      <p:grpSpPr>
        <a:xfrm>
          <a:off x="0" y="0"/>
          <a:ext cx="0" cy="0"/>
          <a:chOff x="0" y="0"/>
          <a:chExt cx="0" cy="0"/>
        </a:xfrm>
      </p:grpSpPr>
      <p:sp>
        <p:nvSpPr>
          <p:cNvPr id="2" name="Text 0"/>
          <p:cNvSpPr/>
          <p:nvPr/>
        </p:nvSpPr>
        <p:spPr>
          <a:xfrm>
            <a:off x="411480" y="310896"/>
            <a:ext cx="548640" cy="274320"/>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07</a:t>
            </a:r>
            <a:endParaRPr lang="en-US" sz="1000" dirty="0"/>
          </a:p>
        </p:txBody>
      </p:sp>
      <p:sp>
        <p:nvSpPr>
          <p:cNvPr id="3" name="Text 1"/>
          <p:cNvSpPr/>
          <p:nvPr/>
        </p:nvSpPr>
        <p:spPr>
          <a:xfrm>
            <a:off x="960120" y="164592"/>
            <a:ext cx="6035040" cy="438912"/>
          </a:xfrm>
          <a:prstGeom prst="rect">
            <a:avLst/>
          </a:prstGeom>
          <a:noFill/>
          <a:ln/>
        </p:spPr>
        <p:txBody>
          <a:bodyPr wrap="square" lIns="0" tIns="0" rIns="0" bIns="0" rtlCol="0" anchor="ctr">
            <a:normAutofit/>
          </a:bodyPr>
          <a:lstStyle/>
          <a:p>
            <a:pPr algn="l" indent="0" marL="0">
              <a:buNone/>
            </a:pPr>
            <a:r>
              <a:rPr lang="en-US" sz="2600" b="1" dirty="0">
                <a:solidFill>
                  <a:srgbClr val="1D2D44"/>
                </a:solidFill>
                <a:latin typeface="Noto Sans CJK JP" pitchFamily="34" charset="0"/>
                <a:ea typeface="Noto Sans CJK JP" pitchFamily="34" charset="-122"/>
                <a:cs typeface="Noto Sans CJK JP" pitchFamily="34" charset="-120"/>
              </a:rPr>
              <a:t>D2C収益設計</a:t>
            </a:r>
            <a:endParaRPr lang="en-US" sz="2600" dirty="0"/>
          </a:p>
        </p:txBody>
      </p:sp>
      <p:sp>
        <p:nvSpPr>
          <p:cNvPr id="4" name="Text 2"/>
          <p:cNvSpPr/>
          <p:nvPr/>
        </p:nvSpPr>
        <p:spPr>
          <a:xfrm>
            <a:off x="960120" y="685800"/>
            <a:ext cx="9738360" cy="512064"/>
          </a:xfrm>
          <a:prstGeom prst="rect">
            <a:avLst/>
          </a:prstGeom>
          <a:noFill/>
          <a:ln/>
        </p:spPr>
        <p:txBody>
          <a:bodyPr wrap="square" lIns="0" tIns="0" rIns="0" bIns="0" rtlCol="0" anchor="ctr">
            <a:normAutofit/>
          </a:bodyPr>
          <a:lstStyle/>
          <a:p>
            <a:pPr algn="l" indent="0" marL="0">
              <a:buNone/>
            </a:pPr>
            <a:r>
              <a:rPr lang="en-US" sz="1700" b="1" dirty="0">
                <a:solidFill>
                  <a:srgbClr val="17202A"/>
                </a:solidFill>
                <a:latin typeface="Noto Sans CJK JP" pitchFamily="34" charset="0"/>
                <a:ea typeface="Noto Sans CJK JP" pitchFamily="34" charset="-122"/>
                <a:cs typeface="Noto Sans CJK JP" pitchFamily="34" charset="-120"/>
              </a:rPr>
              <a:t>1,580円で利益を確保するには、初回購入より定期購入化を重視したCPA/LTV管理を必須条件にすべきと判断する。</a:t>
            </a:r>
            <a:endParaRPr lang="en-US" sz="1700" dirty="0"/>
          </a:p>
        </p:txBody>
      </p:sp>
      <p:sp>
        <p:nvSpPr>
          <p:cNvPr id="5" name="Shape 3"/>
          <p:cNvSpPr/>
          <p:nvPr/>
        </p:nvSpPr>
        <p:spPr>
          <a:xfrm>
            <a:off x="960120" y="1298448"/>
            <a:ext cx="10789920" cy="0"/>
          </a:xfrm>
          <a:prstGeom prst="line">
            <a:avLst/>
          </a:prstGeom>
          <a:noFill/>
          <a:ln w="12700">
            <a:solidFill>
              <a:srgbClr val="D9DEE5"/>
            </a:solidFill>
            <a:prstDash val="solid"/>
          </a:ln>
        </p:spPr>
      </p:sp>
      <p:sp>
        <p:nvSpPr>
          <p:cNvPr id="6" name="Text 4"/>
          <p:cNvSpPr/>
          <p:nvPr/>
        </p:nvSpPr>
        <p:spPr>
          <a:xfrm>
            <a:off x="685800" y="1508760"/>
            <a:ext cx="164592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収益ファネル</a:t>
            </a:r>
            <a:endParaRPr lang="en-US" sz="1000" dirty="0"/>
          </a:p>
        </p:txBody>
      </p:sp>
      <p:sp>
        <p:nvSpPr>
          <p:cNvPr id="7" name="Shape 5"/>
          <p:cNvSpPr/>
          <p:nvPr/>
        </p:nvSpPr>
        <p:spPr>
          <a:xfrm>
            <a:off x="685800" y="1792224"/>
            <a:ext cx="1645920" cy="0"/>
          </a:xfrm>
          <a:prstGeom prst="line">
            <a:avLst/>
          </a:prstGeom>
          <a:noFill/>
          <a:ln w="16510">
            <a:solidFill>
              <a:srgbClr val="E9846D"/>
            </a:solidFill>
            <a:prstDash val="solid"/>
          </a:ln>
        </p:spPr>
      </p:sp>
      <p:sp>
        <p:nvSpPr>
          <p:cNvPr id="8" name="Shape 6"/>
          <p:cNvSpPr/>
          <p:nvPr/>
        </p:nvSpPr>
        <p:spPr>
          <a:xfrm>
            <a:off x="914400" y="1920240"/>
            <a:ext cx="5303520" cy="411480"/>
          </a:xfrm>
          <a:prstGeom prst="rect">
            <a:avLst/>
          </a:prstGeom>
          <a:solidFill>
            <a:srgbClr val="CFEDE7"/>
          </a:solidFill>
          <a:ln w="12700">
            <a:solidFill>
              <a:srgbClr val="CFEDE7">
                <a:alpha val="0"/>
              </a:srgbClr>
            </a:solidFill>
            <a:prstDash val="solid"/>
          </a:ln>
        </p:spPr>
      </p:sp>
      <p:sp>
        <p:nvSpPr>
          <p:cNvPr id="9" name="Text 7"/>
          <p:cNvSpPr/>
          <p:nvPr/>
        </p:nvSpPr>
        <p:spPr>
          <a:xfrm>
            <a:off x="6583680" y="1975104"/>
            <a:ext cx="1280160" cy="201168"/>
          </a:xfrm>
          <a:prstGeom prst="rect">
            <a:avLst/>
          </a:prstGeom>
          <a:noFill/>
          <a:ln/>
        </p:spPr>
        <p:txBody>
          <a:bodyPr wrap="square" lIns="0" tIns="0" rIns="0" bIns="0" rtlCol="0" anchor="ctr">
            <a:normAutofit/>
          </a:bodyPr>
          <a:lstStyle/>
          <a:p>
            <a:pPr algn="l" indent="0" marL="0">
              <a:buNone/>
            </a:pPr>
            <a:r>
              <a:rPr lang="en-US" sz="1300" b="1" dirty="0">
                <a:solidFill>
                  <a:srgbClr val="1D2D44"/>
                </a:solidFill>
                <a:latin typeface="Noto Sans CJK JP" pitchFamily="34" charset="0"/>
                <a:ea typeface="Noto Sans CJK JP" pitchFamily="34" charset="-122"/>
                <a:cs typeface="Noto Sans CJK JP" pitchFamily="34" charset="-120"/>
              </a:rPr>
              <a:t>広告接触</a:t>
            </a:r>
            <a:endParaRPr lang="en-US" sz="1300" dirty="0"/>
          </a:p>
        </p:txBody>
      </p:sp>
      <p:sp>
        <p:nvSpPr>
          <p:cNvPr id="10" name="Text 8"/>
          <p:cNvSpPr/>
          <p:nvPr/>
        </p:nvSpPr>
        <p:spPr>
          <a:xfrm>
            <a:off x="8001000" y="1975104"/>
            <a:ext cx="2194560" cy="210312"/>
          </a:xfrm>
          <a:prstGeom prst="rect">
            <a:avLst/>
          </a:prstGeom>
          <a:noFill/>
          <a:ln/>
        </p:spPr>
        <p:txBody>
          <a:bodyPr wrap="square" lIns="0" tIns="0" rIns="0" bIns="0" rtlCol="0" anchor="ctr">
            <a:normAutofit/>
          </a:bodyPr>
          <a:lstStyle/>
          <a:p>
            <a:pPr algn="l" indent="0" marL="0">
              <a:buNone/>
            </a:pPr>
            <a:r>
              <a:rPr lang="en-US" sz="1120" dirty="0">
                <a:solidFill>
                  <a:srgbClr val="17202A"/>
                </a:solidFill>
                <a:latin typeface="Noto Sans CJK JP" pitchFamily="34" charset="0"/>
                <a:ea typeface="Noto Sans CJK JP" pitchFamily="34" charset="-122"/>
                <a:cs typeface="Noto Sans CJK JP" pitchFamily="34" charset="-120"/>
              </a:rPr>
              <a:t>SNS動画・検索・レビュー</a:t>
            </a:r>
            <a:endParaRPr lang="en-US" sz="1120" dirty="0"/>
          </a:p>
        </p:txBody>
      </p:sp>
      <p:sp>
        <p:nvSpPr>
          <p:cNvPr id="11" name="Shape 9"/>
          <p:cNvSpPr/>
          <p:nvPr/>
        </p:nvSpPr>
        <p:spPr>
          <a:xfrm>
            <a:off x="1325880" y="2670048"/>
            <a:ext cx="4480560" cy="411480"/>
          </a:xfrm>
          <a:prstGeom prst="rect">
            <a:avLst/>
          </a:prstGeom>
          <a:solidFill>
            <a:srgbClr val="F4D7D0"/>
          </a:solidFill>
          <a:ln w="12700">
            <a:solidFill>
              <a:srgbClr val="F4D7D0">
                <a:alpha val="0"/>
              </a:srgbClr>
            </a:solidFill>
            <a:prstDash val="solid"/>
          </a:ln>
        </p:spPr>
      </p:sp>
      <p:sp>
        <p:nvSpPr>
          <p:cNvPr id="12" name="Text 10"/>
          <p:cNvSpPr/>
          <p:nvPr/>
        </p:nvSpPr>
        <p:spPr>
          <a:xfrm>
            <a:off x="6583680" y="2724912"/>
            <a:ext cx="1280160" cy="201168"/>
          </a:xfrm>
          <a:prstGeom prst="rect">
            <a:avLst/>
          </a:prstGeom>
          <a:noFill/>
          <a:ln/>
        </p:spPr>
        <p:txBody>
          <a:bodyPr wrap="square" lIns="0" tIns="0" rIns="0" bIns="0" rtlCol="0" anchor="ctr">
            <a:normAutofit/>
          </a:bodyPr>
          <a:lstStyle/>
          <a:p>
            <a:pPr algn="l" indent="0" marL="0">
              <a:buNone/>
            </a:pPr>
            <a:r>
              <a:rPr lang="en-US" sz="1300" b="1" dirty="0">
                <a:solidFill>
                  <a:srgbClr val="1D2D44"/>
                </a:solidFill>
                <a:latin typeface="Noto Sans CJK JP" pitchFamily="34" charset="0"/>
                <a:ea typeface="Noto Sans CJK JP" pitchFamily="34" charset="-122"/>
                <a:cs typeface="Noto Sans CJK JP" pitchFamily="34" charset="-120"/>
              </a:rPr>
              <a:t>初回購入</a:t>
            </a:r>
            <a:endParaRPr lang="en-US" sz="1300" dirty="0"/>
          </a:p>
        </p:txBody>
      </p:sp>
      <p:sp>
        <p:nvSpPr>
          <p:cNvPr id="13" name="Text 11"/>
          <p:cNvSpPr/>
          <p:nvPr/>
        </p:nvSpPr>
        <p:spPr>
          <a:xfrm>
            <a:off x="8001000" y="2724912"/>
            <a:ext cx="2194560" cy="210312"/>
          </a:xfrm>
          <a:prstGeom prst="rect">
            <a:avLst/>
          </a:prstGeom>
          <a:noFill/>
          <a:ln/>
        </p:spPr>
        <p:txBody>
          <a:bodyPr wrap="square" lIns="0" tIns="0" rIns="0" bIns="0" rtlCol="0" anchor="ctr">
            <a:normAutofit/>
          </a:bodyPr>
          <a:lstStyle/>
          <a:p>
            <a:pPr algn="l" indent="0" marL="0">
              <a:buNone/>
            </a:pPr>
            <a:r>
              <a:rPr lang="en-US" sz="1120" dirty="0">
                <a:solidFill>
                  <a:srgbClr val="17202A"/>
                </a:solidFill>
                <a:latin typeface="Noto Sans CJK JP" pitchFamily="34" charset="0"/>
                <a:ea typeface="Noto Sans CJK JP" pitchFamily="34" charset="-122"/>
                <a:cs typeface="Noto Sans CJK JP" pitchFamily="34" charset="-120"/>
              </a:rPr>
              <a:t>1,580円の入口商品</a:t>
            </a:r>
            <a:endParaRPr lang="en-US" sz="1120" dirty="0"/>
          </a:p>
        </p:txBody>
      </p:sp>
      <p:sp>
        <p:nvSpPr>
          <p:cNvPr id="14" name="Shape 12"/>
          <p:cNvSpPr/>
          <p:nvPr/>
        </p:nvSpPr>
        <p:spPr>
          <a:xfrm>
            <a:off x="1737360" y="3419856"/>
            <a:ext cx="3657600" cy="411480"/>
          </a:xfrm>
          <a:prstGeom prst="rect">
            <a:avLst/>
          </a:prstGeom>
          <a:solidFill>
            <a:srgbClr val="FBE6C8"/>
          </a:solidFill>
          <a:ln w="12700">
            <a:solidFill>
              <a:srgbClr val="FBE6C8">
                <a:alpha val="0"/>
              </a:srgbClr>
            </a:solidFill>
            <a:prstDash val="solid"/>
          </a:ln>
        </p:spPr>
      </p:sp>
      <p:sp>
        <p:nvSpPr>
          <p:cNvPr id="15" name="Text 13"/>
          <p:cNvSpPr/>
          <p:nvPr/>
        </p:nvSpPr>
        <p:spPr>
          <a:xfrm>
            <a:off x="6583680" y="3474720"/>
            <a:ext cx="1280160" cy="201168"/>
          </a:xfrm>
          <a:prstGeom prst="rect">
            <a:avLst/>
          </a:prstGeom>
          <a:noFill/>
          <a:ln/>
        </p:spPr>
        <p:txBody>
          <a:bodyPr wrap="square" lIns="0" tIns="0" rIns="0" bIns="0" rtlCol="0" anchor="ctr">
            <a:normAutofit/>
          </a:bodyPr>
          <a:lstStyle/>
          <a:p>
            <a:pPr algn="l" indent="0" marL="0">
              <a:buNone/>
            </a:pPr>
            <a:r>
              <a:rPr lang="en-US" sz="1300" b="1" dirty="0">
                <a:solidFill>
                  <a:srgbClr val="1D2D44"/>
                </a:solidFill>
                <a:latin typeface="Noto Sans CJK JP" pitchFamily="34" charset="0"/>
                <a:ea typeface="Noto Sans CJK JP" pitchFamily="34" charset="-122"/>
                <a:cs typeface="Noto Sans CJK JP" pitchFamily="34" charset="-120"/>
              </a:rPr>
              <a:t>定期購入化</a:t>
            </a:r>
            <a:endParaRPr lang="en-US" sz="1300" dirty="0"/>
          </a:p>
        </p:txBody>
      </p:sp>
      <p:sp>
        <p:nvSpPr>
          <p:cNvPr id="16" name="Text 14"/>
          <p:cNvSpPr/>
          <p:nvPr/>
        </p:nvSpPr>
        <p:spPr>
          <a:xfrm>
            <a:off x="8001000" y="3474720"/>
            <a:ext cx="2194560" cy="210312"/>
          </a:xfrm>
          <a:prstGeom prst="rect">
            <a:avLst/>
          </a:prstGeom>
          <a:noFill/>
          <a:ln/>
        </p:spPr>
        <p:txBody>
          <a:bodyPr wrap="square" lIns="0" tIns="0" rIns="0" bIns="0" rtlCol="0" anchor="ctr">
            <a:normAutofit/>
          </a:bodyPr>
          <a:lstStyle/>
          <a:p>
            <a:pPr algn="l" indent="0" marL="0">
              <a:buNone/>
            </a:pPr>
            <a:r>
              <a:rPr lang="en-US" sz="1120" dirty="0">
                <a:solidFill>
                  <a:srgbClr val="17202A"/>
                </a:solidFill>
                <a:latin typeface="Noto Sans CJK JP" pitchFamily="34" charset="0"/>
                <a:ea typeface="Noto Sans CJK JP" pitchFamily="34" charset="-122"/>
                <a:cs typeface="Noto Sans CJK JP" pitchFamily="34" charset="-120"/>
              </a:rPr>
              <a:t>CRM・同梱導線</a:t>
            </a:r>
            <a:endParaRPr lang="en-US" sz="1120" dirty="0"/>
          </a:p>
        </p:txBody>
      </p:sp>
      <p:sp>
        <p:nvSpPr>
          <p:cNvPr id="17" name="Shape 15"/>
          <p:cNvSpPr/>
          <p:nvPr/>
        </p:nvSpPr>
        <p:spPr>
          <a:xfrm>
            <a:off x="2148840" y="4169664"/>
            <a:ext cx="2834640" cy="411480"/>
          </a:xfrm>
          <a:prstGeom prst="rect">
            <a:avLst/>
          </a:prstGeom>
          <a:solidFill>
            <a:srgbClr val="DCE7F3"/>
          </a:solidFill>
          <a:ln w="12700">
            <a:solidFill>
              <a:srgbClr val="DCE7F3">
                <a:alpha val="0"/>
              </a:srgbClr>
            </a:solidFill>
            <a:prstDash val="solid"/>
          </a:ln>
        </p:spPr>
      </p:sp>
      <p:sp>
        <p:nvSpPr>
          <p:cNvPr id="18" name="Text 16"/>
          <p:cNvSpPr/>
          <p:nvPr/>
        </p:nvSpPr>
        <p:spPr>
          <a:xfrm>
            <a:off x="6583680" y="4224528"/>
            <a:ext cx="1280160" cy="201168"/>
          </a:xfrm>
          <a:prstGeom prst="rect">
            <a:avLst/>
          </a:prstGeom>
          <a:noFill/>
          <a:ln/>
        </p:spPr>
        <p:txBody>
          <a:bodyPr wrap="square" lIns="0" tIns="0" rIns="0" bIns="0" rtlCol="0" anchor="ctr">
            <a:normAutofit/>
          </a:bodyPr>
          <a:lstStyle/>
          <a:p>
            <a:pPr algn="l" indent="0" marL="0">
              <a:buNone/>
            </a:pPr>
            <a:r>
              <a:rPr lang="en-US" sz="1300" b="1" dirty="0">
                <a:solidFill>
                  <a:srgbClr val="1D2D44"/>
                </a:solidFill>
                <a:latin typeface="Noto Sans CJK JP" pitchFamily="34" charset="0"/>
                <a:ea typeface="Noto Sans CJK JP" pitchFamily="34" charset="-122"/>
                <a:cs typeface="Noto Sans CJK JP" pitchFamily="34" charset="-120"/>
              </a:rPr>
              <a:t>継続購入</a:t>
            </a:r>
            <a:endParaRPr lang="en-US" sz="1300" dirty="0"/>
          </a:p>
        </p:txBody>
      </p:sp>
      <p:sp>
        <p:nvSpPr>
          <p:cNvPr id="19" name="Text 17"/>
          <p:cNvSpPr/>
          <p:nvPr/>
        </p:nvSpPr>
        <p:spPr>
          <a:xfrm>
            <a:off x="8001000" y="4224528"/>
            <a:ext cx="2194560" cy="210312"/>
          </a:xfrm>
          <a:prstGeom prst="rect">
            <a:avLst/>
          </a:prstGeom>
          <a:noFill/>
          <a:ln/>
        </p:spPr>
        <p:txBody>
          <a:bodyPr wrap="square" lIns="0" tIns="0" rIns="0" bIns="0" rtlCol="0" anchor="ctr">
            <a:normAutofit/>
          </a:bodyPr>
          <a:lstStyle/>
          <a:p>
            <a:pPr algn="l" indent="0" marL="0">
              <a:buNone/>
            </a:pPr>
            <a:r>
              <a:rPr lang="en-US" sz="1120" dirty="0">
                <a:solidFill>
                  <a:srgbClr val="17202A"/>
                </a:solidFill>
                <a:latin typeface="Noto Sans CJK JP" pitchFamily="34" charset="0"/>
                <a:ea typeface="Noto Sans CJK JP" pitchFamily="34" charset="-122"/>
                <a:cs typeface="Noto Sans CJK JP" pitchFamily="34" charset="-120"/>
              </a:rPr>
              <a:t>LTV回収・UGC循環</a:t>
            </a:r>
            <a:endParaRPr lang="en-US" sz="1120" dirty="0"/>
          </a:p>
        </p:txBody>
      </p:sp>
      <p:sp>
        <p:nvSpPr>
          <p:cNvPr id="20" name="Text 18"/>
          <p:cNvSpPr/>
          <p:nvPr/>
        </p:nvSpPr>
        <p:spPr>
          <a:xfrm>
            <a:off x="685800" y="5074920"/>
            <a:ext cx="173736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財務管理指標</a:t>
            </a:r>
            <a:endParaRPr lang="en-US" sz="1000" dirty="0"/>
          </a:p>
        </p:txBody>
      </p:sp>
      <p:sp>
        <p:nvSpPr>
          <p:cNvPr id="21" name="Shape 19"/>
          <p:cNvSpPr/>
          <p:nvPr/>
        </p:nvSpPr>
        <p:spPr>
          <a:xfrm>
            <a:off x="685800" y="5358384"/>
            <a:ext cx="1737360" cy="0"/>
          </a:xfrm>
          <a:prstGeom prst="line">
            <a:avLst/>
          </a:prstGeom>
          <a:noFill/>
          <a:ln w="16510">
            <a:solidFill>
              <a:srgbClr val="E9846D"/>
            </a:solidFill>
            <a:prstDash val="solid"/>
          </a:ln>
        </p:spPr>
      </p:sp>
      <p:sp>
        <p:nvSpPr>
          <p:cNvPr id="22" name="Text 20"/>
          <p:cNvSpPr/>
          <p:nvPr/>
        </p:nvSpPr>
        <p:spPr>
          <a:xfrm>
            <a:off x="960120" y="5532120"/>
            <a:ext cx="6309360" cy="292608"/>
          </a:xfrm>
          <a:prstGeom prst="rect">
            <a:avLst/>
          </a:prstGeom>
          <a:noFill/>
          <a:ln/>
        </p:spPr>
        <p:txBody>
          <a:bodyPr wrap="square" lIns="0" tIns="0" rIns="0" bIns="0" rtlCol="0" anchor="ctr">
            <a:normAutofit/>
          </a:bodyPr>
          <a:lstStyle/>
          <a:p>
            <a:pPr algn="l" indent="0" marL="0">
              <a:buNone/>
            </a:pPr>
            <a:r>
              <a:rPr lang="en-US" sz="1700" b="1" dirty="0">
                <a:solidFill>
                  <a:srgbClr val="2E7D74"/>
                </a:solidFill>
                <a:latin typeface="Noto Sans CJK JP" pitchFamily="34" charset="0"/>
                <a:ea typeface="Noto Sans CJK JP" pitchFamily="34" charset="-122"/>
                <a:cs typeface="Noto Sans CJK JP" pitchFamily="34" charset="-120"/>
              </a:rPr>
              <a:t>CPA上限 / 初回粗利 / 定期購入率 / 継続率 / LTV回収期間</a:t>
            </a:r>
            <a:endParaRPr lang="en-US" sz="1700" dirty="0"/>
          </a:p>
        </p:txBody>
      </p:sp>
      <p:sp>
        <p:nvSpPr>
          <p:cNvPr id="23" name="Text 21"/>
          <p:cNvSpPr/>
          <p:nvPr/>
        </p:nvSpPr>
        <p:spPr>
          <a:xfrm>
            <a:off x="960120" y="5916168"/>
            <a:ext cx="6309360" cy="228600"/>
          </a:xfrm>
          <a:prstGeom prst="rect">
            <a:avLst/>
          </a:prstGeom>
          <a:noFill/>
          <a:ln/>
        </p:spPr>
        <p:txBody>
          <a:bodyPr wrap="square" lIns="0" tIns="0" rIns="0" bIns="0" rtlCol="0" anchor="ctr">
            <a:normAutofit/>
          </a:bodyPr>
          <a:lstStyle/>
          <a:p>
            <a:pPr algn="l" indent="0" marL="0">
              <a:buNone/>
            </a:pPr>
            <a:r>
              <a:rPr lang="en-US" sz="1120" dirty="0">
                <a:solidFill>
                  <a:srgbClr val="5E6673"/>
                </a:solidFill>
                <a:latin typeface="Noto Sans CJK JP" pitchFamily="34" charset="0"/>
                <a:ea typeface="Noto Sans CJK JP" pitchFamily="34" charset="-122"/>
                <a:cs typeface="Noto Sans CJK JP" pitchFamily="34" charset="-120"/>
              </a:rPr>
              <a:t>※ 具体値は発売前ゲートで確定し、未達時は広告投下または販売計画を見直す。</a:t>
            </a:r>
            <a:endParaRPr lang="en-US" sz="1120" dirty="0"/>
          </a:p>
        </p:txBody>
      </p:sp>
      <p:sp>
        <p:nvSpPr>
          <p:cNvPr id="24" name="Text 22"/>
          <p:cNvSpPr/>
          <p:nvPr/>
        </p:nvSpPr>
        <p:spPr>
          <a:xfrm>
            <a:off x="7772400" y="4709160"/>
            <a:ext cx="173736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黒字化の考え方</a:t>
            </a:r>
            <a:endParaRPr lang="en-US" sz="1000" dirty="0"/>
          </a:p>
        </p:txBody>
      </p:sp>
      <p:sp>
        <p:nvSpPr>
          <p:cNvPr id="25" name="Shape 23"/>
          <p:cNvSpPr/>
          <p:nvPr/>
        </p:nvSpPr>
        <p:spPr>
          <a:xfrm>
            <a:off x="7772400" y="4992624"/>
            <a:ext cx="1737360" cy="0"/>
          </a:xfrm>
          <a:prstGeom prst="line">
            <a:avLst/>
          </a:prstGeom>
          <a:noFill/>
          <a:ln w="16510">
            <a:solidFill>
              <a:srgbClr val="E9846D"/>
            </a:solidFill>
            <a:prstDash val="solid"/>
          </a:ln>
        </p:spPr>
      </p:sp>
      <p:sp>
        <p:nvSpPr>
          <p:cNvPr id="26" name="Text 24"/>
          <p:cNvSpPr/>
          <p:nvPr/>
        </p:nvSpPr>
        <p:spPr>
          <a:xfrm>
            <a:off x="7818120" y="5138928"/>
            <a:ext cx="3337560" cy="566928"/>
          </a:xfrm>
          <a:prstGeom prst="rect">
            <a:avLst/>
          </a:prstGeom>
          <a:noFill/>
          <a:ln/>
        </p:spPr>
        <p:txBody>
          <a:bodyPr wrap="square" lIns="0" tIns="0" rIns="0" bIns="0" rtlCol="0" anchor="ctr">
            <a:normAutofit/>
          </a:bodyPr>
          <a:lstStyle/>
          <a:p>
            <a:pPr algn="l" indent="0" marL="0">
              <a:buNone/>
            </a:pPr>
            <a:r>
              <a:rPr lang="en-US" sz="1600" b="1" dirty="0">
                <a:solidFill>
                  <a:srgbClr val="17202A"/>
                </a:solidFill>
                <a:latin typeface="Noto Sans CJK JP" pitchFamily="34" charset="0"/>
                <a:ea typeface="Noto Sans CJK JP" pitchFamily="34" charset="-122"/>
                <a:cs typeface="Noto Sans CJK JP" pitchFamily="34" charset="-120"/>
              </a:rPr>
              <a:t>初回赤字を許容する場合も、定期化で回収できる範囲にCPAを制限する。</a:t>
            </a:r>
            <a:endParaRPr lang="en-US" sz="1600" dirty="0"/>
          </a:p>
        </p:txBody>
      </p:sp>
      <p:sp>
        <p:nvSpPr>
          <p:cNvPr id="27" name="Text 25"/>
          <p:cNvSpPr/>
          <p:nvPr/>
        </p:nvSpPr>
        <p:spPr>
          <a:xfrm>
            <a:off x="7909560" y="5806440"/>
            <a:ext cx="3246120" cy="530352"/>
          </a:xfrm>
          <a:prstGeom prst="rect">
            <a:avLst/>
          </a:prstGeom>
          <a:noFill/>
          <a:ln/>
        </p:spPr>
        <p:txBody>
          <a:bodyPr wrap="square" lIns="254" tIns="254" rIns="254" bIns="254" rtlCol="0" anchor="ctr">
            <a:normAutofit/>
          </a:bodyPr>
          <a:lstStyle/>
          <a:p>
            <a:r>
              <a:rPr lang="en-US" sz="980" dirty="0">
                <a:solidFill>
                  <a:srgbClr val="17202A"/>
                </a:solidFill>
                <a:latin typeface="Noto Sans CJK JP" pitchFamily="34" charset="0"/>
                <a:ea typeface="Noto Sans CJK JP" pitchFamily="34" charset="-122"/>
                <a:cs typeface="Noto Sans CJK JP" pitchFamily="34" charset="-120"/>
              </a:rPr>
              <a:t>トッピング動画で広告効率を検証</a:t>
            </a:r>
            <a:endParaRPr lang="en-US" sz="980" dirty="0"/>
          </a:p>
          <a:p>
            <a:r>
              <a:rPr lang="en-US" sz="980" dirty="0">
                <a:solidFill>
                  <a:srgbClr val="17202A"/>
                </a:solidFill>
                <a:latin typeface="Noto Sans CJK JP" pitchFamily="34" charset="0"/>
                <a:ea typeface="Noto Sans CJK JP" pitchFamily="34" charset="-122"/>
                <a:cs typeface="Noto Sans CJK JP" pitchFamily="34" charset="-120"/>
              </a:rPr>
              <a:t>同梱物で定期購入へ誘導</a:t>
            </a:r>
            <a:endParaRPr lang="en-US" sz="980" dirty="0"/>
          </a:p>
          <a:p>
            <a:r>
              <a:rPr lang="en-US" sz="980" dirty="0">
                <a:solidFill>
                  <a:srgbClr val="17202A"/>
                </a:solidFill>
                <a:latin typeface="Noto Sans CJK JP" pitchFamily="34" charset="0"/>
                <a:ea typeface="Noto Sans CJK JP" pitchFamily="34" charset="-122"/>
                <a:cs typeface="Noto Sans CJK JP" pitchFamily="34" charset="-120"/>
              </a:rPr>
              <a:t>UGCとレビューで獲得単価を下げる</a:t>
            </a:r>
            <a:endParaRPr lang="en-US" sz="980" dirty="0"/>
          </a:p>
        </p:txBody>
      </p:sp>
      <p:sp>
        <p:nvSpPr>
          <p:cNvPr id="28" name="Text 26"/>
          <p:cNvSpPr/>
          <p:nvPr/>
        </p:nvSpPr>
        <p:spPr>
          <a:xfrm>
            <a:off x="457200" y="6537960"/>
            <a:ext cx="5486400" cy="182880"/>
          </a:xfrm>
          <a:prstGeom prst="rect">
            <a:avLst/>
          </a:prstGeom>
          <a:noFill/>
          <a:ln/>
        </p:spPr>
        <p:txBody>
          <a:bodyPr wrap="square" lIns="0" tIns="0" rIns="0" bIns="0" rtlCol="0" anchor="ctr">
            <a:normAutofit/>
          </a:bodyPr>
          <a:lstStyle/>
          <a:p>
            <a:pPr algn="l" indent="0" marL="0">
              <a:buNone/>
            </a:pPr>
            <a:r>
              <a:rPr lang="en-US" sz="780" dirty="0">
                <a:solidFill>
                  <a:srgbClr val="5E6673"/>
                </a:solidFill>
                <a:latin typeface="Noto Sans CJK JP" pitchFamily="34" charset="0"/>
                <a:ea typeface="Noto Sans CJK JP" pitchFamily="34" charset="-122"/>
                <a:cs typeface="Noto Sans CJK JP" pitchFamily="34" charset="-120"/>
              </a:rPr>
              <a:t>出所: 提供資料に基づく構成</a:t>
            </a:r>
            <a:endParaRPr lang="en-US" sz="780" dirty="0"/>
          </a:p>
        </p:txBody>
      </p:sp>
      <p:sp>
        <p:nvSpPr>
          <p:cNvPr id="29" name="Text 27"/>
          <p:cNvSpPr/>
          <p:nvPr/>
        </p:nvSpPr>
        <p:spPr>
          <a:xfrm>
            <a:off x="8869680" y="6537960"/>
            <a:ext cx="2834640" cy="182880"/>
          </a:xfrm>
          <a:prstGeom prst="rect">
            <a:avLst/>
          </a:prstGeom>
          <a:noFill/>
          <a:ln/>
        </p:spPr>
        <p:txBody>
          <a:bodyPr wrap="square" lIns="0" tIns="0" rIns="0" bIns="0" rtlCol="0" anchor="ctr">
            <a:normAutofit/>
          </a:bodyPr>
          <a:lstStyle/>
          <a:p>
            <a:pPr algn="r" indent="0" marL="0">
              <a:buNone/>
            </a:pPr>
            <a:r>
              <a:rPr lang="en-US" sz="780" dirty="0">
                <a:solidFill>
                  <a:srgbClr val="5E6673"/>
                </a:solidFill>
                <a:latin typeface="Noto Sans CJK JP" pitchFamily="34" charset="0"/>
                <a:ea typeface="Noto Sans CJK JP" pitchFamily="34" charset="-122"/>
                <a:cs typeface="Noto Sans CJK JP" pitchFamily="34" charset="-120"/>
              </a:rPr>
              <a:t>ごろにゃんプレミアム 事業承認提案</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3E9"/>
        </a:solidFill>
      </p:bgPr>
    </p:bg>
    <p:spTree>
      <p:nvGrpSpPr>
        <p:cNvPr id="1" name=""/>
        <p:cNvGrpSpPr/>
        <p:nvPr/>
      </p:nvGrpSpPr>
      <p:grpSpPr>
        <a:xfrm>
          <a:off x="0" y="0"/>
          <a:ext cx="0" cy="0"/>
          <a:chOff x="0" y="0"/>
          <a:chExt cx="0" cy="0"/>
        </a:xfrm>
      </p:grpSpPr>
      <p:sp>
        <p:nvSpPr>
          <p:cNvPr id="2" name="Text 0"/>
          <p:cNvSpPr/>
          <p:nvPr/>
        </p:nvSpPr>
        <p:spPr>
          <a:xfrm>
            <a:off x="411480" y="310896"/>
            <a:ext cx="548640" cy="274320"/>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08</a:t>
            </a:r>
            <a:endParaRPr lang="en-US" sz="1000" dirty="0"/>
          </a:p>
        </p:txBody>
      </p:sp>
      <p:sp>
        <p:nvSpPr>
          <p:cNvPr id="3" name="Text 1"/>
          <p:cNvSpPr/>
          <p:nvPr/>
        </p:nvSpPr>
        <p:spPr>
          <a:xfrm>
            <a:off x="960120" y="164592"/>
            <a:ext cx="6035040" cy="438912"/>
          </a:xfrm>
          <a:prstGeom prst="rect">
            <a:avLst/>
          </a:prstGeom>
          <a:noFill/>
          <a:ln/>
        </p:spPr>
        <p:txBody>
          <a:bodyPr wrap="square" lIns="0" tIns="0" rIns="0" bIns="0" rtlCol="0" anchor="ctr">
            <a:normAutofit/>
          </a:bodyPr>
          <a:lstStyle/>
          <a:p>
            <a:pPr algn="l" indent="0" marL="0">
              <a:buNone/>
            </a:pPr>
            <a:r>
              <a:rPr lang="en-US" sz="2600" b="1" dirty="0">
                <a:solidFill>
                  <a:srgbClr val="1D2D44"/>
                </a:solidFill>
                <a:latin typeface="Noto Sans CJK JP" pitchFamily="34" charset="0"/>
                <a:ea typeface="Noto Sans CJK JP" pitchFamily="34" charset="-122"/>
                <a:cs typeface="Noto Sans CJK JP" pitchFamily="34" charset="-120"/>
              </a:rPr>
              <a:t>調達・生産リスク</a:t>
            </a:r>
            <a:endParaRPr lang="en-US" sz="2600" dirty="0"/>
          </a:p>
        </p:txBody>
      </p:sp>
      <p:sp>
        <p:nvSpPr>
          <p:cNvPr id="4" name="Text 2"/>
          <p:cNvSpPr/>
          <p:nvPr/>
        </p:nvSpPr>
        <p:spPr>
          <a:xfrm>
            <a:off x="960120" y="685800"/>
            <a:ext cx="9738360" cy="512064"/>
          </a:xfrm>
          <a:prstGeom prst="rect">
            <a:avLst/>
          </a:prstGeom>
          <a:noFill/>
          <a:ln/>
        </p:spPr>
        <p:txBody>
          <a:bodyPr wrap="square" lIns="0" tIns="0" rIns="0" bIns="0" rtlCol="0" anchor="ctr">
            <a:normAutofit/>
          </a:bodyPr>
          <a:lstStyle/>
          <a:p>
            <a:pPr algn="l" indent="0" marL="0">
              <a:buNone/>
            </a:pPr>
            <a:r>
              <a:rPr lang="en-US" sz="1700" b="1" dirty="0">
                <a:solidFill>
                  <a:srgbClr val="17202A"/>
                </a:solidFill>
                <a:latin typeface="Noto Sans CJK JP" pitchFamily="34" charset="0"/>
                <a:ea typeface="Noto Sans CJK JP" pitchFamily="34" charset="-122"/>
                <a:cs typeface="Noto Sans CJK JP" pitchFamily="34" charset="-120"/>
              </a:rPr>
              <a:t>サーモンオイルはノルウェー単一依存を避け、複数調達先と品質管理OEMを前提に進めるべきと判断する。</a:t>
            </a:r>
            <a:endParaRPr lang="en-US" sz="1700" dirty="0"/>
          </a:p>
        </p:txBody>
      </p:sp>
      <p:sp>
        <p:nvSpPr>
          <p:cNvPr id="5" name="Shape 3"/>
          <p:cNvSpPr/>
          <p:nvPr/>
        </p:nvSpPr>
        <p:spPr>
          <a:xfrm>
            <a:off x="960120" y="1298448"/>
            <a:ext cx="10789920" cy="0"/>
          </a:xfrm>
          <a:prstGeom prst="line">
            <a:avLst/>
          </a:prstGeom>
          <a:noFill/>
          <a:ln w="12700">
            <a:solidFill>
              <a:srgbClr val="D9DEE5"/>
            </a:solidFill>
            <a:prstDash val="solid"/>
          </a:ln>
        </p:spPr>
      </p:sp>
      <p:sp>
        <p:nvSpPr>
          <p:cNvPr id="6" name="Text 4"/>
          <p:cNvSpPr/>
          <p:nvPr/>
        </p:nvSpPr>
        <p:spPr>
          <a:xfrm>
            <a:off x="685800" y="1508760"/>
            <a:ext cx="210312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調達ヘッジの選択肢</a:t>
            </a:r>
            <a:endParaRPr lang="en-US" sz="1000" dirty="0"/>
          </a:p>
        </p:txBody>
      </p:sp>
      <p:sp>
        <p:nvSpPr>
          <p:cNvPr id="7" name="Shape 5"/>
          <p:cNvSpPr/>
          <p:nvPr/>
        </p:nvSpPr>
        <p:spPr>
          <a:xfrm>
            <a:off x="685800" y="1792224"/>
            <a:ext cx="2103120" cy="0"/>
          </a:xfrm>
          <a:prstGeom prst="line">
            <a:avLst/>
          </a:prstGeom>
          <a:noFill/>
          <a:ln w="16510">
            <a:solidFill>
              <a:srgbClr val="E9846D"/>
            </a:solidFill>
            <a:prstDash val="solid"/>
          </a:ln>
        </p:spPr>
      </p:sp>
      <p:sp>
        <p:nvSpPr>
          <p:cNvPr id="8" name="Text 6"/>
          <p:cNvSpPr/>
          <p:nvPr/>
        </p:nvSpPr>
        <p:spPr>
          <a:xfrm>
            <a:off x="914400" y="1965960"/>
            <a:ext cx="1143000" cy="228600"/>
          </a:xfrm>
          <a:prstGeom prst="rect">
            <a:avLst/>
          </a:prstGeom>
          <a:noFill/>
          <a:ln/>
        </p:spPr>
        <p:txBody>
          <a:bodyPr wrap="square" lIns="0" tIns="0" rIns="0" bIns="0" rtlCol="0" anchor="ctr">
            <a:normAutofit/>
          </a:bodyPr>
          <a:lstStyle/>
          <a:p>
            <a:pPr algn="l" indent="0" marL="0">
              <a:buNone/>
            </a:pPr>
            <a:r>
              <a:rPr lang="en-US" sz="1080" b="1" dirty="0">
                <a:solidFill>
                  <a:srgbClr val="5E6673"/>
                </a:solidFill>
                <a:latin typeface="Noto Sans CJK JP" pitchFamily="34" charset="0"/>
                <a:ea typeface="Noto Sans CJK JP" pitchFamily="34" charset="-122"/>
                <a:cs typeface="Noto Sans CJK JP" pitchFamily="34" charset="-120"/>
              </a:rPr>
              <a:t>調達候補</a:t>
            </a:r>
            <a:endParaRPr lang="en-US" sz="1080" dirty="0"/>
          </a:p>
        </p:txBody>
      </p:sp>
      <p:sp>
        <p:nvSpPr>
          <p:cNvPr id="9" name="Text 7"/>
          <p:cNvSpPr/>
          <p:nvPr/>
        </p:nvSpPr>
        <p:spPr>
          <a:xfrm>
            <a:off x="2331720" y="1965960"/>
            <a:ext cx="1371600" cy="228600"/>
          </a:xfrm>
          <a:prstGeom prst="rect">
            <a:avLst/>
          </a:prstGeom>
          <a:noFill/>
          <a:ln/>
        </p:spPr>
        <p:txBody>
          <a:bodyPr wrap="square" lIns="0" tIns="0" rIns="0" bIns="0" rtlCol="0" anchor="ctr">
            <a:normAutofit/>
          </a:bodyPr>
          <a:lstStyle/>
          <a:p>
            <a:pPr algn="l" indent="0" marL="0">
              <a:buNone/>
            </a:pPr>
            <a:r>
              <a:rPr lang="en-US" sz="1080" b="1" dirty="0">
                <a:solidFill>
                  <a:srgbClr val="5E6673"/>
                </a:solidFill>
                <a:latin typeface="Noto Sans CJK JP" pitchFamily="34" charset="0"/>
                <a:ea typeface="Noto Sans CJK JP" pitchFamily="34" charset="-122"/>
                <a:cs typeface="Noto Sans CJK JP" pitchFamily="34" charset="-120"/>
              </a:rPr>
              <a:t>期待役割</a:t>
            </a:r>
            <a:endParaRPr lang="en-US" sz="1080" dirty="0"/>
          </a:p>
        </p:txBody>
      </p:sp>
      <p:sp>
        <p:nvSpPr>
          <p:cNvPr id="10" name="Text 8"/>
          <p:cNvSpPr/>
          <p:nvPr/>
        </p:nvSpPr>
        <p:spPr>
          <a:xfrm>
            <a:off x="4160520" y="1965960"/>
            <a:ext cx="2286000" cy="228600"/>
          </a:xfrm>
          <a:prstGeom prst="rect">
            <a:avLst/>
          </a:prstGeom>
          <a:noFill/>
          <a:ln/>
        </p:spPr>
        <p:txBody>
          <a:bodyPr wrap="square" lIns="0" tIns="0" rIns="0" bIns="0" rtlCol="0" anchor="ctr">
            <a:normAutofit/>
          </a:bodyPr>
          <a:lstStyle/>
          <a:p>
            <a:pPr algn="l" indent="0" marL="0">
              <a:buNone/>
            </a:pPr>
            <a:r>
              <a:rPr lang="en-US" sz="1080" b="1" dirty="0">
                <a:solidFill>
                  <a:srgbClr val="5E6673"/>
                </a:solidFill>
                <a:latin typeface="Noto Sans CJK JP" pitchFamily="34" charset="0"/>
                <a:ea typeface="Noto Sans CJK JP" pitchFamily="34" charset="-122"/>
                <a:cs typeface="Noto Sans CJK JP" pitchFamily="34" charset="-120"/>
              </a:rPr>
              <a:t>主な確認事項</a:t>
            </a:r>
            <a:endParaRPr lang="en-US" sz="1080" dirty="0"/>
          </a:p>
        </p:txBody>
      </p:sp>
      <p:sp>
        <p:nvSpPr>
          <p:cNvPr id="11" name="Shape 9"/>
          <p:cNvSpPr/>
          <p:nvPr/>
        </p:nvSpPr>
        <p:spPr>
          <a:xfrm>
            <a:off x="868680" y="2286000"/>
            <a:ext cx="6080760" cy="0"/>
          </a:xfrm>
          <a:prstGeom prst="line">
            <a:avLst/>
          </a:prstGeom>
          <a:noFill/>
          <a:ln w="12700">
            <a:solidFill>
              <a:srgbClr val="D9DEE5"/>
            </a:solidFill>
            <a:prstDash val="solid"/>
            <a:headEnd type="none"/>
            <a:tailEnd type="none"/>
          </a:ln>
        </p:spPr>
      </p:sp>
      <p:sp>
        <p:nvSpPr>
          <p:cNvPr id="12" name="Text 10"/>
          <p:cNvSpPr/>
          <p:nvPr/>
        </p:nvSpPr>
        <p:spPr>
          <a:xfrm>
            <a:off x="914400" y="2578608"/>
            <a:ext cx="1143000" cy="219456"/>
          </a:xfrm>
          <a:prstGeom prst="rect">
            <a:avLst/>
          </a:prstGeom>
          <a:noFill/>
          <a:ln/>
        </p:spPr>
        <p:txBody>
          <a:bodyPr wrap="square" lIns="0" tIns="0" rIns="0" bIns="0" rtlCol="0" anchor="ctr">
            <a:normAutofit/>
          </a:bodyPr>
          <a:lstStyle/>
          <a:p>
            <a:pPr algn="l" indent="0" marL="0">
              <a:buNone/>
            </a:pPr>
            <a:r>
              <a:rPr lang="en-US" sz="1060" b="1" dirty="0">
                <a:solidFill>
                  <a:srgbClr val="1D2D44"/>
                </a:solidFill>
                <a:latin typeface="Noto Sans CJK JP" pitchFamily="34" charset="0"/>
                <a:ea typeface="Noto Sans CJK JP" pitchFamily="34" charset="-122"/>
                <a:cs typeface="Noto Sans CJK JP" pitchFamily="34" charset="-120"/>
              </a:rPr>
              <a:t>ノルウェー産</a:t>
            </a:r>
            <a:endParaRPr lang="en-US" sz="1060" dirty="0"/>
          </a:p>
        </p:txBody>
      </p:sp>
      <p:sp>
        <p:nvSpPr>
          <p:cNvPr id="13" name="Text 11"/>
          <p:cNvSpPr/>
          <p:nvPr/>
        </p:nvSpPr>
        <p:spPr>
          <a:xfrm>
            <a:off x="2331720" y="2578608"/>
            <a:ext cx="1417320" cy="256032"/>
          </a:xfrm>
          <a:prstGeom prst="rect">
            <a:avLst/>
          </a:prstGeom>
          <a:noFill/>
          <a:ln/>
        </p:spPr>
        <p:txBody>
          <a:bodyPr wrap="square" lIns="0" tIns="0" rIns="0" bIns="0" rtlCol="0" anchor="ctr">
            <a:normAutofit/>
          </a:bodyPr>
          <a:lstStyle/>
          <a:p>
            <a:pPr algn="l" indent="0" marL="0">
              <a:buNone/>
            </a:pPr>
            <a:r>
              <a:rPr lang="en-US" sz="980" dirty="0">
                <a:solidFill>
                  <a:srgbClr val="17202A"/>
                </a:solidFill>
                <a:latin typeface="Noto Sans CJK JP" pitchFamily="34" charset="0"/>
                <a:ea typeface="Noto Sans CJK JP" pitchFamily="34" charset="-122"/>
                <a:cs typeface="Noto Sans CJK JP" pitchFamily="34" charset="-120"/>
              </a:rPr>
              <a:t>品質・ブランド性の基準線</a:t>
            </a:r>
            <a:endParaRPr lang="en-US" sz="980" dirty="0"/>
          </a:p>
        </p:txBody>
      </p:sp>
      <p:sp>
        <p:nvSpPr>
          <p:cNvPr id="14" name="Text 12"/>
          <p:cNvSpPr/>
          <p:nvPr/>
        </p:nvSpPr>
        <p:spPr>
          <a:xfrm>
            <a:off x="4160520" y="2578608"/>
            <a:ext cx="2423160" cy="256032"/>
          </a:xfrm>
          <a:prstGeom prst="rect">
            <a:avLst/>
          </a:prstGeom>
          <a:noFill/>
          <a:ln/>
        </p:spPr>
        <p:txBody>
          <a:bodyPr wrap="square" lIns="0" tIns="0" rIns="0" bIns="0" rtlCol="0" anchor="ctr">
            <a:normAutofit/>
          </a:bodyPr>
          <a:lstStyle/>
          <a:p>
            <a:pPr algn="l" indent="0" marL="0">
              <a:buNone/>
            </a:pPr>
            <a:r>
              <a:rPr lang="en-US" sz="980" dirty="0">
                <a:solidFill>
                  <a:srgbClr val="17202A"/>
                </a:solidFill>
                <a:latin typeface="Noto Sans CJK JP" pitchFamily="34" charset="0"/>
                <a:ea typeface="Noto Sans CJK JP" pitchFamily="34" charset="-122"/>
                <a:cs typeface="Noto Sans CJK JP" pitchFamily="34" charset="-120"/>
              </a:rPr>
              <a:t>クローネ高、環境規制、供給量</a:t>
            </a:r>
            <a:endParaRPr lang="en-US" sz="980" dirty="0"/>
          </a:p>
        </p:txBody>
      </p:sp>
      <p:sp>
        <p:nvSpPr>
          <p:cNvPr id="15" name="Text 13"/>
          <p:cNvSpPr/>
          <p:nvPr/>
        </p:nvSpPr>
        <p:spPr>
          <a:xfrm>
            <a:off x="914400" y="3328416"/>
            <a:ext cx="1143000" cy="219456"/>
          </a:xfrm>
          <a:prstGeom prst="rect">
            <a:avLst/>
          </a:prstGeom>
          <a:noFill/>
          <a:ln/>
        </p:spPr>
        <p:txBody>
          <a:bodyPr wrap="square" lIns="0" tIns="0" rIns="0" bIns="0" rtlCol="0" anchor="ctr">
            <a:normAutofit/>
          </a:bodyPr>
          <a:lstStyle/>
          <a:p>
            <a:pPr algn="l" indent="0" marL="0">
              <a:buNone/>
            </a:pPr>
            <a:r>
              <a:rPr lang="en-US" sz="1060" b="1" dirty="0">
                <a:solidFill>
                  <a:srgbClr val="1D2D44"/>
                </a:solidFill>
                <a:latin typeface="Noto Sans CJK JP" pitchFamily="34" charset="0"/>
                <a:ea typeface="Noto Sans CJK JP" pitchFamily="34" charset="-122"/>
                <a:cs typeface="Noto Sans CJK JP" pitchFamily="34" charset="-120"/>
              </a:rPr>
              <a:t>チリ産養殖</a:t>
            </a:r>
            <a:endParaRPr lang="en-US" sz="1060" dirty="0"/>
          </a:p>
        </p:txBody>
      </p:sp>
      <p:sp>
        <p:nvSpPr>
          <p:cNvPr id="16" name="Text 14"/>
          <p:cNvSpPr/>
          <p:nvPr/>
        </p:nvSpPr>
        <p:spPr>
          <a:xfrm>
            <a:off x="2331720" y="3328416"/>
            <a:ext cx="1417320" cy="256032"/>
          </a:xfrm>
          <a:prstGeom prst="rect">
            <a:avLst/>
          </a:prstGeom>
          <a:noFill/>
          <a:ln/>
        </p:spPr>
        <p:txBody>
          <a:bodyPr wrap="square" lIns="0" tIns="0" rIns="0" bIns="0" rtlCol="0" anchor="ctr">
            <a:normAutofit/>
          </a:bodyPr>
          <a:lstStyle/>
          <a:p>
            <a:pPr algn="l" indent="0" marL="0">
              <a:buNone/>
            </a:pPr>
            <a:r>
              <a:rPr lang="en-US" sz="980" dirty="0">
                <a:solidFill>
                  <a:srgbClr val="17202A"/>
                </a:solidFill>
                <a:latin typeface="Noto Sans CJK JP" pitchFamily="34" charset="0"/>
                <a:ea typeface="Noto Sans CJK JP" pitchFamily="34" charset="-122"/>
                <a:cs typeface="Noto Sans CJK JP" pitchFamily="34" charset="-120"/>
              </a:rPr>
              <a:t>価格・供給の分散</a:t>
            </a:r>
            <a:endParaRPr lang="en-US" sz="980" dirty="0"/>
          </a:p>
        </p:txBody>
      </p:sp>
      <p:sp>
        <p:nvSpPr>
          <p:cNvPr id="17" name="Text 15"/>
          <p:cNvSpPr/>
          <p:nvPr/>
        </p:nvSpPr>
        <p:spPr>
          <a:xfrm>
            <a:off x="4160520" y="3328416"/>
            <a:ext cx="2423160" cy="256032"/>
          </a:xfrm>
          <a:prstGeom prst="rect">
            <a:avLst/>
          </a:prstGeom>
          <a:noFill/>
          <a:ln/>
        </p:spPr>
        <p:txBody>
          <a:bodyPr wrap="square" lIns="0" tIns="0" rIns="0" bIns="0" rtlCol="0" anchor="ctr">
            <a:normAutofit/>
          </a:bodyPr>
          <a:lstStyle/>
          <a:p>
            <a:pPr algn="l" indent="0" marL="0">
              <a:buNone/>
            </a:pPr>
            <a:r>
              <a:rPr lang="en-US" sz="980" dirty="0">
                <a:solidFill>
                  <a:srgbClr val="17202A"/>
                </a:solidFill>
                <a:latin typeface="Noto Sans CJK JP" pitchFamily="34" charset="0"/>
                <a:ea typeface="Noto Sans CJK JP" pitchFamily="34" charset="-122"/>
                <a:cs typeface="Noto Sans CJK JP" pitchFamily="34" charset="-120"/>
              </a:rPr>
              <a:t>品質規格、認証、輸送安定性</a:t>
            </a:r>
            <a:endParaRPr lang="en-US" sz="980" dirty="0"/>
          </a:p>
        </p:txBody>
      </p:sp>
      <p:sp>
        <p:nvSpPr>
          <p:cNvPr id="18" name="Text 16"/>
          <p:cNvSpPr/>
          <p:nvPr/>
        </p:nvSpPr>
        <p:spPr>
          <a:xfrm>
            <a:off x="914400" y="4078224"/>
            <a:ext cx="1143000" cy="219456"/>
          </a:xfrm>
          <a:prstGeom prst="rect">
            <a:avLst/>
          </a:prstGeom>
          <a:noFill/>
          <a:ln/>
        </p:spPr>
        <p:txBody>
          <a:bodyPr wrap="square" lIns="0" tIns="0" rIns="0" bIns="0" rtlCol="0" anchor="ctr">
            <a:normAutofit/>
          </a:bodyPr>
          <a:lstStyle/>
          <a:p>
            <a:pPr algn="l" indent="0" marL="0">
              <a:buNone/>
            </a:pPr>
            <a:r>
              <a:rPr lang="en-US" sz="1060" b="1" dirty="0">
                <a:solidFill>
                  <a:srgbClr val="1D2D44"/>
                </a:solidFill>
                <a:latin typeface="Noto Sans CJK JP" pitchFamily="34" charset="0"/>
                <a:ea typeface="Noto Sans CJK JP" pitchFamily="34" charset="-122"/>
                <a:cs typeface="Noto Sans CJK JP" pitchFamily="34" charset="-120"/>
              </a:rPr>
              <a:t>国産未利用魚</a:t>
            </a:r>
            <a:endParaRPr lang="en-US" sz="1060" dirty="0"/>
          </a:p>
        </p:txBody>
      </p:sp>
      <p:sp>
        <p:nvSpPr>
          <p:cNvPr id="19" name="Text 17"/>
          <p:cNvSpPr/>
          <p:nvPr/>
        </p:nvSpPr>
        <p:spPr>
          <a:xfrm>
            <a:off x="2331720" y="4078224"/>
            <a:ext cx="1417320" cy="256032"/>
          </a:xfrm>
          <a:prstGeom prst="rect">
            <a:avLst/>
          </a:prstGeom>
          <a:noFill/>
          <a:ln/>
        </p:spPr>
        <p:txBody>
          <a:bodyPr wrap="square" lIns="0" tIns="0" rIns="0" bIns="0" rtlCol="0" anchor="ctr">
            <a:normAutofit/>
          </a:bodyPr>
          <a:lstStyle/>
          <a:p>
            <a:pPr algn="l" indent="0" marL="0">
              <a:buNone/>
            </a:pPr>
            <a:r>
              <a:rPr lang="en-US" sz="980" dirty="0">
                <a:solidFill>
                  <a:srgbClr val="17202A"/>
                </a:solidFill>
                <a:latin typeface="Noto Sans CJK JP" pitchFamily="34" charset="0"/>
                <a:ea typeface="Noto Sans CJK JP" pitchFamily="34" charset="-122"/>
                <a:cs typeface="Noto Sans CJK JP" pitchFamily="34" charset="-120"/>
              </a:rPr>
              <a:t>サステナビリティ訴求</a:t>
            </a:r>
            <a:endParaRPr lang="en-US" sz="980" dirty="0"/>
          </a:p>
        </p:txBody>
      </p:sp>
      <p:sp>
        <p:nvSpPr>
          <p:cNvPr id="20" name="Text 18"/>
          <p:cNvSpPr/>
          <p:nvPr/>
        </p:nvSpPr>
        <p:spPr>
          <a:xfrm>
            <a:off x="4160520" y="4078224"/>
            <a:ext cx="2423160" cy="256032"/>
          </a:xfrm>
          <a:prstGeom prst="rect">
            <a:avLst/>
          </a:prstGeom>
          <a:noFill/>
          <a:ln/>
        </p:spPr>
        <p:txBody>
          <a:bodyPr wrap="square" lIns="0" tIns="0" rIns="0" bIns="0" rtlCol="0" anchor="ctr">
            <a:normAutofit/>
          </a:bodyPr>
          <a:lstStyle/>
          <a:p>
            <a:pPr algn="l" indent="0" marL="0">
              <a:buNone/>
            </a:pPr>
            <a:r>
              <a:rPr lang="en-US" sz="980" dirty="0">
                <a:solidFill>
                  <a:srgbClr val="17202A"/>
                </a:solidFill>
                <a:latin typeface="Noto Sans CJK JP" pitchFamily="34" charset="0"/>
                <a:ea typeface="Noto Sans CJK JP" pitchFamily="34" charset="-122"/>
                <a:cs typeface="Noto Sans CJK JP" pitchFamily="34" charset="-120"/>
              </a:rPr>
              <a:t>量の確保、規格安定、加工適性</a:t>
            </a:r>
            <a:endParaRPr lang="en-US" sz="980" dirty="0"/>
          </a:p>
        </p:txBody>
      </p:sp>
      <p:sp>
        <p:nvSpPr>
          <p:cNvPr id="21" name="Text 19"/>
          <p:cNvSpPr/>
          <p:nvPr/>
        </p:nvSpPr>
        <p:spPr>
          <a:xfrm>
            <a:off x="7635240" y="1508760"/>
            <a:ext cx="182880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生産・品質条件</a:t>
            </a:r>
            <a:endParaRPr lang="en-US" sz="1000" dirty="0"/>
          </a:p>
        </p:txBody>
      </p:sp>
      <p:sp>
        <p:nvSpPr>
          <p:cNvPr id="22" name="Shape 20"/>
          <p:cNvSpPr/>
          <p:nvPr/>
        </p:nvSpPr>
        <p:spPr>
          <a:xfrm>
            <a:off x="7635240" y="1792224"/>
            <a:ext cx="1828800" cy="0"/>
          </a:xfrm>
          <a:prstGeom prst="line">
            <a:avLst/>
          </a:prstGeom>
          <a:noFill/>
          <a:ln w="16510">
            <a:solidFill>
              <a:srgbClr val="E9846D"/>
            </a:solidFill>
            <a:prstDash val="solid"/>
          </a:ln>
        </p:spPr>
      </p:sp>
      <p:sp>
        <p:nvSpPr>
          <p:cNvPr id="23" name="Shape 21"/>
          <p:cNvSpPr/>
          <p:nvPr/>
        </p:nvSpPr>
        <p:spPr>
          <a:xfrm>
            <a:off x="7818120" y="2066544"/>
            <a:ext cx="201168" cy="201168"/>
          </a:xfrm>
          <a:prstGeom prst="ellipse">
            <a:avLst/>
          </a:prstGeom>
          <a:solidFill>
            <a:srgbClr val="2E7D74"/>
          </a:solidFill>
          <a:ln w="12700">
            <a:solidFill>
              <a:srgbClr val="2E7D74">
                <a:alpha val="0"/>
              </a:srgbClr>
            </a:solidFill>
            <a:prstDash val="solid"/>
          </a:ln>
        </p:spPr>
      </p:sp>
      <p:sp>
        <p:nvSpPr>
          <p:cNvPr id="24" name="Text 22"/>
          <p:cNvSpPr/>
          <p:nvPr/>
        </p:nvSpPr>
        <p:spPr>
          <a:xfrm>
            <a:off x="8138160" y="2011680"/>
            <a:ext cx="1143000" cy="228600"/>
          </a:xfrm>
          <a:prstGeom prst="rect">
            <a:avLst/>
          </a:prstGeom>
          <a:noFill/>
          <a:ln/>
        </p:spPr>
        <p:txBody>
          <a:bodyPr wrap="square" lIns="0" tIns="0" rIns="0" bIns="0" rtlCol="0" anchor="ctr">
            <a:normAutofit/>
          </a:bodyPr>
          <a:lstStyle/>
          <a:p>
            <a:pPr algn="l" indent="0" marL="0">
              <a:buNone/>
            </a:pPr>
            <a:r>
              <a:rPr lang="en-US" sz="1260" b="1" dirty="0">
                <a:solidFill>
                  <a:srgbClr val="1D2D44"/>
                </a:solidFill>
                <a:latin typeface="Noto Sans CJK JP" pitchFamily="34" charset="0"/>
                <a:ea typeface="Noto Sans CJK JP" pitchFamily="34" charset="-122"/>
                <a:cs typeface="Noto Sans CJK JP" pitchFamily="34" charset="-120"/>
              </a:rPr>
              <a:t>OEM選定</a:t>
            </a:r>
            <a:endParaRPr lang="en-US" sz="1260" dirty="0"/>
          </a:p>
        </p:txBody>
      </p:sp>
      <p:sp>
        <p:nvSpPr>
          <p:cNvPr id="25" name="Text 23"/>
          <p:cNvSpPr/>
          <p:nvPr/>
        </p:nvSpPr>
        <p:spPr>
          <a:xfrm>
            <a:off x="9281160" y="2011680"/>
            <a:ext cx="2057400" cy="256032"/>
          </a:xfrm>
          <a:prstGeom prst="rect">
            <a:avLst/>
          </a:prstGeom>
          <a:noFill/>
          <a:ln/>
        </p:spPr>
        <p:txBody>
          <a:bodyPr wrap="square" lIns="0" tIns="0" rIns="0" bIns="0" rtlCol="0" anchor="ctr">
            <a:normAutofit/>
          </a:bodyPr>
          <a:lstStyle/>
          <a:p>
            <a:pPr algn="l" indent="0" marL="0">
              <a:buNone/>
            </a:pPr>
            <a:r>
              <a:rPr lang="en-US" sz="1080" dirty="0">
                <a:solidFill>
                  <a:srgbClr val="17202A"/>
                </a:solidFill>
                <a:latin typeface="Noto Sans CJK JP" pitchFamily="34" charset="0"/>
                <a:ea typeface="Noto Sans CJK JP" pitchFamily="34" charset="-122"/>
                <a:cs typeface="Noto Sans CJK JP" pitchFamily="34" charset="-120"/>
              </a:rPr>
              <a:t>自動ライン・デジタル品質管理</a:t>
            </a:r>
            <a:endParaRPr lang="en-US" sz="1080" dirty="0"/>
          </a:p>
        </p:txBody>
      </p:sp>
      <p:sp>
        <p:nvSpPr>
          <p:cNvPr id="26" name="Shape 24"/>
          <p:cNvSpPr/>
          <p:nvPr/>
        </p:nvSpPr>
        <p:spPr>
          <a:xfrm>
            <a:off x="7818120" y="2825496"/>
            <a:ext cx="201168" cy="201168"/>
          </a:xfrm>
          <a:prstGeom prst="ellipse">
            <a:avLst/>
          </a:prstGeom>
          <a:solidFill>
            <a:srgbClr val="E9846D"/>
          </a:solidFill>
          <a:ln w="12700">
            <a:solidFill>
              <a:srgbClr val="E9846D">
                <a:alpha val="0"/>
              </a:srgbClr>
            </a:solidFill>
            <a:prstDash val="solid"/>
          </a:ln>
        </p:spPr>
      </p:sp>
      <p:sp>
        <p:nvSpPr>
          <p:cNvPr id="27" name="Text 25"/>
          <p:cNvSpPr/>
          <p:nvPr/>
        </p:nvSpPr>
        <p:spPr>
          <a:xfrm>
            <a:off x="8138160" y="2770632"/>
            <a:ext cx="1143000" cy="228600"/>
          </a:xfrm>
          <a:prstGeom prst="rect">
            <a:avLst/>
          </a:prstGeom>
          <a:noFill/>
          <a:ln/>
        </p:spPr>
        <p:txBody>
          <a:bodyPr wrap="square" lIns="0" tIns="0" rIns="0" bIns="0" rtlCol="0" anchor="ctr">
            <a:normAutofit/>
          </a:bodyPr>
          <a:lstStyle/>
          <a:p>
            <a:pPr algn="l" indent="0" marL="0">
              <a:buNone/>
            </a:pPr>
            <a:r>
              <a:rPr lang="en-US" sz="1260" b="1" dirty="0">
                <a:solidFill>
                  <a:srgbClr val="1D2D44"/>
                </a:solidFill>
                <a:latin typeface="Noto Sans CJK JP" pitchFamily="34" charset="0"/>
                <a:ea typeface="Noto Sans CJK JP" pitchFamily="34" charset="-122"/>
                <a:cs typeface="Noto Sans CJK JP" pitchFamily="34" charset="-120"/>
              </a:rPr>
              <a:t>酸化対策</a:t>
            </a:r>
            <a:endParaRPr lang="en-US" sz="1260" dirty="0"/>
          </a:p>
        </p:txBody>
      </p:sp>
      <p:sp>
        <p:nvSpPr>
          <p:cNvPr id="28" name="Text 26"/>
          <p:cNvSpPr/>
          <p:nvPr/>
        </p:nvSpPr>
        <p:spPr>
          <a:xfrm>
            <a:off x="9281160" y="2770632"/>
            <a:ext cx="2057400" cy="256032"/>
          </a:xfrm>
          <a:prstGeom prst="rect">
            <a:avLst/>
          </a:prstGeom>
          <a:noFill/>
          <a:ln/>
        </p:spPr>
        <p:txBody>
          <a:bodyPr wrap="square" lIns="0" tIns="0" rIns="0" bIns="0" rtlCol="0" anchor="ctr">
            <a:normAutofit/>
          </a:bodyPr>
          <a:lstStyle/>
          <a:p>
            <a:pPr algn="l" indent="0" marL="0">
              <a:buNone/>
            </a:pPr>
            <a:r>
              <a:rPr lang="en-US" sz="1080" dirty="0">
                <a:solidFill>
                  <a:srgbClr val="17202A"/>
                </a:solidFill>
                <a:latin typeface="Noto Sans CJK JP" pitchFamily="34" charset="0"/>
                <a:ea typeface="Noto Sans CJK JP" pitchFamily="34" charset="-122"/>
                <a:cs typeface="Noto Sans CJK JP" pitchFamily="34" charset="-120"/>
              </a:rPr>
              <a:t>窒素充填・特殊バリアフィルム</a:t>
            </a:r>
            <a:endParaRPr lang="en-US" sz="1080" dirty="0"/>
          </a:p>
        </p:txBody>
      </p:sp>
      <p:sp>
        <p:nvSpPr>
          <p:cNvPr id="29" name="Shape 27"/>
          <p:cNvSpPr/>
          <p:nvPr/>
        </p:nvSpPr>
        <p:spPr>
          <a:xfrm>
            <a:off x="7818120" y="3584448"/>
            <a:ext cx="201168" cy="201168"/>
          </a:xfrm>
          <a:prstGeom prst="ellipse">
            <a:avLst/>
          </a:prstGeom>
          <a:solidFill>
            <a:srgbClr val="2A5D7C"/>
          </a:solidFill>
          <a:ln w="12700">
            <a:solidFill>
              <a:srgbClr val="2A5D7C">
                <a:alpha val="0"/>
              </a:srgbClr>
            </a:solidFill>
            <a:prstDash val="solid"/>
          </a:ln>
        </p:spPr>
      </p:sp>
      <p:sp>
        <p:nvSpPr>
          <p:cNvPr id="30" name="Text 28"/>
          <p:cNvSpPr/>
          <p:nvPr/>
        </p:nvSpPr>
        <p:spPr>
          <a:xfrm>
            <a:off x="8138160" y="3529584"/>
            <a:ext cx="1143000" cy="228600"/>
          </a:xfrm>
          <a:prstGeom prst="rect">
            <a:avLst/>
          </a:prstGeom>
          <a:noFill/>
          <a:ln/>
        </p:spPr>
        <p:txBody>
          <a:bodyPr wrap="square" lIns="0" tIns="0" rIns="0" bIns="0" rtlCol="0" anchor="ctr">
            <a:normAutofit/>
          </a:bodyPr>
          <a:lstStyle/>
          <a:p>
            <a:pPr algn="l" indent="0" marL="0">
              <a:buNone/>
            </a:pPr>
            <a:r>
              <a:rPr lang="en-US" sz="1260" b="1" dirty="0">
                <a:solidFill>
                  <a:srgbClr val="1D2D44"/>
                </a:solidFill>
                <a:latin typeface="Noto Sans CJK JP" pitchFamily="34" charset="0"/>
                <a:ea typeface="Noto Sans CJK JP" pitchFamily="34" charset="-122"/>
                <a:cs typeface="Noto Sans CJK JP" pitchFamily="34" charset="-120"/>
              </a:rPr>
              <a:t>表示・追跡</a:t>
            </a:r>
            <a:endParaRPr lang="en-US" sz="1260" dirty="0"/>
          </a:p>
        </p:txBody>
      </p:sp>
      <p:sp>
        <p:nvSpPr>
          <p:cNvPr id="31" name="Text 29"/>
          <p:cNvSpPr/>
          <p:nvPr/>
        </p:nvSpPr>
        <p:spPr>
          <a:xfrm>
            <a:off x="9281160" y="3529584"/>
            <a:ext cx="2057400" cy="256032"/>
          </a:xfrm>
          <a:prstGeom prst="rect">
            <a:avLst/>
          </a:prstGeom>
          <a:noFill/>
          <a:ln/>
        </p:spPr>
        <p:txBody>
          <a:bodyPr wrap="square" lIns="0" tIns="0" rIns="0" bIns="0" rtlCol="0" anchor="ctr">
            <a:normAutofit/>
          </a:bodyPr>
          <a:lstStyle/>
          <a:p>
            <a:pPr algn="l" indent="0" marL="0">
              <a:buNone/>
            </a:pPr>
            <a:r>
              <a:rPr lang="en-US" sz="1080" dirty="0">
                <a:solidFill>
                  <a:srgbClr val="17202A"/>
                </a:solidFill>
                <a:latin typeface="Noto Sans CJK JP" pitchFamily="34" charset="0"/>
                <a:ea typeface="Noto Sans CJK JP" pitchFamily="34" charset="-122"/>
                <a:cs typeface="Noto Sans CJK JP" pitchFamily="34" charset="-120"/>
              </a:rPr>
              <a:t>ロット単位のトレーサビリティ</a:t>
            </a:r>
            <a:endParaRPr lang="en-US" sz="1080" dirty="0"/>
          </a:p>
        </p:txBody>
      </p:sp>
      <p:sp>
        <p:nvSpPr>
          <p:cNvPr id="32" name="Shape 30"/>
          <p:cNvSpPr/>
          <p:nvPr/>
        </p:nvSpPr>
        <p:spPr>
          <a:xfrm>
            <a:off x="7818120" y="4343400"/>
            <a:ext cx="201168" cy="201168"/>
          </a:xfrm>
          <a:prstGeom prst="ellipse">
            <a:avLst/>
          </a:prstGeom>
          <a:solidFill>
            <a:srgbClr val="F1AE72"/>
          </a:solidFill>
          <a:ln w="12700">
            <a:solidFill>
              <a:srgbClr val="F1AE72">
                <a:alpha val="0"/>
              </a:srgbClr>
            </a:solidFill>
            <a:prstDash val="solid"/>
          </a:ln>
        </p:spPr>
      </p:sp>
      <p:sp>
        <p:nvSpPr>
          <p:cNvPr id="33" name="Text 31"/>
          <p:cNvSpPr/>
          <p:nvPr/>
        </p:nvSpPr>
        <p:spPr>
          <a:xfrm>
            <a:off x="8138160" y="4288536"/>
            <a:ext cx="1143000" cy="228600"/>
          </a:xfrm>
          <a:prstGeom prst="rect">
            <a:avLst/>
          </a:prstGeom>
          <a:noFill/>
          <a:ln/>
        </p:spPr>
        <p:txBody>
          <a:bodyPr wrap="square" lIns="0" tIns="0" rIns="0" bIns="0" rtlCol="0" anchor="ctr">
            <a:normAutofit/>
          </a:bodyPr>
          <a:lstStyle/>
          <a:p>
            <a:pPr algn="l" indent="0" marL="0">
              <a:buNone/>
            </a:pPr>
            <a:r>
              <a:rPr lang="en-US" sz="1260" b="1" dirty="0">
                <a:solidFill>
                  <a:srgbClr val="1D2D44"/>
                </a:solidFill>
                <a:latin typeface="Noto Sans CJK JP" pitchFamily="34" charset="0"/>
                <a:ea typeface="Noto Sans CJK JP" pitchFamily="34" charset="-122"/>
                <a:cs typeface="Noto Sans CJK JP" pitchFamily="34" charset="-120"/>
              </a:rPr>
              <a:t>原価固定</a:t>
            </a:r>
            <a:endParaRPr lang="en-US" sz="1260" dirty="0"/>
          </a:p>
        </p:txBody>
      </p:sp>
      <p:sp>
        <p:nvSpPr>
          <p:cNvPr id="34" name="Text 32"/>
          <p:cNvSpPr/>
          <p:nvPr/>
        </p:nvSpPr>
        <p:spPr>
          <a:xfrm>
            <a:off x="9281160" y="4288536"/>
            <a:ext cx="2057400" cy="256032"/>
          </a:xfrm>
          <a:prstGeom prst="rect">
            <a:avLst/>
          </a:prstGeom>
          <a:noFill/>
          <a:ln/>
        </p:spPr>
        <p:txBody>
          <a:bodyPr wrap="square" lIns="0" tIns="0" rIns="0" bIns="0" rtlCol="0" anchor="ctr">
            <a:normAutofit/>
          </a:bodyPr>
          <a:lstStyle/>
          <a:p>
            <a:pPr algn="l" indent="0" marL="0">
              <a:buNone/>
            </a:pPr>
            <a:r>
              <a:rPr lang="en-US" sz="1080" dirty="0">
                <a:solidFill>
                  <a:srgbClr val="17202A"/>
                </a:solidFill>
                <a:latin typeface="Noto Sans CJK JP" pitchFamily="34" charset="0"/>
                <a:ea typeface="Noto Sans CJK JP" pitchFamily="34" charset="-122"/>
                <a:cs typeface="Noto Sans CJK JP" pitchFamily="34" charset="-120"/>
              </a:rPr>
              <a:t>為替予約・複数見積で検証</a:t>
            </a:r>
            <a:endParaRPr lang="en-US" sz="1080" dirty="0"/>
          </a:p>
        </p:txBody>
      </p:sp>
      <p:sp>
        <p:nvSpPr>
          <p:cNvPr id="35" name="Text 33"/>
          <p:cNvSpPr/>
          <p:nvPr/>
        </p:nvSpPr>
        <p:spPr>
          <a:xfrm>
            <a:off x="914400" y="5257800"/>
            <a:ext cx="9875520" cy="347472"/>
          </a:xfrm>
          <a:prstGeom prst="rect">
            <a:avLst/>
          </a:prstGeom>
          <a:noFill/>
          <a:ln/>
        </p:spPr>
        <p:txBody>
          <a:bodyPr wrap="square" lIns="0" tIns="0" rIns="0" bIns="0" rtlCol="0" anchor="ctr">
            <a:normAutofit/>
          </a:bodyPr>
          <a:lstStyle/>
          <a:p>
            <a:pPr algn="l" indent="0" marL="0">
              <a:buNone/>
            </a:pPr>
            <a:r>
              <a:rPr lang="en-US" sz="1700" b="1" dirty="0">
                <a:solidFill>
                  <a:srgbClr val="E9846D"/>
                </a:solidFill>
                <a:latin typeface="Noto Sans CJK JP" pitchFamily="34" charset="0"/>
                <a:ea typeface="Noto Sans CJK JP" pitchFamily="34" charset="-122"/>
                <a:cs typeface="Noto Sans CJK JP" pitchFamily="34" charset="-120"/>
              </a:rPr>
              <a:t>発売前ゲート: 3調達候補の見積取得＋品質規格の確認を完了する。</a:t>
            </a:r>
            <a:endParaRPr lang="en-US" sz="1700" dirty="0"/>
          </a:p>
        </p:txBody>
      </p:sp>
      <p:sp>
        <p:nvSpPr>
          <p:cNvPr id="36" name="Text 34"/>
          <p:cNvSpPr/>
          <p:nvPr/>
        </p:nvSpPr>
        <p:spPr>
          <a:xfrm>
            <a:off x="457200" y="6537960"/>
            <a:ext cx="5486400" cy="182880"/>
          </a:xfrm>
          <a:prstGeom prst="rect">
            <a:avLst/>
          </a:prstGeom>
          <a:noFill/>
          <a:ln/>
        </p:spPr>
        <p:txBody>
          <a:bodyPr wrap="square" lIns="0" tIns="0" rIns="0" bIns="0" rtlCol="0" anchor="ctr">
            <a:normAutofit/>
          </a:bodyPr>
          <a:lstStyle/>
          <a:p>
            <a:pPr algn="l" indent="0" marL="0">
              <a:buNone/>
            </a:pPr>
            <a:r>
              <a:rPr lang="en-US" sz="780" dirty="0">
                <a:solidFill>
                  <a:srgbClr val="5E6673"/>
                </a:solidFill>
                <a:latin typeface="Noto Sans CJK JP" pitchFamily="34" charset="0"/>
                <a:ea typeface="Noto Sans CJK JP" pitchFamily="34" charset="-122"/>
                <a:cs typeface="Noto Sans CJK JP" pitchFamily="34" charset="-120"/>
              </a:rPr>
              <a:t>出所: 提供資料に基づく構成</a:t>
            </a:r>
            <a:endParaRPr lang="en-US" sz="780" dirty="0"/>
          </a:p>
        </p:txBody>
      </p:sp>
      <p:sp>
        <p:nvSpPr>
          <p:cNvPr id="37" name="Text 35"/>
          <p:cNvSpPr/>
          <p:nvPr/>
        </p:nvSpPr>
        <p:spPr>
          <a:xfrm>
            <a:off x="8869680" y="6537960"/>
            <a:ext cx="2834640" cy="182880"/>
          </a:xfrm>
          <a:prstGeom prst="rect">
            <a:avLst/>
          </a:prstGeom>
          <a:noFill/>
          <a:ln/>
        </p:spPr>
        <p:txBody>
          <a:bodyPr wrap="square" lIns="0" tIns="0" rIns="0" bIns="0" rtlCol="0" anchor="ctr">
            <a:normAutofit/>
          </a:bodyPr>
          <a:lstStyle/>
          <a:p>
            <a:pPr algn="r" indent="0" marL="0">
              <a:buNone/>
            </a:pPr>
            <a:r>
              <a:rPr lang="en-US" sz="780" dirty="0">
                <a:solidFill>
                  <a:srgbClr val="5E6673"/>
                </a:solidFill>
                <a:latin typeface="Noto Sans CJK JP" pitchFamily="34" charset="0"/>
                <a:ea typeface="Noto Sans CJK JP" pitchFamily="34" charset="-122"/>
                <a:cs typeface="Noto Sans CJK JP" pitchFamily="34" charset="-120"/>
              </a:rPr>
              <a:t>ごろにゃんプレミアム 事業承認提案</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3E9"/>
        </a:solidFill>
      </p:bgPr>
    </p:bg>
    <p:spTree>
      <p:nvGrpSpPr>
        <p:cNvPr id="1" name=""/>
        <p:cNvGrpSpPr/>
        <p:nvPr/>
      </p:nvGrpSpPr>
      <p:grpSpPr>
        <a:xfrm>
          <a:off x="0" y="0"/>
          <a:ext cx="0" cy="0"/>
          <a:chOff x="0" y="0"/>
          <a:chExt cx="0" cy="0"/>
        </a:xfrm>
      </p:grpSpPr>
      <p:sp>
        <p:nvSpPr>
          <p:cNvPr id="2" name="Text 0"/>
          <p:cNvSpPr/>
          <p:nvPr/>
        </p:nvSpPr>
        <p:spPr>
          <a:xfrm>
            <a:off x="411480" y="310896"/>
            <a:ext cx="548640" cy="274320"/>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09</a:t>
            </a:r>
            <a:endParaRPr lang="en-US" sz="1000" dirty="0"/>
          </a:p>
        </p:txBody>
      </p:sp>
      <p:sp>
        <p:nvSpPr>
          <p:cNvPr id="3" name="Text 1"/>
          <p:cNvSpPr/>
          <p:nvPr/>
        </p:nvSpPr>
        <p:spPr>
          <a:xfrm>
            <a:off x="960120" y="164592"/>
            <a:ext cx="6035040" cy="438912"/>
          </a:xfrm>
          <a:prstGeom prst="rect">
            <a:avLst/>
          </a:prstGeom>
          <a:noFill/>
          <a:ln/>
        </p:spPr>
        <p:txBody>
          <a:bodyPr wrap="square" lIns="0" tIns="0" rIns="0" bIns="0" rtlCol="0" anchor="ctr">
            <a:normAutofit/>
          </a:bodyPr>
          <a:lstStyle/>
          <a:p>
            <a:pPr algn="l" indent="0" marL="0">
              <a:buNone/>
            </a:pPr>
            <a:r>
              <a:rPr lang="en-US" sz="2600" b="1" dirty="0">
                <a:solidFill>
                  <a:srgbClr val="1D2D44"/>
                </a:solidFill>
                <a:latin typeface="Noto Sans CJK JP" pitchFamily="34" charset="0"/>
                <a:ea typeface="Noto Sans CJK JP" pitchFamily="34" charset="-122"/>
                <a:cs typeface="Noto Sans CJK JP" pitchFamily="34" charset="-120"/>
              </a:rPr>
              <a:t>主要リスクと対応策</a:t>
            </a:r>
            <a:endParaRPr lang="en-US" sz="2600" dirty="0"/>
          </a:p>
        </p:txBody>
      </p:sp>
      <p:sp>
        <p:nvSpPr>
          <p:cNvPr id="4" name="Text 2"/>
          <p:cNvSpPr/>
          <p:nvPr/>
        </p:nvSpPr>
        <p:spPr>
          <a:xfrm>
            <a:off x="960120" y="685800"/>
            <a:ext cx="9738360" cy="512064"/>
          </a:xfrm>
          <a:prstGeom prst="rect">
            <a:avLst/>
          </a:prstGeom>
          <a:noFill/>
          <a:ln/>
        </p:spPr>
        <p:txBody>
          <a:bodyPr wrap="square" lIns="0" tIns="0" rIns="0" bIns="0" rtlCol="0" anchor="ctr">
            <a:normAutofit/>
          </a:bodyPr>
          <a:lstStyle/>
          <a:p>
            <a:pPr algn="l" indent="0" marL="0">
              <a:buNone/>
            </a:pPr>
            <a:r>
              <a:rPr lang="en-US" sz="1700" b="1" dirty="0">
                <a:solidFill>
                  <a:srgbClr val="17202A"/>
                </a:solidFill>
                <a:latin typeface="Noto Sans CJK JP" pitchFamily="34" charset="0"/>
                <a:ea typeface="Noto Sans CJK JP" pitchFamily="34" charset="-122"/>
                <a:cs typeface="Noto Sans CJK JP" pitchFamily="34" charset="-120"/>
              </a:rPr>
              <a:t>財務・生産・販売リスクは残るため、発売前に数値条件を置いたゲート管理で進行すべきと判断する。</a:t>
            </a:r>
            <a:endParaRPr lang="en-US" sz="1700" dirty="0"/>
          </a:p>
        </p:txBody>
      </p:sp>
      <p:sp>
        <p:nvSpPr>
          <p:cNvPr id="5" name="Shape 3"/>
          <p:cNvSpPr/>
          <p:nvPr/>
        </p:nvSpPr>
        <p:spPr>
          <a:xfrm>
            <a:off x="960120" y="1298448"/>
            <a:ext cx="10789920" cy="0"/>
          </a:xfrm>
          <a:prstGeom prst="line">
            <a:avLst/>
          </a:prstGeom>
          <a:noFill/>
          <a:ln w="12700">
            <a:solidFill>
              <a:srgbClr val="D9DEE5"/>
            </a:solidFill>
            <a:prstDash val="solid"/>
          </a:ln>
        </p:spPr>
      </p:sp>
      <p:sp>
        <p:nvSpPr>
          <p:cNvPr id="6" name="Text 4"/>
          <p:cNvSpPr/>
          <p:nvPr/>
        </p:nvSpPr>
        <p:spPr>
          <a:xfrm>
            <a:off x="685800" y="1508760"/>
            <a:ext cx="164592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ゲート管理表</a:t>
            </a:r>
            <a:endParaRPr lang="en-US" sz="1000" dirty="0"/>
          </a:p>
        </p:txBody>
      </p:sp>
      <p:sp>
        <p:nvSpPr>
          <p:cNvPr id="7" name="Shape 5"/>
          <p:cNvSpPr/>
          <p:nvPr/>
        </p:nvSpPr>
        <p:spPr>
          <a:xfrm>
            <a:off x="685800" y="1792224"/>
            <a:ext cx="1645920" cy="0"/>
          </a:xfrm>
          <a:prstGeom prst="line">
            <a:avLst/>
          </a:prstGeom>
          <a:noFill/>
          <a:ln w="16510">
            <a:solidFill>
              <a:srgbClr val="E9846D"/>
            </a:solidFill>
            <a:prstDash val="solid"/>
          </a:ln>
        </p:spPr>
      </p:sp>
      <p:sp>
        <p:nvSpPr>
          <p:cNvPr id="8" name="Text 6"/>
          <p:cNvSpPr/>
          <p:nvPr/>
        </p:nvSpPr>
        <p:spPr>
          <a:xfrm>
            <a:off x="914400" y="1965960"/>
            <a:ext cx="640080" cy="210312"/>
          </a:xfrm>
          <a:prstGeom prst="rect">
            <a:avLst/>
          </a:prstGeom>
          <a:noFill/>
          <a:ln/>
        </p:spPr>
        <p:txBody>
          <a:bodyPr wrap="square" lIns="0" tIns="0" rIns="0" bIns="0" rtlCol="0" anchor="ctr">
            <a:normAutofit/>
          </a:bodyPr>
          <a:lstStyle/>
          <a:p>
            <a:pPr algn="l" indent="0" marL="0">
              <a:buNone/>
            </a:pPr>
            <a:r>
              <a:rPr lang="en-US" sz="1060" b="1" dirty="0">
                <a:solidFill>
                  <a:srgbClr val="5E6673"/>
                </a:solidFill>
                <a:latin typeface="Noto Sans CJK JP" pitchFamily="34" charset="0"/>
                <a:ea typeface="Noto Sans CJK JP" pitchFamily="34" charset="-122"/>
                <a:cs typeface="Noto Sans CJK JP" pitchFamily="34" charset="-120"/>
              </a:rPr>
              <a:t>領域</a:t>
            </a:r>
            <a:endParaRPr lang="en-US" sz="1060" dirty="0"/>
          </a:p>
        </p:txBody>
      </p:sp>
      <p:sp>
        <p:nvSpPr>
          <p:cNvPr id="9" name="Text 7"/>
          <p:cNvSpPr/>
          <p:nvPr/>
        </p:nvSpPr>
        <p:spPr>
          <a:xfrm>
            <a:off x="1828800" y="1965960"/>
            <a:ext cx="1371600" cy="210312"/>
          </a:xfrm>
          <a:prstGeom prst="rect">
            <a:avLst/>
          </a:prstGeom>
          <a:noFill/>
          <a:ln/>
        </p:spPr>
        <p:txBody>
          <a:bodyPr wrap="square" lIns="0" tIns="0" rIns="0" bIns="0" rtlCol="0" anchor="ctr">
            <a:normAutofit/>
          </a:bodyPr>
          <a:lstStyle/>
          <a:p>
            <a:pPr algn="l" indent="0" marL="0">
              <a:buNone/>
            </a:pPr>
            <a:r>
              <a:rPr lang="en-US" sz="1060" b="1" dirty="0">
                <a:solidFill>
                  <a:srgbClr val="5E6673"/>
                </a:solidFill>
                <a:latin typeface="Noto Sans CJK JP" pitchFamily="34" charset="0"/>
                <a:ea typeface="Noto Sans CJK JP" pitchFamily="34" charset="-122"/>
                <a:cs typeface="Noto Sans CJK JP" pitchFamily="34" charset="-120"/>
              </a:rPr>
              <a:t>主なリスク</a:t>
            </a:r>
            <a:endParaRPr lang="en-US" sz="1060" dirty="0"/>
          </a:p>
        </p:txBody>
      </p:sp>
      <p:sp>
        <p:nvSpPr>
          <p:cNvPr id="10" name="Text 8"/>
          <p:cNvSpPr/>
          <p:nvPr/>
        </p:nvSpPr>
        <p:spPr>
          <a:xfrm>
            <a:off x="3703320" y="1965960"/>
            <a:ext cx="1463040" cy="210312"/>
          </a:xfrm>
          <a:prstGeom prst="rect">
            <a:avLst/>
          </a:prstGeom>
          <a:noFill/>
          <a:ln/>
        </p:spPr>
        <p:txBody>
          <a:bodyPr wrap="square" lIns="0" tIns="0" rIns="0" bIns="0" rtlCol="0" anchor="ctr">
            <a:normAutofit/>
          </a:bodyPr>
          <a:lstStyle/>
          <a:p>
            <a:pPr algn="l" indent="0" marL="0">
              <a:buNone/>
            </a:pPr>
            <a:r>
              <a:rPr lang="en-US" sz="1060" b="1" dirty="0">
                <a:solidFill>
                  <a:srgbClr val="5E6673"/>
                </a:solidFill>
                <a:latin typeface="Noto Sans CJK JP" pitchFamily="34" charset="0"/>
                <a:ea typeface="Noto Sans CJK JP" pitchFamily="34" charset="-122"/>
                <a:cs typeface="Noto Sans CJK JP" pitchFamily="34" charset="-120"/>
              </a:rPr>
              <a:t>管理KPI</a:t>
            </a:r>
            <a:endParaRPr lang="en-US" sz="1060" dirty="0"/>
          </a:p>
        </p:txBody>
      </p:sp>
      <p:sp>
        <p:nvSpPr>
          <p:cNvPr id="11" name="Text 9"/>
          <p:cNvSpPr/>
          <p:nvPr/>
        </p:nvSpPr>
        <p:spPr>
          <a:xfrm>
            <a:off x="5760720" y="1965960"/>
            <a:ext cx="2194560" cy="210312"/>
          </a:xfrm>
          <a:prstGeom prst="rect">
            <a:avLst/>
          </a:prstGeom>
          <a:noFill/>
          <a:ln/>
        </p:spPr>
        <p:txBody>
          <a:bodyPr wrap="square" lIns="0" tIns="0" rIns="0" bIns="0" rtlCol="0" anchor="ctr">
            <a:normAutofit/>
          </a:bodyPr>
          <a:lstStyle/>
          <a:p>
            <a:pPr algn="l" indent="0" marL="0">
              <a:buNone/>
            </a:pPr>
            <a:r>
              <a:rPr lang="en-US" sz="1060" b="1" dirty="0">
                <a:solidFill>
                  <a:srgbClr val="5E6673"/>
                </a:solidFill>
                <a:latin typeface="Noto Sans CJK JP" pitchFamily="34" charset="0"/>
                <a:ea typeface="Noto Sans CJK JP" pitchFamily="34" charset="-122"/>
                <a:cs typeface="Noto Sans CJK JP" pitchFamily="34" charset="-120"/>
              </a:rPr>
              <a:t>未達時の対応</a:t>
            </a:r>
            <a:endParaRPr lang="en-US" sz="1060" dirty="0"/>
          </a:p>
        </p:txBody>
      </p:sp>
      <p:sp>
        <p:nvSpPr>
          <p:cNvPr id="12" name="Shape 10"/>
          <p:cNvSpPr/>
          <p:nvPr/>
        </p:nvSpPr>
        <p:spPr>
          <a:xfrm>
            <a:off x="868680" y="2286000"/>
            <a:ext cx="6812280" cy="0"/>
          </a:xfrm>
          <a:prstGeom prst="line">
            <a:avLst/>
          </a:prstGeom>
          <a:noFill/>
          <a:ln w="12700">
            <a:solidFill>
              <a:srgbClr val="D9DEE5"/>
            </a:solidFill>
            <a:prstDash val="solid"/>
            <a:headEnd type="none"/>
            <a:tailEnd type="none"/>
          </a:ln>
        </p:spPr>
      </p:sp>
      <p:sp>
        <p:nvSpPr>
          <p:cNvPr id="13" name="Text 11"/>
          <p:cNvSpPr/>
          <p:nvPr/>
        </p:nvSpPr>
        <p:spPr>
          <a:xfrm>
            <a:off x="914400" y="2560320"/>
            <a:ext cx="640080" cy="219456"/>
          </a:xfrm>
          <a:prstGeom prst="rect">
            <a:avLst/>
          </a:prstGeom>
          <a:noFill/>
          <a:ln/>
        </p:spPr>
        <p:txBody>
          <a:bodyPr wrap="square" lIns="0" tIns="0" rIns="0" bIns="0" rtlCol="0" anchor="ctr">
            <a:normAutofit/>
          </a:bodyPr>
          <a:lstStyle/>
          <a:p>
            <a:pPr algn="l" indent="0" marL="0">
              <a:buNone/>
            </a:pPr>
            <a:r>
              <a:rPr lang="en-US" sz="1050" b="1" dirty="0">
                <a:solidFill>
                  <a:srgbClr val="1D2D44"/>
                </a:solidFill>
                <a:latin typeface="Noto Sans CJK JP" pitchFamily="34" charset="0"/>
                <a:ea typeface="Noto Sans CJK JP" pitchFamily="34" charset="-122"/>
                <a:cs typeface="Noto Sans CJK JP" pitchFamily="34" charset="-120"/>
              </a:rPr>
              <a:t>財務</a:t>
            </a:r>
            <a:endParaRPr lang="en-US" sz="1050" dirty="0"/>
          </a:p>
        </p:txBody>
      </p:sp>
      <p:sp>
        <p:nvSpPr>
          <p:cNvPr id="14" name="Text 12"/>
          <p:cNvSpPr/>
          <p:nvPr/>
        </p:nvSpPr>
        <p:spPr>
          <a:xfrm>
            <a:off x="1828800" y="2560320"/>
            <a:ext cx="1371600" cy="219456"/>
          </a:xfrm>
          <a:prstGeom prst="rect">
            <a:avLst/>
          </a:prstGeom>
          <a:noFill/>
          <a:ln/>
        </p:spPr>
        <p:txBody>
          <a:bodyPr wrap="square" lIns="0" tIns="0" rIns="0" bIns="0" rtlCol="0" anchor="ctr">
            <a:normAutofit/>
          </a:bodyPr>
          <a:lstStyle/>
          <a:p>
            <a:pPr algn="l" indent="0" marL="0">
              <a:buNone/>
            </a:pPr>
            <a:r>
              <a:rPr lang="en-US" sz="1000" dirty="0">
                <a:solidFill>
                  <a:srgbClr val="17202A"/>
                </a:solidFill>
                <a:latin typeface="Noto Sans CJK JP" pitchFamily="34" charset="0"/>
                <a:ea typeface="Noto Sans CJK JP" pitchFamily="34" charset="-122"/>
                <a:cs typeface="Noto Sans CJK JP" pitchFamily="34" charset="-120"/>
              </a:rPr>
              <a:t>原価上振れ</a:t>
            </a:r>
            <a:endParaRPr lang="en-US" sz="1000" dirty="0"/>
          </a:p>
        </p:txBody>
      </p:sp>
      <p:sp>
        <p:nvSpPr>
          <p:cNvPr id="15" name="Text 13"/>
          <p:cNvSpPr/>
          <p:nvPr/>
        </p:nvSpPr>
        <p:spPr>
          <a:xfrm>
            <a:off x="3703320" y="2560320"/>
            <a:ext cx="1463040" cy="219456"/>
          </a:xfrm>
          <a:prstGeom prst="rect">
            <a:avLst/>
          </a:prstGeom>
          <a:noFill/>
          <a:ln/>
        </p:spPr>
        <p:txBody>
          <a:bodyPr wrap="square" lIns="0" tIns="0" rIns="0" bIns="0" rtlCol="0" anchor="ctr">
            <a:normAutofit/>
          </a:bodyPr>
          <a:lstStyle/>
          <a:p>
            <a:pPr algn="l" indent="0" marL="0">
              <a:buNone/>
            </a:pPr>
            <a:r>
              <a:rPr lang="en-US" sz="1000" dirty="0">
                <a:solidFill>
                  <a:srgbClr val="17202A"/>
                </a:solidFill>
                <a:latin typeface="Noto Sans CJK JP" pitchFamily="34" charset="0"/>
                <a:ea typeface="Noto Sans CJK JP" pitchFamily="34" charset="-122"/>
                <a:cs typeface="Noto Sans CJK JP" pitchFamily="34" charset="-120"/>
              </a:rPr>
              <a:t>袋あたり限界利益</a:t>
            </a:r>
            <a:endParaRPr lang="en-US" sz="1000" dirty="0"/>
          </a:p>
        </p:txBody>
      </p:sp>
      <p:sp>
        <p:nvSpPr>
          <p:cNvPr id="16" name="Text 14"/>
          <p:cNvSpPr/>
          <p:nvPr/>
        </p:nvSpPr>
        <p:spPr>
          <a:xfrm>
            <a:off x="5760720" y="2560320"/>
            <a:ext cx="2194560" cy="219456"/>
          </a:xfrm>
          <a:prstGeom prst="rect">
            <a:avLst/>
          </a:prstGeom>
          <a:noFill/>
          <a:ln/>
        </p:spPr>
        <p:txBody>
          <a:bodyPr wrap="square" lIns="0" tIns="0" rIns="0" bIns="0" rtlCol="0" anchor="ctr">
            <a:normAutofit/>
          </a:bodyPr>
          <a:lstStyle/>
          <a:p>
            <a:pPr algn="l" indent="0" marL="0">
              <a:buNone/>
            </a:pPr>
            <a:r>
              <a:rPr lang="en-US" sz="1000" dirty="0">
                <a:solidFill>
                  <a:srgbClr val="17202A"/>
                </a:solidFill>
                <a:latin typeface="Noto Sans CJK JP" pitchFamily="34" charset="0"/>
                <a:ea typeface="Noto Sans CJK JP" pitchFamily="34" charset="-122"/>
                <a:cs typeface="Noto Sans CJK JP" pitchFamily="34" charset="-120"/>
              </a:rPr>
              <a:t>価格・仕様・調達先を再検討</a:t>
            </a:r>
            <a:endParaRPr lang="en-US" sz="1000" dirty="0"/>
          </a:p>
        </p:txBody>
      </p:sp>
      <p:sp>
        <p:nvSpPr>
          <p:cNvPr id="17" name="Text 15"/>
          <p:cNvSpPr/>
          <p:nvPr/>
        </p:nvSpPr>
        <p:spPr>
          <a:xfrm>
            <a:off x="914400" y="3154680"/>
            <a:ext cx="640080" cy="219456"/>
          </a:xfrm>
          <a:prstGeom prst="rect">
            <a:avLst/>
          </a:prstGeom>
          <a:noFill/>
          <a:ln/>
        </p:spPr>
        <p:txBody>
          <a:bodyPr wrap="square" lIns="0" tIns="0" rIns="0" bIns="0" rtlCol="0" anchor="ctr">
            <a:normAutofit/>
          </a:bodyPr>
          <a:lstStyle/>
          <a:p>
            <a:pPr algn="l" indent="0" marL="0">
              <a:buNone/>
            </a:pPr>
            <a:r>
              <a:rPr lang="en-US" sz="1050" b="1" dirty="0">
                <a:solidFill>
                  <a:srgbClr val="1D2D44"/>
                </a:solidFill>
                <a:latin typeface="Noto Sans CJK JP" pitchFamily="34" charset="0"/>
                <a:ea typeface="Noto Sans CJK JP" pitchFamily="34" charset="-122"/>
                <a:cs typeface="Noto Sans CJK JP" pitchFamily="34" charset="-120"/>
              </a:rPr>
              <a:t>マーケ</a:t>
            </a:r>
            <a:endParaRPr lang="en-US" sz="1050" dirty="0"/>
          </a:p>
        </p:txBody>
      </p:sp>
      <p:sp>
        <p:nvSpPr>
          <p:cNvPr id="18" name="Text 16"/>
          <p:cNvSpPr/>
          <p:nvPr/>
        </p:nvSpPr>
        <p:spPr>
          <a:xfrm>
            <a:off x="1828800" y="3154680"/>
            <a:ext cx="1371600" cy="219456"/>
          </a:xfrm>
          <a:prstGeom prst="rect">
            <a:avLst/>
          </a:prstGeom>
          <a:noFill/>
          <a:ln/>
        </p:spPr>
        <p:txBody>
          <a:bodyPr wrap="square" lIns="0" tIns="0" rIns="0" bIns="0" rtlCol="0" anchor="ctr">
            <a:normAutofit/>
          </a:bodyPr>
          <a:lstStyle/>
          <a:p>
            <a:pPr algn="l" indent="0" marL="0">
              <a:buNone/>
            </a:pPr>
            <a:r>
              <a:rPr lang="en-US" sz="1000" dirty="0">
                <a:solidFill>
                  <a:srgbClr val="17202A"/>
                </a:solidFill>
                <a:latin typeface="Noto Sans CJK JP" pitchFamily="34" charset="0"/>
                <a:ea typeface="Noto Sans CJK JP" pitchFamily="34" charset="-122"/>
                <a:cs typeface="Noto Sans CJK JP" pitchFamily="34" charset="-120"/>
              </a:rPr>
              <a:t>CPA上振れ</a:t>
            </a:r>
            <a:endParaRPr lang="en-US" sz="1000" dirty="0"/>
          </a:p>
        </p:txBody>
      </p:sp>
      <p:sp>
        <p:nvSpPr>
          <p:cNvPr id="19" name="Text 17"/>
          <p:cNvSpPr/>
          <p:nvPr/>
        </p:nvSpPr>
        <p:spPr>
          <a:xfrm>
            <a:off x="3703320" y="3154680"/>
            <a:ext cx="1463040" cy="219456"/>
          </a:xfrm>
          <a:prstGeom prst="rect">
            <a:avLst/>
          </a:prstGeom>
          <a:noFill/>
          <a:ln/>
        </p:spPr>
        <p:txBody>
          <a:bodyPr wrap="square" lIns="0" tIns="0" rIns="0" bIns="0" rtlCol="0" anchor="ctr">
            <a:normAutofit/>
          </a:bodyPr>
          <a:lstStyle/>
          <a:p>
            <a:pPr algn="l" indent="0" marL="0">
              <a:buNone/>
            </a:pPr>
            <a:r>
              <a:rPr lang="en-US" sz="1000" dirty="0">
                <a:solidFill>
                  <a:srgbClr val="17202A"/>
                </a:solidFill>
                <a:latin typeface="Noto Sans CJK JP" pitchFamily="34" charset="0"/>
                <a:ea typeface="Noto Sans CJK JP" pitchFamily="34" charset="-122"/>
                <a:cs typeface="Noto Sans CJK JP" pitchFamily="34" charset="-120"/>
              </a:rPr>
              <a:t>CPA上限 / 定期率</a:t>
            </a:r>
            <a:endParaRPr lang="en-US" sz="1000" dirty="0"/>
          </a:p>
        </p:txBody>
      </p:sp>
      <p:sp>
        <p:nvSpPr>
          <p:cNvPr id="20" name="Text 18"/>
          <p:cNvSpPr/>
          <p:nvPr/>
        </p:nvSpPr>
        <p:spPr>
          <a:xfrm>
            <a:off x="5760720" y="3154680"/>
            <a:ext cx="2194560" cy="219456"/>
          </a:xfrm>
          <a:prstGeom prst="rect">
            <a:avLst/>
          </a:prstGeom>
          <a:noFill/>
          <a:ln/>
        </p:spPr>
        <p:txBody>
          <a:bodyPr wrap="square" lIns="0" tIns="0" rIns="0" bIns="0" rtlCol="0" anchor="ctr">
            <a:normAutofit/>
          </a:bodyPr>
          <a:lstStyle/>
          <a:p>
            <a:pPr algn="l" indent="0" marL="0">
              <a:buNone/>
            </a:pPr>
            <a:r>
              <a:rPr lang="en-US" sz="1000" dirty="0">
                <a:solidFill>
                  <a:srgbClr val="17202A"/>
                </a:solidFill>
                <a:latin typeface="Noto Sans CJK JP" pitchFamily="34" charset="0"/>
                <a:ea typeface="Noto Sans CJK JP" pitchFamily="34" charset="-122"/>
                <a:cs typeface="Noto Sans CJK JP" pitchFamily="34" charset="-120"/>
              </a:rPr>
              <a:t>広告投下を段階化</a:t>
            </a:r>
            <a:endParaRPr lang="en-US" sz="1000" dirty="0"/>
          </a:p>
        </p:txBody>
      </p:sp>
      <p:sp>
        <p:nvSpPr>
          <p:cNvPr id="21" name="Text 19"/>
          <p:cNvSpPr/>
          <p:nvPr/>
        </p:nvSpPr>
        <p:spPr>
          <a:xfrm>
            <a:off x="914400" y="3749040"/>
            <a:ext cx="640080" cy="219456"/>
          </a:xfrm>
          <a:prstGeom prst="rect">
            <a:avLst/>
          </a:prstGeom>
          <a:noFill/>
          <a:ln/>
        </p:spPr>
        <p:txBody>
          <a:bodyPr wrap="square" lIns="0" tIns="0" rIns="0" bIns="0" rtlCol="0" anchor="ctr">
            <a:normAutofit/>
          </a:bodyPr>
          <a:lstStyle/>
          <a:p>
            <a:pPr algn="l" indent="0" marL="0">
              <a:buNone/>
            </a:pPr>
            <a:r>
              <a:rPr lang="en-US" sz="1050" b="1" dirty="0">
                <a:solidFill>
                  <a:srgbClr val="1D2D44"/>
                </a:solidFill>
                <a:latin typeface="Noto Sans CJK JP" pitchFamily="34" charset="0"/>
                <a:ea typeface="Noto Sans CJK JP" pitchFamily="34" charset="-122"/>
                <a:cs typeface="Noto Sans CJK JP" pitchFamily="34" charset="-120"/>
              </a:rPr>
              <a:t>営業</a:t>
            </a:r>
            <a:endParaRPr lang="en-US" sz="1050" dirty="0"/>
          </a:p>
        </p:txBody>
      </p:sp>
      <p:sp>
        <p:nvSpPr>
          <p:cNvPr id="22" name="Text 20"/>
          <p:cNvSpPr/>
          <p:nvPr/>
        </p:nvSpPr>
        <p:spPr>
          <a:xfrm>
            <a:off x="1828800" y="3749040"/>
            <a:ext cx="1371600" cy="219456"/>
          </a:xfrm>
          <a:prstGeom prst="rect">
            <a:avLst/>
          </a:prstGeom>
          <a:noFill/>
          <a:ln/>
        </p:spPr>
        <p:txBody>
          <a:bodyPr wrap="square" lIns="0" tIns="0" rIns="0" bIns="0" rtlCol="0" anchor="ctr">
            <a:normAutofit/>
          </a:bodyPr>
          <a:lstStyle/>
          <a:p>
            <a:pPr algn="l" indent="0" marL="0">
              <a:buNone/>
            </a:pPr>
            <a:r>
              <a:rPr lang="en-US" sz="1000" dirty="0">
                <a:solidFill>
                  <a:srgbClr val="17202A"/>
                </a:solidFill>
                <a:latin typeface="Noto Sans CJK JP" pitchFamily="34" charset="0"/>
                <a:ea typeface="Noto Sans CJK JP" pitchFamily="34" charset="-122"/>
                <a:cs typeface="Noto Sans CJK JP" pitchFamily="34" charset="-120"/>
              </a:rPr>
              <a:t>配荷不足</a:t>
            </a:r>
            <a:endParaRPr lang="en-US" sz="1000" dirty="0"/>
          </a:p>
        </p:txBody>
      </p:sp>
      <p:sp>
        <p:nvSpPr>
          <p:cNvPr id="23" name="Text 21"/>
          <p:cNvSpPr/>
          <p:nvPr/>
        </p:nvSpPr>
        <p:spPr>
          <a:xfrm>
            <a:off x="3703320" y="3749040"/>
            <a:ext cx="1463040" cy="219456"/>
          </a:xfrm>
          <a:prstGeom prst="rect">
            <a:avLst/>
          </a:prstGeom>
          <a:noFill/>
          <a:ln/>
        </p:spPr>
        <p:txBody>
          <a:bodyPr wrap="square" lIns="0" tIns="0" rIns="0" bIns="0" rtlCol="0" anchor="ctr">
            <a:normAutofit/>
          </a:bodyPr>
          <a:lstStyle/>
          <a:p>
            <a:pPr algn="l" indent="0" marL="0">
              <a:buNone/>
            </a:pPr>
            <a:r>
              <a:rPr lang="en-US" sz="1000" dirty="0">
                <a:solidFill>
                  <a:srgbClr val="17202A"/>
                </a:solidFill>
                <a:latin typeface="Noto Sans CJK JP" pitchFamily="34" charset="0"/>
                <a:ea typeface="Noto Sans CJK JP" pitchFamily="34" charset="-122"/>
                <a:cs typeface="Noto Sans CJK JP" pitchFamily="34" charset="-120"/>
              </a:rPr>
              <a:t>EC比率 / 特設棚数</a:t>
            </a:r>
            <a:endParaRPr lang="en-US" sz="1000" dirty="0"/>
          </a:p>
        </p:txBody>
      </p:sp>
      <p:sp>
        <p:nvSpPr>
          <p:cNvPr id="24" name="Text 22"/>
          <p:cNvSpPr/>
          <p:nvPr/>
        </p:nvSpPr>
        <p:spPr>
          <a:xfrm>
            <a:off x="5760720" y="3749040"/>
            <a:ext cx="2194560" cy="219456"/>
          </a:xfrm>
          <a:prstGeom prst="rect">
            <a:avLst/>
          </a:prstGeom>
          <a:noFill/>
          <a:ln/>
        </p:spPr>
        <p:txBody>
          <a:bodyPr wrap="square" lIns="0" tIns="0" rIns="0" bIns="0" rtlCol="0" anchor="ctr">
            <a:normAutofit/>
          </a:bodyPr>
          <a:lstStyle/>
          <a:p>
            <a:pPr algn="l" indent="0" marL="0">
              <a:buNone/>
            </a:pPr>
            <a:r>
              <a:rPr lang="en-US" sz="1000" dirty="0">
                <a:solidFill>
                  <a:srgbClr val="17202A"/>
                </a:solidFill>
                <a:latin typeface="Noto Sans CJK JP" pitchFamily="34" charset="0"/>
                <a:ea typeface="Noto Sans CJK JP" pitchFamily="34" charset="-122"/>
                <a:cs typeface="Noto Sans CJK JP" pitchFamily="34" charset="-120"/>
              </a:rPr>
              <a:t>初動をECへ寄せる</a:t>
            </a:r>
            <a:endParaRPr lang="en-US" sz="1000" dirty="0"/>
          </a:p>
        </p:txBody>
      </p:sp>
      <p:sp>
        <p:nvSpPr>
          <p:cNvPr id="25" name="Text 23"/>
          <p:cNvSpPr/>
          <p:nvPr/>
        </p:nvSpPr>
        <p:spPr>
          <a:xfrm>
            <a:off x="914400" y="4343400"/>
            <a:ext cx="640080" cy="219456"/>
          </a:xfrm>
          <a:prstGeom prst="rect">
            <a:avLst/>
          </a:prstGeom>
          <a:noFill/>
          <a:ln/>
        </p:spPr>
        <p:txBody>
          <a:bodyPr wrap="square" lIns="0" tIns="0" rIns="0" bIns="0" rtlCol="0" anchor="ctr">
            <a:normAutofit/>
          </a:bodyPr>
          <a:lstStyle/>
          <a:p>
            <a:pPr algn="l" indent="0" marL="0">
              <a:buNone/>
            </a:pPr>
            <a:r>
              <a:rPr lang="en-US" sz="1050" b="1" dirty="0">
                <a:solidFill>
                  <a:srgbClr val="1D2D44"/>
                </a:solidFill>
                <a:latin typeface="Noto Sans CJK JP" pitchFamily="34" charset="0"/>
                <a:ea typeface="Noto Sans CJK JP" pitchFamily="34" charset="-122"/>
                <a:cs typeface="Noto Sans CJK JP" pitchFamily="34" charset="-120"/>
              </a:rPr>
              <a:t>生産</a:t>
            </a:r>
            <a:endParaRPr lang="en-US" sz="1050" dirty="0"/>
          </a:p>
        </p:txBody>
      </p:sp>
      <p:sp>
        <p:nvSpPr>
          <p:cNvPr id="26" name="Text 24"/>
          <p:cNvSpPr/>
          <p:nvPr/>
        </p:nvSpPr>
        <p:spPr>
          <a:xfrm>
            <a:off x="1828800" y="4343400"/>
            <a:ext cx="1371600" cy="219456"/>
          </a:xfrm>
          <a:prstGeom prst="rect">
            <a:avLst/>
          </a:prstGeom>
          <a:noFill/>
          <a:ln/>
        </p:spPr>
        <p:txBody>
          <a:bodyPr wrap="square" lIns="0" tIns="0" rIns="0" bIns="0" rtlCol="0" anchor="ctr">
            <a:normAutofit/>
          </a:bodyPr>
          <a:lstStyle/>
          <a:p>
            <a:pPr algn="l" indent="0" marL="0">
              <a:buNone/>
            </a:pPr>
            <a:r>
              <a:rPr lang="en-US" sz="1000" dirty="0">
                <a:solidFill>
                  <a:srgbClr val="17202A"/>
                </a:solidFill>
                <a:latin typeface="Noto Sans CJK JP" pitchFamily="34" charset="0"/>
                <a:ea typeface="Noto Sans CJK JP" pitchFamily="34" charset="-122"/>
                <a:cs typeface="Noto Sans CJK JP" pitchFamily="34" charset="-120"/>
              </a:rPr>
              <a:t>酸化・品質事故</a:t>
            </a:r>
            <a:endParaRPr lang="en-US" sz="1000" dirty="0"/>
          </a:p>
        </p:txBody>
      </p:sp>
      <p:sp>
        <p:nvSpPr>
          <p:cNvPr id="27" name="Text 25"/>
          <p:cNvSpPr/>
          <p:nvPr/>
        </p:nvSpPr>
        <p:spPr>
          <a:xfrm>
            <a:off x="3703320" y="4343400"/>
            <a:ext cx="1463040" cy="219456"/>
          </a:xfrm>
          <a:prstGeom prst="rect">
            <a:avLst/>
          </a:prstGeom>
          <a:noFill/>
          <a:ln/>
        </p:spPr>
        <p:txBody>
          <a:bodyPr wrap="square" lIns="0" tIns="0" rIns="0" bIns="0" rtlCol="0" anchor="ctr">
            <a:normAutofit/>
          </a:bodyPr>
          <a:lstStyle/>
          <a:p>
            <a:pPr algn="l" indent="0" marL="0">
              <a:buNone/>
            </a:pPr>
            <a:r>
              <a:rPr lang="en-US" sz="1000" dirty="0">
                <a:solidFill>
                  <a:srgbClr val="17202A"/>
                </a:solidFill>
                <a:latin typeface="Noto Sans CJK JP" pitchFamily="34" charset="0"/>
                <a:ea typeface="Noto Sans CJK JP" pitchFamily="34" charset="-122"/>
                <a:cs typeface="Noto Sans CJK JP" pitchFamily="34" charset="-120"/>
              </a:rPr>
              <a:t>ロット検査 / 返品率</a:t>
            </a:r>
            <a:endParaRPr lang="en-US" sz="1000" dirty="0"/>
          </a:p>
        </p:txBody>
      </p:sp>
      <p:sp>
        <p:nvSpPr>
          <p:cNvPr id="28" name="Text 26"/>
          <p:cNvSpPr/>
          <p:nvPr/>
        </p:nvSpPr>
        <p:spPr>
          <a:xfrm>
            <a:off x="5760720" y="4343400"/>
            <a:ext cx="2194560" cy="219456"/>
          </a:xfrm>
          <a:prstGeom prst="rect">
            <a:avLst/>
          </a:prstGeom>
          <a:noFill/>
          <a:ln/>
        </p:spPr>
        <p:txBody>
          <a:bodyPr wrap="square" lIns="0" tIns="0" rIns="0" bIns="0" rtlCol="0" anchor="ctr">
            <a:normAutofit/>
          </a:bodyPr>
          <a:lstStyle/>
          <a:p>
            <a:pPr algn="l" indent="0" marL="0">
              <a:buNone/>
            </a:pPr>
            <a:r>
              <a:rPr lang="en-US" sz="1000" dirty="0">
                <a:solidFill>
                  <a:srgbClr val="17202A"/>
                </a:solidFill>
                <a:latin typeface="Noto Sans CJK JP" pitchFamily="34" charset="0"/>
                <a:ea typeface="Noto Sans CJK JP" pitchFamily="34" charset="-122"/>
                <a:cs typeface="Noto Sans CJK JP" pitchFamily="34" charset="-120"/>
              </a:rPr>
              <a:t>OEM条件を見直す</a:t>
            </a:r>
            <a:endParaRPr lang="en-US" sz="1000" dirty="0"/>
          </a:p>
        </p:txBody>
      </p:sp>
      <p:sp>
        <p:nvSpPr>
          <p:cNvPr id="29" name="Text 27"/>
          <p:cNvSpPr/>
          <p:nvPr/>
        </p:nvSpPr>
        <p:spPr>
          <a:xfrm>
            <a:off x="8549640" y="1508760"/>
            <a:ext cx="137160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進行判断</a:t>
            </a:r>
            <a:endParaRPr lang="en-US" sz="1000" dirty="0"/>
          </a:p>
        </p:txBody>
      </p:sp>
      <p:sp>
        <p:nvSpPr>
          <p:cNvPr id="30" name="Shape 28"/>
          <p:cNvSpPr/>
          <p:nvPr/>
        </p:nvSpPr>
        <p:spPr>
          <a:xfrm>
            <a:off x="8549640" y="1792224"/>
            <a:ext cx="1371600" cy="0"/>
          </a:xfrm>
          <a:prstGeom prst="line">
            <a:avLst/>
          </a:prstGeom>
          <a:noFill/>
          <a:ln w="16510">
            <a:solidFill>
              <a:srgbClr val="E9846D"/>
            </a:solidFill>
            <a:prstDash val="solid"/>
          </a:ln>
        </p:spPr>
      </p:sp>
      <p:sp>
        <p:nvSpPr>
          <p:cNvPr id="31" name="Text 29"/>
          <p:cNvSpPr/>
          <p:nvPr/>
        </p:nvSpPr>
        <p:spPr>
          <a:xfrm>
            <a:off x="8549640" y="2057400"/>
            <a:ext cx="2880360" cy="685800"/>
          </a:xfrm>
          <a:prstGeom prst="rect">
            <a:avLst/>
          </a:prstGeom>
          <a:noFill/>
          <a:ln/>
        </p:spPr>
        <p:txBody>
          <a:bodyPr wrap="square" lIns="0" tIns="0" rIns="0" bIns="0" rtlCol="0" anchor="ctr">
            <a:normAutofit/>
          </a:bodyPr>
          <a:lstStyle/>
          <a:p>
            <a:pPr algn="l" indent="0" marL="0">
              <a:buNone/>
            </a:pPr>
            <a:r>
              <a:rPr lang="en-US" sz="1700" b="1" dirty="0">
                <a:solidFill>
                  <a:srgbClr val="17202A"/>
                </a:solidFill>
                <a:latin typeface="Noto Sans CJK JP" pitchFamily="34" charset="0"/>
                <a:ea typeface="Noto Sans CJK JP" pitchFamily="34" charset="-122"/>
                <a:cs typeface="Noto Sans CJK JP" pitchFamily="34" charset="-120"/>
              </a:rPr>
              <a:t>数字が揃うまでは“販売開始”ではなく“事業化準備”として進める。</a:t>
            </a:r>
            <a:endParaRPr lang="en-US" sz="1700" dirty="0"/>
          </a:p>
        </p:txBody>
      </p:sp>
      <p:sp>
        <p:nvSpPr>
          <p:cNvPr id="32" name="Text 30"/>
          <p:cNvSpPr/>
          <p:nvPr/>
        </p:nvSpPr>
        <p:spPr>
          <a:xfrm>
            <a:off x="8595360" y="3154680"/>
            <a:ext cx="2971800" cy="1508760"/>
          </a:xfrm>
          <a:prstGeom prst="rect">
            <a:avLst/>
          </a:prstGeom>
          <a:noFill/>
          <a:ln/>
        </p:spPr>
        <p:txBody>
          <a:bodyPr wrap="square" lIns="254" tIns="254" rIns="254" bIns="254" rtlCol="0" anchor="ctr">
            <a:normAutofit/>
          </a:bodyPr>
          <a:lstStyle/>
          <a:p>
            <a:r>
              <a:rPr lang="en-US" sz="1150" dirty="0">
                <a:solidFill>
                  <a:srgbClr val="17202A"/>
                </a:solidFill>
                <a:latin typeface="Noto Sans CJK JP" pitchFamily="34" charset="0"/>
                <a:ea typeface="Noto Sans CJK JP" pitchFamily="34" charset="-122"/>
                <a:cs typeface="Noto Sans CJK JP" pitchFamily="34" charset="-120"/>
              </a:rPr>
              <a:t>初回30万袋は発売前ゲート通過後に確定</a:t>
            </a:r>
            <a:endParaRPr lang="en-US" sz="1150" dirty="0"/>
          </a:p>
          <a:p>
            <a:r>
              <a:rPr lang="en-US" sz="1150" dirty="0">
                <a:solidFill>
                  <a:srgbClr val="17202A"/>
                </a:solidFill>
                <a:latin typeface="Noto Sans CJK JP" pitchFamily="34" charset="0"/>
                <a:ea typeface="Noto Sans CJK JP" pitchFamily="34" charset="-122"/>
                <a:cs typeface="Noto Sans CJK JP" pitchFamily="34" charset="-120"/>
              </a:rPr>
              <a:t>CPA/LTVはテスト販売で検証</a:t>
            </a:r>
            <a:endParaRPr lang="en-US" sz="1150" dirty="0"/>
          </a:p>
          <a:p>
            <a:r>
              <a:rPr lang="en-US" sz="1150" dirty="0">
                <a:solidFill>
                  <a:srgbClr val="17202A"/>
                </a:solidFill>
                <a:latin typeface="Noto Sans CJK JP" pitchFamily="34" charset="0"/>
                <a:ea typeface="Noto Sans CJK JP" pitchFamily="34" charset="-122"/>
                <a:cs typeface="Noto Sans CJK JP" pitchFamily="34" charset="-120"/>
              </a:rPr>
              <a:t>調達先は品質・原価・量の3条件で比較</a:t>
            </a:r>
            <a:endParaRPr lang="en-US" sz="1150" dirty="0"/>
          </a:p>
        </p:txBody>
      </p:sp>
      <p:sp>
        <p:nvSpPr>
          <p:cNvPr id="33" name="Text 31"/>
          <p:cNvSpPr/>
          <p:nvPr/>
        </p:nvSpPr>
        <p:spPr>
          <a:xfrm>
            <a:off x="457200" y="6537960"/>
            <a:ext cx="5486400" cy="182880"/>
          </a:xfrm>
          <a:prstGeom prst="rect">
            <a:avLst/>
          </a:prstGeom>
          <a:noFill/>
          <a:ln/>
        </p:spPr>
        <p:txBody>
          <a:bodyPr wrap="square" lIns="0" tIns="0" rIns="0" bIns="0" rtlCol="0" anchor="ctr">
            <a:normAutofit/>
          </a:bodyPr>
          <a:lstStyle/>
          <a:p>
            <a:pPr algn="l" indent="0" marL="0">
              <a:buNone/>
            </a:pPr>
            <a:r>
              <a:rPr lang="en-US" sz="780" dirty="0">
                <a:solidFill>
                  <a:srgbClr val="5E6673"/>
                </a:solidFill>
                <a:latin typeface="Noto Sans CJK JP" pitchFamily="34" charset="0"/>
                <a:ea typeface="Noto Sans CJK JP" pitchFamily="34" charset="-122"/>
                <a:cs typeface="Noto Sans CJK JP" pitchFamily="34" charset="-120"/>
              </a:rPr>
              <a:t>出所: 提供資料に基づく構成</a:t>
            </a:r>
            <a:endParaRPr lang="en-US" sz="780" dirty="0"/>
          </a:p>
        </p:txBody>
      </p:sp>
      <p:sp>
        <p:nvSpPr>
          <p:cNvPr id="34" name="Text 32"/>
          <p:cNvSpPr/>
          <p:nvPr/>
        </p:nvSpPr>
        <p:spPr>
          <a:xfrm>
            <a:off x="8869680" y="6537960"/>
            <a:ext cx="2834640" cy="182880"/>
          </a:xfrm>
          <a:prstGeom prst="rect">
            <a:avLst/>
          </a:prstGeom>
          <a:noFill/>
          <a:ln/>
        </p:spPr>
        <p:txBody>
          <a:bodyPr wrap="square" lIns="0" tIns="0" rIns="0" bIns="0" rtlCol="0" anchor="ctr">
            <a:normAutofit/>
          </a:bodyPr>
          <a:lstStyle/>
          <a:p>
            <a:pPr algn="r" indent="0" marL="0">
              <a:buNone/>
            </a:pPr>
            <a:r>
              <a:rPr lang="en-US" sz="780" dirty="0">
                <a:solidFill>
                  <a:srgbClr val="5E6673"/>
                </a:solidFill>
                <a:latin typeface="Noto Sans CJK JP" pitchFamily="34" charset="0"/>
                <a:ea typeface="Noto Sans CJK JP" pitchFamily="34" charset="-122"/>
                <a:cs typeface="Noto Sans CJK JP" pitchFamily="34" charset="-120"/>
              </a:rPr>
              <a:t>ごろにゃんプレミアム 事業承認提案</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3E9"/>
        </a:solidFill>
      </p:bgPr>
    </p:bg>
    <p:spTree>
      <p:nvGrpSpPr>
        <p:cNvPr id="1" name=""/>
        <p:cNvGrpSpPr/>
        <p:nvPr/>
      </p:nvGrpSpPr>
      <p:grpSpPr>
        <a:xfrm>
          <a:off x="0" y="0"/>
          <a:ext cx="0" cy="0"/>
          <a:chOff x="0" y="0"/>
          <a:chExt cx="0" cy="0"/>
        </a:xfrm>
      </p:grpSpPr>
      <p:sp>
        <p:nvSpPr>
          <p:cNvPr id="2" name="Text 0"/>
          <p:cNvSpPr/>
          <p:nvPr/>
        </p:nvSpPr>
        <p:spPr>
          <a:xfrm>
            <a:off x="411480" y="310896"/>
            <a:ext cx="548640" cy="274320"/>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10</a:t>
            </a:r>
            <a:endParaRPr lang="en-US" sz="1000" dirty="0"/>
          </a:p>
        </p:txBody>
      </p:sp>
      <p:sp>
        <p:nvSpPr>
          <p:cNvPr id="3" name="Text 1"/>
          <p:cNvSpPr/>
          <p:nvPr/>
        </p:nvSpPr>
        <p:spPr>
          <a:xfrm>
            <a:off x="960120" y="164592"/>
            <a:ext cx="6035040" cy="438912"/>
          </a:xfrm>
          <a:prstGeom prst="rect">
            <a:avLst/>
          </a:prstGeom>
          <a:noFill/>
          <a:ln/>
        </p:spPr>
        <p:txBody>
          <a:bodyPr wrap="square" lIns="0" tIns="0" rIns="0" bIns="0" rtlCol="0" anchor="ctr">
            <a:normAutofit/>
          </a:bodyPr>
          <a:lstStyle/>
          <a:p>
            <a:pPr algn="l" indent="0" marL="0">
              <a:buNone/>
            </a:pPr>
            <a:r>
              <a:rPr lang="en-US" sz="2600" b="1" dirty="0">
                <a:solidFill>
                  <a:srgbClr val="1D2D44"/>
                </a:solidFill>
                <a:latin typeface="Noto Sans CJK JP" pitchFamily="34" charset="0"/>
                <a:ea typeface="Noto Sans CJK JP" pitchFamily="34" charset="-122"/>
                <a:cs typeface="Noto Sans CJK JP" pitchFamily="34" charset="-120"/>
              </a:rPr>
              <a:t>承認依頼と次アクション</a:t>
            </a:r>
            <a:endParaRPr lang="en-US" sz="2600" dirty="0"/>
          </a:p>
        </p:txBody>
      </p:sp>
      <p:sp>
        <p:nvSpPr>
          <p:cNvPr id="4" name="Text 2"/>
          <p:cNvSpPr/>
          <p:nvPr/>
        </p:nvSpPr>
        <p:spPr>
          <a:xfrm>
            <a:off x="960120" y="685800"/>
            <a:ext cx="9738360" cy="512064"/>
          </a:xfrm>
          <a:prstGeom prst="rect">
            <a:avLst/>
          </a:prstGeom>
          <a:noFill/>
          <a:ln/>
        </p:spPr>
        <p:txBody>
          <a:bodyPr wrap="square" lIns="0" tIns="0" rIns="0" bIns="0" rtlCol="0" anchor="ctr">
            <a:normAutofit/>
          </a:bodyPr>
          <a:lstStyle/>
          <a:p>
            <a:pPr algn="l" indent="0" marL="0">
              <a:buNone/>
            </a:pPr>
            <a:r>
              <a:rPr lang="en-US" sz="1700" b="1" dirty="0">
                <a:solidFill>
                  <a:srgbClr val="17202A"/>
                </a:solidFill>
                <a:latin typeface="Noto Sans CJK JP" pitchFamily="34" charset="0"/>
                <a:ea typeface="Noto Sans CJK JP" pitchFamily="34" charset="-122"/>
                <a:cs typeface="Noto Sans CJK JP" pitchFamily="34" charset="-120"/>
              </a:rPr>
              <a:t>本日は「初回30万袋の事業化準備開始」と「追加検証3項目の実行」を承認すべきと判断する。</a:t>
            </a:r>
            <a:endParaRPr lang="en-US" sz="1700" dirty="0"/>
          </a:p>
        </p:txBody>
      </p:sp>
      <p:sp>
        <p:nvSpPr>
          <p:cNvPr id="5" name="Shape 3"/>
          <p:cNvSpPr/>
          <p:nvPr/>
        </p:nvSpPr>
        <p:spPr>
          <a:xfrm>
            <a:off x="960120" y="1298448"/>
            <a:ext cx="10789920" cy="0"/>
          </a:xfrm>
          <a:prstGeom prst="line">
            <a:avLst/>
          </a:prstGeom>
          <a:noFill/>
          <a:ln w="12700">
            <a:solidFill>
              <a:srgbClr val="D9DEE5"/>
            </a:solidFill>
            <a:prstDash val="solid"/>
          </a:ln>
        </p:spPr>
      </p:sp>
      <p:sp>
        <p:nvSpPr>
          <p:cNvPr id="6" name="Text 4"/>
          <p:cNvSpPr/>
          <p:nvPr/>
        </p:nvSpPr>
        <p:spPr>
          <a:xfrm>
            <a:off x="685800" y="1508760"/>
            <a:ext cx="182880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本日の承認依頼</a:t>
            </a:r>
            <a:endParaRPr lang="en-US" sz="1000" dirty="0"/>
          </a:p>
        </p:txBody>
      </p:sp>
      <p:sp>
        <p:nvSpPr>
          <p:cNvPr id="7" name="Shape 5"/>
          <p:cNvSpPr/>
          <p:nvPr/>
        </p:nvSpPr>
        <p:spPr>
          <a:xfrm>
            <a:off x="685800" y="1792224"/>
            <a:ext cx="1828800" cy="0"/>
          </a:xfrm>
          <a:prstGeom prst="line">
            <a:avLst/>
          </a:prstGeom>
          <a:noFill/>
          <a:ln w="16510">
            <a:solidFill>
              <a:srgbClr val="E9846D"/>
            </a:solidFill>
            <a:prstDash val="solid"/>
          </a:ln>
        </p:spPr>
      </p:sp>
      <p:sp>
        <p:nvSpPr>
          <p:cNvPr id="8" name="Text 6"/>
          <p:cNvSpPr/>
          <p:nvPr/>
        </p:nvSpPr>
        <p:spPr>
          <a:xfrm>
            <a:off x="960120" y="2057400"/>
            <a:ext cx="4572000" cy="347472"/>
          </a:xfrm>
          <a:prstGeom prst="rect">
            <a:avLst/>
          </a:prstGeom>
          <a:noFill/>
          <a:ln/>
        </p:spPr>
        <p:txBody>
          <a:bodyPr wrap="square" lIns="0" tIns="0" rIns="0" bIns="0" rtlCol="0" anchor="ctr">
            <a:normAutofit/>
          </a:bodyPr>
          <a:lstStyle/>
          <a:p>
            <a:pPr algn="l" indent="0" marL="0">
              <a:buNone/>
            </a:pPr>
            <a:r>
              <a:rPr lang="en-US" sz="1900" b="1" dirty="0">
                <a:solidFill>
                  <a:srgbClr val="1D2D44"/>
                </a:solidFill>
                <a:latin typeface="Noto Sans CJK JP" pitchFamily="34" charset="0"/>
                <a:ea typeface="Noto Sans CJK JP" pitchFamily="34" charset="-122"/>
                <a:cs typeface="Noto Sans CJK JP" pitchFamily="34" charset="-120"/>
              </a:rPr>
              <a:t>1. 初回30万袋の事業化準備開始</a:t>
            </a:r>
            <a:endParaRPr lang="en-US" sz="1900" dirty="0"/>
          </a:p>
        </p:txBody>
      </p:sp>
      <p:sp>
        <p:nvSpPr>
          <p:cNvPr id="9" name="Text 7"/>
          <p:cNvSpPr/>
          <p:nvPr/>
        </p:nvSpPr>
        <p:spPr>
          <a:xfrm>
            <a:off x="960120" y="2606040"/>
            <a:ext cx="5669280" cy="347472"/>
          </a:xfrm>
          <a:prstGeom prst="rect">
            <a:avLst/>
          </a:prstGeom>
          <a:noFill/>
          <a:ln/>
        </p:spPr>
        <p:txBody>
          <a:bodyPr wrap="square" lIns="0" tIns="0" rIns="0" bIns="0" rtlCol="0" anchor="ctr">
            <a:normAutofit/>
          </a:bodyPr>
          <a:lstStyle/>
          <a:p>
            <a:pPr algn="l" indent="0" marL="0">
              <a:buNone/>
            </a:pPr>
            <a:r>
              <a:rPr lang="en-US" sz="1900" b="1" dirty="0">
                <a:solidFill>
                  <a:srgbClr val="1D2D44"/>
                </a:solidFill>
                <a:latin typeface="Noto Sans CJK JP" pitchFamily="34" charset="0"/>
                <a:ea typeface="Noto Sans CJK JP" pitchFamily="34" charset="-122"/>
                <a:cs typeface="Noto Sans CJK JP" pitchFamily="34" charset="-120"/>
              </a:rPr>
              <a:t>2. 発売前ゲートに向けた追加検証3項目の実行</a:t>
            </a:r>
            <a:endParaRPr lang="en-US" sz="1900" dirty="0"/>
          </a:p>
        </p:txBody>
      </p:sp>
      <p:sp>
        <p:nvSpPr>
          <p:cNvPr id="10" name="Text 8"/>
          <p:cNvSpPr/>
          <p:nvPr/>
        </p:nvSpPr>
        <p:spPr>
          <a:xfrm>
            <a:off x="685800" y="3657600"/>
            <a:ext cx="182880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追加検証3項目</a:t>
            </a:r>
            <a:endParaRPr lang="en-US" sz="1000" dirty="0"/>
          </a:p>
        </p:txBody>
      </p:sp>
      <p:sp>
        <p:nvSpPr>
          <p:cNvPr id="11" name="Shape 9"/>
          <p:cNvSpPr/>
          <p:nvPr/>
        </p:nvSpPr>
        <p:spPr>
          <a:xfrm>
            <a:off x="685800" y="3941064"/>
            <a:ext cx="1828800" cy="0"/>
          </a:xfrm>
          <a:prstGeom prst="line">
            <a:avLst/>
          </a:prstGeom>
          <a:noFill/>
          <a:ln w="16510">
            <a:solidFill>
              <a:srgbClr val="E9846D"/>
            </a:solidFill>
            <a:prstDash val="solid"/>
          </a:ln>
        </p:spPr>
      </p:sp>
      <p:sp>
        <p:nvSpPr>
          <p:cNvPr id="12" name="Shape 10"/>
          <p:cNvSpPr/>
          <p:nvPr/>
        </p:nvSpPr>
        <p:spPr>
          <a:xfrm>
            <a:off x="960120" y="4315968"/>
            <a:ext cx="320040" cy="320040"/>
          </a:xfrm>
          <a:prstGeom prst="ellipse">
            <a:avLst/>
          </a:prstGeom>
          <a:solidFill>
            <a:srgbClr val="2E7D74"/>
          </a:solidFill>
          <a:ln w="12700">
            <a:solidFill>
              <a:srgbClr val="2E7D74">
                <a:alpha val="0"/>
              </a:srgbClr>
            </a:solidFill>
            <a:prstDash val="solid"/>
          </a:ln>
        </p:spPr>
      </p:sp>
      <p:sp>
        <p:nvSpPr>
          <p:cNvPr id="13" name="Text 11"/>
          <p:cNvSpPr/>
          <p:nvPr/>
        </p:nvSpPr>
        <p:spPr>
          <a:xfrm>
            <a:off x="1417320" y="4224528"/>
            <a:ext cx="1371600" cy="256032"/>
          </a:xfrm>
          <a:prstGeom prst="rect">
            <a:avLst/>
          </a:prstGeom>
          <a:noFill/>
          <a:ln/>
        </p:spPr>
        <p:txBody>
          <a:bodyPr wrap="square" lIns="0" tIns="0" rIns="0" bIns="0" rtlCol="0" anchor="ctr">
            <a:normAutofit/>
          </a:bodyPr>
          <a:lstStyle/>
          <a:p>
            <a:pPr algn="l" indent="0" marL="0">
              <a:buNone/>
            </a:pPr>
            <a:r>
              <a:rPr lang="en-US" sz="1400" b="1" dirty="0">
                <a:solidFill>
                  <a:srgbClr val="1D2D44"/>
                </a:solidFill>
                <a:latin typeface="Noto Sans CJK JP" pitchFamily="34" charset="0"/>
                <a:ea typeface="Noto Sans CJK JP" pitchFamily="34" charset="-122"/>
                <a:cs typeface="Noto Sans CJK JP" pitchFamily="34" charset="-120"/>
              </a:rPr>
              <a:t>調達見積</a:t>
            </a:r>
            <a:endParaRPr lang="en-US" sz="1400" dirty="0"/>
          </a:p>
        </p:txBody>
      </p:sp>
      <p:sp>
        <p:nvSpPr>
          <p:cNvPr id="14" name="Text 12"/>
          <p:cNvSpPr/>
          <p:nvPr/>
        </p:nvSpPr>
        <p:spPr>
          <a:xfrm>
            <a:off x="1417320" y="4572000"/>
            <a:ext cx="2651760" cy="411480"/>
          </a:xfrm>
          <a:prstGeom prst="rect">
            <a:avLst/>
          </a:prstGeom>
          <a:noFill/>
          <a:ln/>
        </p:spPr>
        <p:txBody>
          <a:bodyPr wrap="square" lIns="0" tIns="0" rIns="0" bIns="0" rtlCol="0" anchor="ctr">
            <a:normAutofit/>
          </a:bodyPr>
          <a:lstStyle/>
          <a:p>
            <a:pPr algn="l" indent="0" marL="0">
              <a:buNone/>
            </a:pPr>
            <a:r>
              <a:rPr lang="en-US" sz="1060" dirty="0">
                <a:solidFill>
                  <a:srgbClr val="17202A"/>
                </a:solidFill>
                <a:latin typeface="Noto Sans CJK JP" pitchFamily="34" charset="0"/>
                <a:ea typeface="Noto Sans CJK JP" pitchFamily="34" charset="-122"/>
                <a:cs typeface="Noto Sans CJK JP" pitchFamily="34" charset="-120"/>
              </a:rPr>
              <a:t>ノルウェー・チリ・国産候補の原価/量/品質を比較</a:t>
            </a:r>
            <a:endParaRPr lang="en-US" sz="1060" dirty="0"/>
          </a:p>
        </p:txBody>
      </p:sp>
      <p:sp>
        <p:nvSpPr>
          <p:cNvPr id="15" name="Shape 13"/>
          <p:cNvSpPr/>
          <p:nvPr/>
        </p:nvSpPr>
        <p:spPr>
          <a:xfrm>
            <a:off x="4480560" y="4315968"/>
            <a:ext cx="320040" cy="320040"/>
          </a:xfrm>
          <a:prstGeom prst="ellipse">
            <a:avLst/>
          </a:prstGeom>
          <a:solidFill>
            <a:srgbClr val="E9846D"/>
          </a:solidFill>
          <a:ln w="12700">
            <a:solidFill>
              <a:srgbClr val="E9846D">
                <a:alpha val="0"/>
              </a:srgbClr>
            </a:solidFill>
            <a:prstDash val="solid"/>
          </a:ln>
        </p:spPr>
      </p:sp>
      <p:sp>
        <p:nvSpPr>
          <p:cNvPr id="16" name="Text 14"/>
          <p:cNvSpPr/>
          <p:nvPr/>
        </p:nvSpPr>
        <p:spPr>
          <a:xfrm>
            <a:off x="4937760" y="4224528"/>
            <a:ext cx="1371600" cy="256032"/>
          </a:xfrm>
          <a:prstGeom prst="rect">
            <a:avLst/>
          </a:prstGeom>
          <a:noFill/>
          <a:ln/>
        </p:spPr>
        <p:txBody>
          <a:bodyPr wrap="square" lIns="0" tIns="0" rIns="0" bIns="0" rtlCol="0" anchor="ctr">
            <a:normAutofit/>
          </a:bodyPr>
          <a:lstStyle/>
          <a:p>
            <a:pPr algn="l" indent="0" marL="0">
              <a:buNone/>
            </a:pPr>
            <a:r>
              <a:rPr lang="en-US" sz="1400" b="1" dirty="0">
                <a:solidFill>
                  <a:srgbClr val="1D2D44"/>
                </a:solidFill>
                <a:latin typeface="Noto Sans CJK JP" pitchFamily="34" charset="0"/>
                <a:ea typeface="Noto Sans CJK JP" pitchFamily="34" charset="-122"/>
                <a:cs typeface="Noto Sans CJK JP" pitchFamily="34" charset="-120"/>
              </a:rPr>
              <a:t>CPA/LTV</a:t>
            </a:r>
            <a:endParaRPr lang="en-US" sz="1400" dirty="0"/>
          </a:p>
        </p:txBody>
      </p:sp>
      <p:sp>
        <p:nvSpPr>
          <p:cNvPr id="17" name="Text 15"/>
          <p:cNvSpPr/>
          <p:nvPr/>
        </p:nvSpPr>
        <p:spPr>
          <a:xfrm>
            <a:off x="4937760" y="4572000"/>
            <a:ext cx="2651760" cy="411480"/>
          </a:xfrm>
          <a:prstGeom prst="rect">
            <a:avLst/>
          </a:prstGeom>
          <a:noFill/>
          <a:ln/>
        </p:spPr>
        <p:txBody>
          <a:bodyPr wrap="square" lIns="0" tIns="0" rIns="0" bIns="0" rtlCol="0" anchor="ctr">
            <a:normAutofit/>
          </a:bodyPr>
          <a:lstStyle/>
          <a:p>
            <a:pPr algn="l" indent="0" marL="0">
              <a:buNone/>
            </a:pPr>
            <a:r>
              <a:rPr lang="en-US" sz="1060" dirty="0">
                <a:solidFill>
                  <a:srgbClr val="17202A"/>
                </a:solidFill>
                <a:latin typeface="Noto Sans CJK JP" pitchFamily="34" charset="0"/>
                <a:ea typeface="Noto Sans CJK JP" pitchFamily="34" charset="-122"/>
                <a:cs typeface="Noto Sans CJK JP" pitchFamily="34" charset="-120"/>
              </a:rPr>
              <a:t>上限CPA、定期化率、継続率のゲート値を設定</a:t>
            </a:r>
            <a:endParaRPr lang="en-US" sz="1060" dirty="0"/>
          </a:p>
        </p:txBody>
      </p:sp>
      <p:sp>
        <p:nvSpPr>
          <p:cNvPr id="18" name="Shape 16"/>
          <p:cNvSpPr/>
          <p:nvPr/>
        </p:nvSpPr>
        <p:spPr>
          <a:xfrm>
            <a:off x="8001000" y="4315968"/>
            <a:ext cx="320040" cy="320040"/>
          </a:xfrm>
          <a:prstGeom prst="ellipse">
            <a:avLst/>
          </a:prstGeom>
          <a:solidFill>
            <a:srgbClr val="2A5D7C"/>
          </a:solidFill>
          <a:ln w="12700">
            <a:solidFill>
              <a:srgbClr val="2A5D7C">
                <a:alpha val="0"/>
              </a:srgbClr>
            </a:solidFill>
            <a:prstDash val="solid"/>
          </a:ln>
        </p:spPr>
      </p:sp>
      <p:sp>
        <p:nvSpPr>
          <p:cNvPr id="19" name="Text 17"/>
          <p:cNvSpPr/>
          <p:nvPr/>
        </p:nvSpPr>
        <p:spPr>
          <a:xfrm>
            <a:off x="8458200" y="4224528"/>
            <a:ext cx="1371600" cy="256032"/>
          </a:xfrm>
          <a:prstGeom prst="rect">
            <a:avLst/>
          </a:prstGeom>
          <a:noFill/>
          <a:ln/>
        </p:spPr>
        <p:txBody>
          <a:bodyPr wrap="square" lIns="0" tIns="0" rIns="0" bIns="0" rtlCol="0" anchor="ctr">
            <a:normAutofit/>
          </a:bodyPr>
          <a:lstStyle/>
          <a:p>
            <a:pPr algn="l" indent="0" marL="0">
              <a:buNone/>
            </a:pPr>
            <a:r>
              <a:rPr lang="en-US" sz="1400" b="1" dirty="0">
                <a:solidFill>
                  <a:srgbClr val="1D2D44"/>
                </a:solidFill>
                <a:latin typeface="Noto Sans CJK JP" pitchFamily="34" charset="0"/>
                <a:ea typeface="Noto Sans CJK JP" pitchFamily="34" charset="-122"/>
                <a:cs typeface="Noto Sans CJK JP" pitchFamily="34" charset="-120"/>
              </a:rPr>
              <a:t>UGC施策</a:t>
            </a:r>
            <a:endParaRPr lang="en-US" sz="1400" dirty="0"/>
          </a:p>
        </p:txBody>
      </p:sp>
      <p:sp>
        <p:nvSpPr>
          <p:cNvPr id="20" name="Text 18"/>
          <p:cNvSpPr/>
          <p:nvPr/>
        </p:nvSpPr>
        <p:spPr>
          <a:xfrm>
            <a:off x="8458200" y="4572000"/>
            <a:ext cx="2651760" cy="411480"/>
          </a:xfrm>
          <a:prstGeom prst="rect">
            <a:avLst/>
          </a:prstGeom>
          <a:noFill/>
          <a:ln/>
        </p:spPr>
        <p:txBody>
          <a:bodyPr wrap="square" lIns="0" tIns="0" rIns="0" bIns="0" rtlCol="0" anchor="ctr">
            <a:normAutofit/>
          </a:bodyPr>
          <a:lstStyle/>
          <a:p>
            <a:pPr algn="l" indent="0" marL="0">
              <a:buNone/>
            </a:pPr>
            <a:r>
              <a:rPr lang="en-US" sz="1060" dirty="0">
                <a:solidFill>
                  <a:srgbClr val="17202A"/>
                </a:solidFill>
                <a:latin typeface="Noto Sans CJK JP" pitchFamily="34" charset="0"/>
                <a:ea typeface="Noto Sans CJK JP" pitchFamily="34" charset="-122"/>
                <a:cs typeface="Noto Sans CJK JP" pitchFamily="34" charset="-120"/>
              </a:rPr>
              <a:t>パッケージ、SNS導線、イベント予算を具体化</a:t>
            </a:r>
            <a:endParaRPr lang="en-US" sz="1060" dirty="0"/>
          </a:p>
        </p:txBody>
      </p:sp>
      <p:sp>
        <p:nvSpPr>
          <p:cNvPr id="21" name="Text 19"/>
          <p:cNvSpPr/>
          <p:nvPr/>
        </p:nvSpPr>
        <p:spPr>
          <a:xfrm>
            <a:off x="7680960" y="1508760"/>
            <a:ext cx="1371600" cy="246888"/>
          </a:xfrm>
          <a:prstGeom prst="rect">
            <a:avLst/>
          </a:prstGeom>
          <a:noFill/>
          <a:ln/>
        </p:spPr>
        <p:txBody>
          <a:bodyPr wrap="square" lIns="0" tIns="0" rIns="0" bIns="0" rtlCol="0" anchor="ctr">
            <a:normAutofit/>
          </a:bodyPr>
          <a:lstStyle/>
          <a:p>
            <a:pPr algn="ctr" indent="0" marL="0">
              <a:buNone/>
            </a:pPr>
            <a:r>
              <a:rPr lang="en-US" sz="1000" b="1" dirty="0">
                <a:solidFill>
                  <a:srgbClr val="E9846D"/>
                </a:solidFill>
                <a:latin typeface="Noto Sans CJK JP" pitchFamily="34" charset="0"/>
                <a:ea typeface="Noto Sans CJK JP" pitchFamily="34" charset="-122"/>
                <a:cs typeface="Noto Sans CJK JP" pitchFamily="34" charset="-120"/>
              </a:rPr>
              <a:t>次回提示物</a:t>
            </a:r>
            <a:endParaRPr lang="en-US" sz="1000" dirty="0"/>
          </a:p>
        </p:txBody>
      </p:sp>
      <p:sp>
        <p:nvSpPr>
          <p:cNvPr id="22" name="Shape 20"/>
          <p:cNvSpPr/>
          <p:nvPr/>
        </p:nvSpPr>
        <p:spPr>
          <a:xfrm>
            <a:off x="7680960" y="1792224"/>
            <a:ext cx="1371600" cy="0"/>
          </a:xfrm>
          <a:prstGeom prst="line">
            <a:avLst/>
          </a:prstGeom>
          <a:noFill/>
          <a:ln w="16510">
            <a:solidFill>
              <a:srgbClr val="E9846D"/>
            </a:solidFill>
            <a:prstDash val="solid"/>
          </a:ln>
        </p:spPr>
      </p:sp>
      <p:sp>
        <p:nvSpPr>
          <p:cNvPr id="23" name="Text 21"/>
          <p:cNvSpPr/>
          <p:nvPr/>
        </p:nvSpPr>
        <p:spPr>
          <a:xfrm>
            <a:off x="7680960" y="2057400"/>
            <a:ext cx="3429000" cy="777240"/>
          </a:xfrm>
          <a:prstGeom prst="rect">
            <a:avLst/>
          </a:prstGeom>
          <a:noFill/>
          <a:ln/>
        </p:spPr>
        <p:txBody>
          <a:bodyPr wrap="square" lIns="0" tIns="0" rIns="0" bIns="0" rtlCol="0" anchor="ctr">
            <a:normAutofit/>
          </a:bodyPr>
          <a:lstStyle/>
          <a:p>
            <a:pPr algn="l" indent="0" marL="0">
              <a:buNone/>
            </a:pPr>
            <a:r>
              <a:rPr lang="en-US" sz="1600" b="1" dirty="0">
                <a:solidFill>
                  <a:srgbClr val="E9846D"/>
                </a:solidFill>
                <a:latin typeface="Noto Sans CJK JP" pitchFamily="34" charset="0"/>
                <a:ea typeface="Noto Sans CJK JP" pitchFamily="34" charset="-122"/>
                <a:cs typeface="Noto Sans CJK JP" pitchFamily="34" charset="-120"/>
              </a:rPr>
              <a:t>財務部長向けに、袋あたり原価・限界利益・CPA回収シナリオを数値表で提示する。</a:t>
            </a:r>
            <a:endParaRPr lang="en-US" sz="1600" dirty="0"/>
          </a:p>
        </p:txBody>
      </p:sp>
      <p:sp>
        <p:nvSpPr>
          <p:cNvPr id="24" name="Text 22"/>
          <p:cNvSpPr/>
          <p:nvPr/>
        </p:nvSpPr>
        <p:spPr>
          <a:xfrm>
            <a:off x="960120" y="5650992"/>
            <a:ext cx="1463040" cy="228600"/>
          </a:xfrm>
          <a:prstGeom prst="rect">
            <a:avLst/>
          </a:prstGeom>
          <a:noFill/>
          <a:ln/>
        </p:spPr>
        <p:txBody>
          <a:bodyPr wrap="square" lIns="0" tIns="0" rIns="0" bIns="0" rtlCol="0" anchor="ctr">
            <a:normAutofit/>
          </a:bodyPr>
          <a:lstStyle/>
          <a:p>
            <a:pPr algn="l" indent="0" marL="0">
              <a:buNone/>
            </a:pPr>
            <a:r>
              <a:rPr lang="en-US" sz="1250" b="1" dirty="0">
                <a:solidFill>
                  <a:srgbClr val="1D2D44"/>
                </a:solidFill>
                <a:latin typeface="Noto Sans CJK JP" pitchFamily="34" charset="0"/>
                <a:ea typeface="Noto Sans CJK JP" pitchFamily="34" charset="-122"/>
                <a:cs typeface="Noto Sans CJK JP" pitchFamily="34" charset="-120"/>
              </a:rPr>
              <a:t>承認後の進め方</a:t>
            </a:r>
            <a:endParaRPr lang="en-US" sz="1250" dirty="0"/>
          </a:p>
        </p:txBody>
      </p:sp>
      <p:sp>
        <p:nvSpPr>
          <p:cNvPr id="25" name="Text 23"/>
          <p:cNvSpPr/>
          <p:nvPr/>
        </p:nvSpPr>
        <p:spPr>
          <a:xfrm>
            <a:off x="2560320" y="5650992"/>
            <a:ext cx="6035040" cy="256032"/>
          </a:xfrm>
          <a:prstGeom prst="rect">
            <a:avLst/>
          </a:prstGeom>
          <a:noFill/>
          <a:ln/>
        </p:spPr>
        <p:txBody>
          <a:bodyPr wrap="square" lIns="0" tIns="0" rIns="0" bIns="0" rtlCol="0" anchor="ctr">
            <a:normAutofit/>
          </a:bodyPr>
          <a:lstStyle/>
          <a:p>
            <a:pPr algn="l" indent="0" marL="0">
              <a:buNone/>
            </a:pPr>
            <a:r>
              <a:rPr lang="en-US" sz="1400" b="1" dirty="0">
                <a:solidFill>
                  <a:srgbClr val="2E7D74"/>
                </a:solidFill>
                <a:latin typeface="Noto Sans CJK JP" pitchFamily="34" charset="0"/>
                <a:ea typeface="Noto Sans CJK JP" pitchFamily="34" charset="-122"/>
                <a:cs typeface="Noto Sans CJK JP" pitchFamily="34" charset="-120"/>
              </a:rPr>
              <a:t>検証完了 → 発売前ゲート → 初回発注 → D2C先行ローンチ</a:t>
            </a:r>
            <a:endParaRPr lang="en-US" sz="1400" dirty="0"/>
          </a:p>
        </p:txBody>
      </p:sp>
      <p:sp>
        <p:nvSpPr>
          <p:cNvPr id="26" name="Text 24"/>
          <p:cNvSpPr/>
          <p:nvPr/>
        </p:nvSpPr>
        <p:spPr>
          <a:xfrm>
            <a:off x="457200" y="6537960"/>
            <a:ext cx="5486400" cy="182880"/>
          </a:xfrm>
          <a:prstGeom prst="rect">
            <a:avLst/>
          </a:prstGeom>
          <a:noFill/>
          <a:ln/>
        </p:spPr>
        <p:txBody>
          <a:bodyPr wrap="square" lIns="0" tIns="0" rIns="0" bIns="0" rtlCol="0" anchor="ctr">
            <a:normAutofit/>
          </a:bodyPr>
          <a:lstStyle/>
          <a:p>
            <a:pPr algn="l" indent="0" marL="0">
              <a:buNone/>
            </a:pPr>
            <a:r>
              <a:rPr lang="en-US" sz="780" dirty="0">
                <a:solidFill>
                  <a:srgbClr val="5E6673"/>
                </a:solidFill>
                <a:latin typeface="Noto Sans CJK JP" pitchFamily="34" charset="0"/>
                <a:ea typeface="Noto Sans CJK JP" pitchFamily="34" charset="-122"/>
                <a:cs typeface="Noto Sans CJK JP" pitchFamily="34" charset="-120"/>
              </a:rPr>
              <a:t>出所: 提供資料に基づく構成</a:t>
            </a:r>
            <a:endParaRPr lang="en-US" sz="780" dirty="0"/>
          </a:p>
        </p:txBody>
      </p:sp>
      <p:sp>
        <p:nvSpPr>
          <p:cNvPr id="27" name="Text 25"/>
          <p:cNvSpPr/>
          <p:nvPr/>
        </p:nvSpPr>
        <p:spPr>
          <a:xfrm>
            <a:off x="8869680" y="6537960"/>
            <a:ext cx="2834640" cy="182880"/>
          </a:xfrm>
          <a:prstGeom prst="rect">
            <a:avLst/>
          </a:prstGeom>
          <a:noFill/>
          <a:ln/>
        </p:spPr>
        <p:txBody>
          <a:bodyPr wrap="square" lIns="0" tIns="0" rIns="0" bIns="0" rtlCol="0" anchor="ctr">
            <a:normAutofit/>
          </a:bodyPr>
          <a:lstStyle/>
          <a:p>
            <a:pPr algn="r" indent="0" marL="0">
              <a:buNone/>
            </a:pPr>
            <a:r>
              <a:rPr lang="en-US" sz="780" dirty="0">
                <a:solidFill>
                  <a:srgbClr val="5E6673"/>
                </a:solidFill>
                <a:latin typeface="Noto Sans CJK JP" pitchFamily="34" charset="0"/>
                <a:ea typeface="Noto Sans CJK JP" pitchFamily="34" charset="-122"/>
                <a:cs typeface="Noto Sans CJK JP" pitchFamily="34" charset="-120"/>
              </a:rPr>
              <a:t>ごろにゃんプレミアム 事業承認提案</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ごろにゃんプレミアム 事業承認提案</dc:title>
  <dc:subject>ごろにゃんプレミアム 事業承認提案</dc:subject>
  <dc:creator>OpenAI</dc:creator>
  <cp:lastModifiedBy>OpenAI</cp:lastModifiedBy>
  <cp:revision>1</cp:revision>
  <dcterms:created xsi:type="dcterms:W3CDTF">2026-05-03T15:17:33Z</dcterms:created>
  <dcterms:modified xsi:type="dcterms:W3CDTF">2026-05-03T15:17:33Z</dcterms:modified>
</cp:coreProperties>
</file>